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828800"/>
            <a:ext cx="5303520" cy="5303520"/>
          </a:xfrm>
          <a:prstGeom prst="ellipse">
            <a:avLst/>
          </a:prstGeom>
          <a:solidFill>
            <a:srgbClr val="2A376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280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ADCFC"/>
                </a:solidFill>
              </a:rPr>
              <a:t>SLG AI AGENT SUITE  ·  STRATEGIC LAYER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10607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Whole-of-Government Orchestration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3200400"/>
            <a:ext cx="9966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</a:rPr>
              <a:t>From dozens of isolated chatbots to governed digital workers coordinated across agencies — organized around the resident's life event, not the org chart.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521208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</a:rPr>
              <a:t>Govern tool access  ·  canonical data  ·  durable workflow  ·  compliance events  ·  consent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8BC0"/>
                </a:solidFill>
              </a:rPr>
              <a:t>THE REAL OBSTACLE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blocker isn't the model — it's authority and trust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03520" cy="1828800"/>
          </a:xfrm>
          <a:prstGeom prst="roundRect">
            <a:avLst>
              <a:gd name="adj" fmla="val 3500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02536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Whose data, whose authority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914400" y="2496312"/>
            <a:ext cx="4800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40"/>
                </a:solidFill>
              </a:rPr>
              <a:t>Which agency may act, on what data, for what purpose — across incompatible systems.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217920" y="1783080"/>
            <a:ext cx="5303520" cy="1828800"/>
          </a:xfrm>
          <a:prstGeom prst="roundRect">
            <a:avLst>
              <a:gd name="adj" fmla="val 3500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92240" y="2002536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distributed transaction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6492240" y="2496312"/>
            <a:ext cx="4800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40"/>
                </a:solidFill>
              </a:rPr>
              <a:t>There is no two-phase commit across a DMV, an HHS system, and a 311 CRM.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" y="3886200"/>
            <a:ext cx="5303520" cy="1828800"/>
          </a:xfrm>
          <a:prstGeom prst="roundRect">
            <a:avLst>
              <a:gd name="adj" fmla="val 3500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4400" y="4105656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Identity &amp; consent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914400" y="4599432"/>
            <a:ext cx="4800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40"/>
                </a:solidFill>
              </a:rPr>
              <a:t>Personalized, cross-agency action needs assured identity and recorded consent.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217920" y="3886200"/>
            <a:ext cx="5303520" cy="1828800"/>
          </a:xfrm>
          <a:prstGeom prst="roundRect">
            <a:avLst>
              <a:gd name="adj" fmla="val 3500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92240" y="4105656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auditable record</a:t>
            </a: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6492240" y="4599432"/>
            <a:ext cx="4800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40"/>
                </a:solidFill>
              </a:rPr>
              <a:t>Every step — and every rollback — must land in one case-level compliance trail.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8BC0"/>
                </a:solidFill>
              </a:rPr>
              <a:t>THE PLATFORM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governed pillars — every write still passes the gateway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731520"/>
          </a:xfrm>
          <a:prstGeom prst="roundRect">
            <a:avLst>
              <a:gd name="adj" fmla="val 8750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87452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 tool access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023360" y="18745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40"/>
                </a:solidFill>
              </a:rPr>
              <a:t>Per-tool contract: agency · purpose · data class · residency · threshold · idempotency · rollback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651760"/>
            <a:ext cx="10881360" cy="731520"/>
          </a:xfrm>
          <a:prstGeom prst="roundRect">
            <a:avLst>
              <a:gd name="adj" fmla="val 8750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274320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Canonical data layer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023360" y="2743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40"/>
                </a:solidFill>
              </a:rPr>
              <a:t>One Resident / Address / Case; agency adapters at the boundary; pinned schema version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520440"/>
            <a:ext cx="10881360" cy="731520"/>
          </a:xfrm>
          <a:prstGeom prst="roundRect">
            <a:avLst>
              <a:gd name="adj" fmla="val 8750"/>
            </a:avLst>
          </a:prstGeom>
          <a:solidFill>
            <a:srgbClr val="2E8BC0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68680" y="361188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 coordination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023360" y="36118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Durable saga: consent + confirmation gates, idempotency, automatic compensation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389120"/>
            <a:ext cx="10881360" cy="731520"/>
          </a:xfrm>
          <a:prstGeom prst="roundRect">
            <a:avLst>
              <a:gd name="adj" fmla="val 8750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8680" y="448056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Compliance events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023360" y="44805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40"/>
                </a:solidFill>
              </a:rPr>
              <a:t>Immutable masked events → case-level evidence with retention by data class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5257800"/>
            <a:ext cx="10881360" cy="731520"/>
          </a:xfrm>
          <a:prstGeom prst="roundRect">
            <a:avLst>
              <a:gd name="adj" fmla="val 8750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68680" y="53492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Identity &amp; consent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023360" y="53492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40"/>
                </a:solidFill>
              </a:rPr>
              <a:t>AAL-gated, scoped, time-bound consent — no cross-agency use without it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88"/>
                </a:solidFill>
              </a:rPr>
              <a:t>The orchestrator and saga coordinator hold NO tool grants — authority never concentrates.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8BC0"/>
                </a:solidFill>
              </a:rPr>
              <a:t>THE DIFFERENTIATOR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Durable saga with compensation — nobody left half-enrolled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200400" cy="1005840"/>
          </a:xfrm>
          <a:prstGeom prst="roundRect">
            <a:avLst>
              <a:gd name="adj" fmla="val 6364"/>
            </a:avLst>
          </a:prstGeom>
          <a:solidFill>
            <a:srgbClr val="2A376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201168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Assemble form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(Shared Services)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069080" y="2011680"/>
            <a:ext cx="365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ADCFC"/>
                </a:solidFill>
              </a:rPr>
              <a:t>→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480560" y="1920240"/>
            <a:ext cx="3200400" cy="1005840"/>
          </a:xfrm>
          <a:prstGeom prst="roundRect">
            <a:avLst>
              <a:gd name="adj" fmla="val 6364"/>
            </a:avLst>
          </a:prstGeom>
          <a:solidFill>
            <a:srgbClr val="2A376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663440" y="201168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Open 311 request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(311)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726680" y="2011680"/>
            <a:ext cx="365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ADCFC"/>
                </a:solidFill>
              </a:rPr>
              <a:t>→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8138160" y="1920240"/>
            <a:ext cx="3200400" cy="1005840"/>
          </a:xfrm>
          <a:prstGeom prst="roundRect">
            <a:avLst>
              <a:gd name="adj" fmla="val 6364"/>
            </a:avLst>
          </a:prstGeom>
          <a:solidFill>
            <a:srgbClr val="2A376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321040" y="201168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Book appointment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(City Clerk)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22960" y="320040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CADCFC"/>
                </a:solidFill>
              </a:rPr>
              <a:t>If a downstream agency fails, completed steps roll back in reverse — and the evidence records the undo.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22960" y="3840480"/>
            <a:ext cx="5120640" cy="1828800"/>
          </a:xfrm>
          <a:prstGeom prst="roundRect">
            <a:avLst>
              <a:gd name="adj" fmla="val 3500"/>
            </a:avLst>
          </a:prstGeom>
          <a:solidFill>
            <a:srgbClr val="22305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051560" y="40233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8F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  Happy path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88720" y="443484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</a:rPr>
              <a:t>3 agencies commit as one transaction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</a:rPr>
              <a:t>3 compliance events · FTI retention applied (6 yr)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</a:rPr>
              <a:t>case-level evidence assembled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0" y="3840480"/>
            <a:ext cx="5120640" cy="1828800"/>
          </a:xfrm>
          <a:prstGeom prst="roundRect">
            <a:avLst>
              <a:gd name="adj" fmla="val 3500"/>
            </a:avLst>
          </a:prstGeom>
          <a:solidFill>
            <a:srgbClr val="22305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629400" y="40233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7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↩  Failure path (311 down)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766560" y="443484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</a:rPr>
              <a:t>completed 'assemble' step rolls back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</a:rPr>
              <a:t>saga status = COMPENSATED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</a:rPr>
              <a:t>evidence flags compensated = true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8BC0"/>
                </a:solidFill>
              </a:rPr>
              <a:t>GOVERN TOOL ACCESS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cross-agency tool carries a full contract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731520"/>
          </a:xfrm>
          <a:prstGeom prst="roundRect">
            <a:avLst>
              <a:gd name="adj" fmla="val 8750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8745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Agency &amp; purpose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3931920" y="187452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40"/>
                </a:solidFill>
              </a:rPr>
              <a:t>Purpose binding — a benefits tool used for a fraud sweep is a different, separately consented purpose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651760"/>
            <a:ext cx="10881360" cy="731520"/>
          </a:xfrm>
          <a:prstGeom prst="roundRect">
            <a:avLst>
              <a:gd name="adj" fmla="val 8750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27432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class &amp; residency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3931920" y="274320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40"/>
                </a:solidFill>
              </a:rPr>
              <a:t>CJI / FTI / PHI / EDU / PII drives isolation, retention, and us vs us-gov boundary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520440"/>
            <a:ext cx="10881360" cy="731520"/>
          </a:xfrm>
          <a:prstGeom prst="roundRect">
            <a:avLst>
              <a:gd name="adj" fmla="val 8750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68680" y="361188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Transaction threshold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3931920" y="361188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40"/>
                </a:solidFill>
              </a:rPr>
              <a:t>Above a set amount, a higher human gate is required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389120"/>
            <a:ext cx="10881360" cy="731520"/>
          </a:xfrm>
          <a:prstGeom prst="roundRect">
            <a:avLst>
              <a:gd name="adj" fmla="val 8750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8680" y="448056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Idempotency &amp; rollback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3931920" y="448056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40"/>
                </a:solidFill>
              </a:rPr>
              <a:t>Exactly-once writes; a registered compensation handler for the saga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5257800"/>
            <a:ext cx="10881360" cy="731520"/>
          </a:xfrm>
          <a:prstGeom prst="roundRect">
            <a:avLst>
              <a:gd name="adj" fmla="val 8750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68680" y="534924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Approval &amp; audit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3931920" y="534924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40"/>
                </a:solidFill>
              </a:rPr>
              <a:t>High-risk writes need a verified human approval; every attempt is masked-audited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6355080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88"/>
                </a:solidFill>
              </a:rPr>
              <a:t>Enforced before delegating to the deny-by-default MCP gateway → maps to AgentCore Gateway + Verified Permissions (Cedar).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8BC0"/>
                </a:solidFill>
              </a:rPr>
              <a:t>BUILD ON IT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Agents plug in — one substrate, many life events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920240"/>
            <a:ext cx="5212080" cy="1600200"/>
          </a:xfrm>
          <a:prstGeom prst="roundRect">
            <a:avLst>
              <a:gd name="adj" fmla="val 4000"/>
            </a:avLst>
          </a:prstGeom>
          <a:solidFill>
            <a:srgbClr val="2A376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21031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Specialists as saga steps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005840" y="2578608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Agents 01–08 become forward actions; each still passes its own gateway path — no authority concentration.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4000"/>
            </a:avLst>
          </a:prstGeom>
          <a:solidFill>
            <a:srgbClr val="2A376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92240" y="21031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agency = new adapter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6492240" y="2578608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Add an AgencyAdapter + catalog entries; the orchestrator is unchanged.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3749040"/>
            <a:ext cx="5212080" cy="1600200"/>
          </a:xfrm>
          <a:prstGeom prst="roundRect">
            <a:avLst>
              <a:gd name="adj" fmla="val 4000"/>
            </a:avLst>
          </a:prstGeom>
          <a:solidFill>
            <a:srgbClr val="2A376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05840" y="39319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Proven, not theoretical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005840" y="4407408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Runnable demo + 23 platform tests; the saga, compensation, and evidence trail all execute with no API key.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0" y="3749040"/>
            <a:ext cx="5212080" cy="1600200"/>
          </a:xfrm>
          <a:prstGeom prst="roundRect">
            <a:avLst>
              <a:gd name="adj" fmla="val 4000"/>
            </a:avLst>
          </a:prstGeom>
          <a:solidFill>
            <a:srgbClr val="2A376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92240" y="39319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Deploys on AWS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6492240" y="4407408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EventBridge + Step Functions + DynamoDB + S3 Object Lock + Verified Permissions; commercial &amp; GovCloud.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FFFFFF"/>
                </a:solidFill>
              </a:rPr>
              <a:t>Start with one life event — 'moving' — on your AWS account, producing real cross-agency audit evidence.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Whole-of-Government Orchestration Platform</dc:title>
  <dc:subject>PptxGenJS Presentation</dc:subject>
  <dc:creator>SLG AI Agent Suite</dc:creator>
  <cp:lastModifiedBy>SLG AI Agent Suite</cp:lastModifiedBy>
  <cp:revision>1</cp:revision>
  <dcterms:created xsi:type="dcterms:W3CDTF">2026-06-23T17:03:21Z</dcterms:created>
  <dcterms:modified xsi:type="dcterms:W3CDTF">2026-06-23T17:03:21Z</dcterms:modified>
</cp:coreProperties>
</file>