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 The most rights-sensitive agent — lead with restraint. 'AI drafts and validates; it never concludes. No probable cause, no dangerousness scores, no diagnoses, no enforcement.'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 Officers spend up to 40% of time on reports (Axon framing). CDC's TowerScout cut cooling-tower ID from 4 hours to 5 minutes (−98%). Critically — and this builds credibility — present the mixed evidence honestly: Axon reports large savings, but a pre-registered RCT (2024) and Anchorage PD found no significant time savings. Lead with that honesty in front of a CISO.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 Situation → need. Constraint is the whole pitch: no probable cause, dangerousness, diagnosis, or enforcement by AI; CJI/PHI/public separated. CJIS v6.0 and HIPAA are non-negotiable.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~3.5 min. Walk the steps. Emphasize validated-SQL-only and that every conclusion is human. The green gate is the officer/epidemiologist.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~4.5 min. Architecture: separate CJI/PHI/public environments, Lake Formation governance, deterministic SQL validation before execution.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Outcomes: CDC's 98% on a public-health task; report-time savings where validated. Volunteer the null-result RCT — owning the contradicting evidence is what earns trust here. Close: this agent is the incident-report step in the disaster life-event saga.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BUILT ON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Safety / Public Health Case &amp; Report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 governed agent that summarizes incidents, drafts reports from approved source material, and turns plain-language questions into validated surveillance queries — without establishing probable cause or making diagnoses.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40% OF A SHIFT TO MINUTES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Safety / Public Health Case &amp; Report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Narrative reporting and surveillance queries consume analyst and officer time. AI drafts from approved source material and validates queries — while humans own every consequential conclusion.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 to 40%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of officer time spent on report-writing (industry framing)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Axon, 2025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~98%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faster public-health task: cooling-tower identification (4 hrs → 5 min)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CDC, Sep 2025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mixed evidence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AI report tools show large vendor savings AND null results in an RCT — present both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Axon 2025 / EFF 2025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Narrative-heavy work and query bottlenecks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Incident reports, call recordings, officer notes, lab data, investigations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Hours spent writing and structuring reports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Surveillance questions wait on scarce SQL expertise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Redaction and release for records requests is manual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reduce report-writing time and surveillance turnaround, and raise record completeness.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summarize from approved source, draft reports, and translate questions into validated SQL.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FBI CJIS v6.0, HIPAA/PHI separation — AI never establishes probable cause, diagnoses, or initiates enforcement.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AI never establishes probable cause, calculates dangerousness, diagnoses, or initiates enforcement; CJI/PHI/public data stay separated.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Summarize → draft → validated query; every conclusion stays human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 classify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summarize / report / query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Gather source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approved narrative · lab data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 / query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report · validated SQL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CJI/PHI separation · grounding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officer / epidemiologist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Finalize &amp; audit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report · query result · WORM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consequential AI calls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No probable cause, dangerousness scoring, diagnosis, or enforcement — those are human, by design.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Validated queries only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Surveillance SQL is validated deterministically before execution; no free-form DB access.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classes separated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CJI, PHI and public data run in separate environments (CJIS v6.0 / HIPAA).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Safety / Public Health Case &amp; Report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5097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00" dirty="0">
                <a:solidFill>
                  <a:srgbClr val="5B4708"/>
                </a:solidFill>
              </a:rPr>
              <a:t>STANDALONE-DEPLOYABLE — own VPC · CloudFront + WAF edge · KMS · WORM audit · gateway · human gate. No WoG dependency; the Whole-of-Government platform is optional and additive.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44752"/>
            <a:ext cx="1993392" cy="3310128"/>
          </a:xfrm>
          <a:prstGeom prst="roundRect">
            <a:avLst>
              <a:gd name="adj" fmla="val 2294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99616"/>
            <a:ext cx="1773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EXTERNAL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" y="1755648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Residents / agency staff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" y="2340864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IdP — SAML/OIDC · MFA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566928" y="3108960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" y="3108960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systems (on-prem)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" y="3694176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External data sources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566928" y="4334256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488"/>
                </a:solidFill>
              </a:rPr>
              <a:t>PrivateLink / Direct Connect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615184" y="1444752"/>
            <a:ext cx="9116568" cy="3310128"/>
          </a:xfrm>
          <a:prstGeom prst="roundRect">
            <a:avLst>
              <a:gd name="adj" fmla="val 1381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24912" y="1499616"/>
            <a:ext cx="8897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AWS CLOUD — per-customer VPC / dedicated account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0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52928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EDGE / PUBLIC SUBNET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852928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907792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CloudFront + WAF + Shield (TLS 1.2+)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761488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24" name="Text 22"/>
          <p:cNvSpPr/>
          <p:nvPr/>
        </p:nvSpPr>
        <p:spPr>
          <a:xfrm>
            <a:off x="2761488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52928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907792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API Gateway / ALB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2852928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07792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Cognito — SAML → JWT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2761488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0" name="Text 28"/>
          <p:cNvSpPr/>
          <p:nvPr/>
        </p:nvSpPr>
        <p:spPr>
          <a:xfrm>
            <a:off x="2761488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358384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68112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PRIVATE SUBNET — COMPUTE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68112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522976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Agent runtime — Step Functions + Lambda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376672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6" name="Text 34"/>
          <p:cNvSpPr/>
          <p:nvPr/>
        </p:nvSpPr>
        <p:spPr>
          <a:xfrm>
            <a:off x="5376672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68112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522976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MCP authorization gateway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5376672" y="2651760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2651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68112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522976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SQS queue + DLQ · HITL gate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5376672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4" name="Text 42"/>
          <p:cNvSpPr/>
          <p:nvPr/>
        </p:nvSpPr>
        <p:spPr>
          <a:xfrm>
            <a:off x="5376672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973568" y="1773936"/>
            <a:ext cx="3657600" cy="2852928"/>
          </a:xfrm>
          <a:prstGeom prst="roundRect">
            <a:avLst>
              <a:gd name="adj" fmla="val 1603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1819656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MODEL LAYER — VPC ENDPOINT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092440" y="2048256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147304" y="2048256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Bedrock — Claude Sonnet + Haiku</a:t>
            </a:r>
            <a:endParaRPr lang="en-US" sz="880" dirty="0"/>
          </a:p>
        </p:txBody>
      </p:sp>
      <p:sp>
        <p:nvSpPr>
          <p:cNvPr id="49" name="Shape 47"/>
          <p:cNvSpPr/>
          <p:nvPr/>
        </p:nvSpPr>
        <p:spPr>
          <a:xfrm>
            <a:off x="8001000" y="1975104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0" name="Text 48"/>
          <p:cNvSpPr/>
          <p:nvPr/>
        </p:nvSpPr>
        <p:spPr>
          <a:xfrm>
            <a:off x="8001000" y="19751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633472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8147304" y="2633472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Bedrock Guardrails — PII &amp; content (mandatory)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8083296" y="3218688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DATA TIER — KMS CMK per data class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092440" y="3438144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8147304" y="3438144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DynamoDB — append-only audit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8001000" y="33649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7" name="Text 55"/>
          <p:cNvSpPr/>
          <p:nvPr/>
        </p:nvSpPr>
        <p:spPr>
          <a:xfrm>
            <a:off x="8001000" y="3364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092440" y="4023360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147304" y="4023360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S3 Object Lock (WORM) · state · Secrets</a:t>
            </a:r>
            <a:endParaRPr lang="en-US" sz="880" dirty="0"/>
          </a:p>
        </p:txBody>
      </p:sp>
      <p:sp>
        <p:nvSpPr>
          <p:cNvPr id="60" name="Shape 58"/>
          <p:cNvSpPr/>
          <p:nvPr/>
        </p:nvSpPr>
        <p:spPr>
          <a:xfrm>
            <a:off x="8001000" y="395020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61" name="Text 59"/>
          <p:cNvSpPr/>
          <p:nvPr/>
        </p:nvSpPr>
        <p:spPr>
          <a:xfrm>
            <a:off x="8001000" y="3950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340864" y="3520440"/>
            <a:ext cx="402336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38928" y="2322576"/>
            <a:ext cx="329184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54112" y="2304288"/>
            <a:ext cx="338328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611112" y="3383280"/>
            <a:ext cx="0" cy="22860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57200" y="4828032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/>
        </p:spPr>
      </p:sp>
      <p:sp>
        <p:nvSpPr>
          <p:cNvPr id="67" name="Text 65"/>
          <p:cNvSpPr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930" dirty="0">
                <a:solidFill>
                  <a:srgbClr val="1B2440"/>
                </a:solidFill>
              </a:rPr>
              <a:t>KMS (CMK per data class) · IAM least-privilege · CloudWatch · CloudTrail · X-Ray · GuardDuty · Security Hub + Config · data-class isolation (CJI/FTI/PHI/EDU/public)</a:t>
            </a:r>
            <a:endParaRPr lang="en-US" sz="930" dirty="0"/>
          </a:p>
        </p:txBody>
      </p:sp>
      <p:sp>
        <p:nvSpPr>
          <p:cNvPr id="68" name="Text 66"/>
          <p:cNvSpPr/>
          <p:nvPr/>
        </p:nvSpPr>
        <p:spPr>
          <a:xfrm>
            <a:off x="457200" y="530352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BC0"/>
                </a:solidFill>
              </a:rPr>
              <a:t>TRAFFIC FLOW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5541264"/>
            <a:ext cx="5623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1  Resident/staff sign in at the agency IdP (SAML/OIDC, MFA). Amazon Cognito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2  CloudFront + AWS WAF inspect, filter and rate-limit the request; API Gatew…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3  The MCP gateway re-validates the JWT and its custom:slg_role claim and aut…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4  For each authorized call the gateway mints a short-lived, tool-scoped toke…</a:t>
            </a:r>
            <a:endParaRPr lang="en-US" sz="930" dirty="0"/>
          </a:p>
        </p:txBody>
      </p:sp>
      <p:sp>
        <p:nvSpPr>
          <p:cNvPr id="70" name="Text 68"/>
          <p:cNvSpPr/>
          <p:nvPr/>
        </p:nvSpPr>
        <p:spPr>
          <a:xfrm>
            <a:off x="6172200" y="5541264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5  Model calls stay inside AWS via a Bedrock VPC endpoint; Guardrails filter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6  Workflow pauses at the human-review gate (Step Functions waitForTaskToken)…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7  On approval the action commits; case state, append-only audit and finalize…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8  Every step — node, timestamp, JWT subject/actor, data sources, model versi…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(illustrative for a reference agency; sources cited)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~98%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faster cooling-tower ID (CDC)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 hours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report-writing time (where validated)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surveillance turnaround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↑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record completeness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Honest on evidence: vendor report-time savings AND a null-result RCT both exist — validate per agency.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Deterministic SQL validation over free-form model queries (safety + correctness).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Separate CJI/PHI/public environments accepted over a single data boundary.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Knowledge Bases for typology/protocol RAG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Human-verified redaction for public release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incident-system + surveillance-DB connectors; eval baselines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draft the narrative, validate the query, keep every judgment human — especially where rights and health are at stake.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Axon 2025 (report-time framing)  ·  CDC Sep 2025 (TowerScout)  ·  EFF 2025 / J. Exp. Criminology 2024 (null-result RCT)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Public Safety / Public Health Case &amp; Report</dc:title>
  <dc:subject>PptxGenJS Presentation</dc:subject>
  <dc:creator>David Ryder</dc:creator>
  <cp:lastModifiedBy>David Ryder</cp:lastModifiedBy>
  <cp:revision>1</cp:revision>
  <dcterms:created xsi:type="dcterms:W3CDTF">2026-06-23T21:11:26Z</dcterms:created>
  <dcterms:modified xsi:type="dcterms:W3CDTF">2026-06-23T21:11:26Z</dcterms:modified>
</cp:coreProperties>
</file>