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is your opener for an executive briefing or the leave-behind that frames the whole library. Use it when you don't yet know which agent the room cares about. Establish the thesis: governed, deployable, regulated-by-design AI on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Anchor on NASCIO: AI is the #1 state-CIO priority for 2026. Then the portfolio: eight agents plus a platform, all on AWS, with Bedrock at FedRAMP High and DoD IL-4/5 in GovCloud — that last line preempts the security objection before it's raised. The narrative: the demand is settled; what's missing is governed, fundable production, and that's what this library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 Tailor to the room: CIO hears the pilot trap and the legacy-budget squeeze; CISO hears 'security and audit are built in, not bolted on'; architect hears 'build the pattern once, reuse eight times.' The ADA deadline is a real, dated forcing function — April 2027 for governments over 50k — so accessibility isn't optional and we test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[~70 sec] Show the portfolio as one repeated pattern across three tiers - resident-facing, casework, operations - with a human gate everywhere and one platform underneath. The proof point for a skeptical engineer: each agent withholds its consequential action (issue, adjudicate, release, award) and that's enforced by tests, not promised in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[~75 sec] One governed backbone shared by all agents - that's the cost and security argument in a single diagram. Reuse the JWT / least-privilege / WORM walk-through. Stress full IaC parity: CloudFormation and Terraform, commercial and GovCloud. For the CISO, this is the slide that says a solution architect can deploy this and it will pass your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Close on deployability: every agent ships with code, infrastructure-as-code, containers, runbooks and its own customer deck; full CFN/Terraform parity; WCAG 2.1 AA tested with control mappings included. Then the sales-coaching line: lead with the agent that fits the room, sell the platform underneath. The executive takeaway: build governance once, inherit it forever - that's a fundable program, not another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for State &amp; Local Government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governed agents and one platform — a reference library for regulated public-sector AI,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9260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Architecture Leader   ·   github.com/virtualryder/slg-ai-agents   · 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SCATTERED PILOTS TO A GOVERNED AI PLATFORM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41248" y="17556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State &amp; Local Government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deployable reference library: eight production-shaped agents across the resident journey, all built on one governed platform where every consequential action stays human, every answer is cited, and every step is logged — designed for a regulated environment from day one.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7899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top state-CIO priority for 2026 (NASCIO)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+ 1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9087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agents plus a whole-of-government platform, all on AWS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FedRAMP High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0275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authorized; DoD IL-4/5 in GovCloud (US)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276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 ·   AI Strategy &amp; Architecture Leader   ·   github.com/virtualryder/slg-ai-agents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&amp; THE PROBLEM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demand is proven; the missing piece is governed, fundable production.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local executives — CIOs, CISOs and directors of architecture — deciding where to place AI bets that will survive security review, an audit, and a budget cycle.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live with 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are everywhere; few reach governed, funded production.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rebuilt from scratch multiplies cost and risk.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accessibility and audit are bolted on late, if at all.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experience government as disconnected silos.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STATUS QUO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257860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 vs 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87768" y="309067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GenAI vs. funded to scale it (NASCIO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362102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67588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$100B+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87768" y="418795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IT spend, ~80% operating legacy systems (GAO)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471830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477316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 2027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87768" y="528523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Title II WCAG 2.1 AA deadline for ≥50k-population governments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NASCIO 2025–2026; GAO-25-107795; ADA.gov 2026 IFR. See DECK-SOURCES.md.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WORKFLOW — GOVERNED,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pattern, eight agents: ground → act safely → human gate → audit — reused everywhere.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Resident-facing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services and forms/IDP — the front door and the intake.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01–02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70296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728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187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314187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4187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187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Permitting, benefits, records, procurement — governed decisions.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4187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03–06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57293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1613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6205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5296205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6205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6205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desk and public safety/health acceleration.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96205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07–08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011619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5939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01A88D"/>
          </a:solidFill>
          <a:ln w="12700">
            <a:solidFill>
              <a:srgbClr val="0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0531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5053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A8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71739" y="2167128"/>
            <a:ext cx="11210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0531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 everywhere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50531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action is withheld in code until approved.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50531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agents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16594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4026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485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485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485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0485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governance, canonical data, audit and compliance events.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485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WoG platform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22960" y="5166360"/>
            <a:ext cx="10515600" cy="868680"/>
          </a:xfrm>
          <a:prstGeom prst="roundRect">
            <a:avLst>
              <a:gd name="adj" fmla="val 6316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5358384"/>
            <a:ext cx="457200" cy="45720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0200" y="5230368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withheld in code until a human approves.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withholds its consequential action — issue, adjudicate, release, award — verified by tests.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REFERENCE ARCHITECTURE — BUILT FOR A REGULATED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governed AWS backbone shared by all eight agents and the platform.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147E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310896" cy="310896"/>
          </a:xfrm>
          <a:prstGeom prst="ellipse">
            <a:avLst/>
          </a:prstGeom>
          <a:solidFill>
            <a:srgbClr val="147E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/ Staff channel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phone · kiosk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150146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51314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2754" y="1691640"/>
            <a:ext cx="310896" cy="310896"/>
          </a:xfrm>
          <a:prstGeom prst="ellipse">
            <a:avLst/>
          </a:prstGeom>
          <a:solidFill>
            <a:srgbClr val="DD344C"/>
          </a:solidFill>
          <a:ln/>
        </p:spPr>
      </p:sp>
      <p:sp>
        <p:nvSpPr>
          <p:cNvPr id="12" name="Text 10"/>
          <p:cNvSpPr/>
          <p:nvPr/>
        </p:nvSpPr>
        <p:spPr>
          <a:xfrm>
            <a:off x="2442754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1042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1042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 + Shield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678501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79669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1109" y="1691640"/>
            <a:ext cx="310896" cy="310896"/>
          </a:xfrm>
          <a:prstGeom prst="ellipse">
            <a:avLst/>
          </a:prstGeom>
          <a:solidFill>
            <a:srgbClr val="8C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71109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89397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Cognito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9397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→ JWT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06855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08023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9463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99463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17751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7751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authorizer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735209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36377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7817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027817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6105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6105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· least privilege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263563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64731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01A8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6171" y="1691640"/>
            <a:ext cx="310896" cy="310896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36" name="Text 34"/>
          <p:cNvSpPr/>
          <p:nvPr/>
        </p:nvSpPr>
        <p:spPr>
          <a:xfrm>
            <a:off x="8556171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74459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Bedrock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74459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Strands/LangGraph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791918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93086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7AA1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84526" y="1691640"/>
            <a:ext cx="310896" cy="310896"/>
          </a:xfrm>
          <a:prstGeom prst="ellipse">
            <a:avLst/>
          </a:prstGeom>
          <a:solidFill>
            <a:srgbClr val="7AA116"/>
          </a:solidFill>
          <a:ln/>
        </p:spPr>
      </p:sp>
      <p:sp>
        <p:nvSpPr>
          <p:cNvPr id="42" name="Text 40"/>
          <p:cNvSpPr/>
          <p:nvPr/>
        </p:nvSpPr>
        <p:spPr>
          <a:xfrm>
            <a:off x="10084526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02814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→ action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02814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then tools + data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822960" y="32004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flow:  </a:t>
            </a:r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 to the agency IdP, which Amazon Cognito federates into a signed JWT. API Gateway validates the JWT; the MCP gateway re-validates the custom:slg_role claim and issues a scoped, time-boxed token so the agent can call only the tools that role is entitled to (agent grant ∩ user entitlement). Bedrock Guardrails filter every prompt and response; the consequential action is held at the human gate. Every step writes to CloudTrail and a WORM (S3 Object Lock) audit log.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822960" y="3886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REGULATED-ENVIRONMENT CONTROLS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0976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3502152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1" name="Text 49"/>
          <p:cNvSpPr/>
          <p:nvPr/>
        </p:nvSpPr>
        <p:spPr>
          <a:xfrm>
            <a:off x="3630168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30168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6181344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8860536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7" name="Text 55"/>
          <p:cNvSpPr/>
          <p:nvPr/>
        </p:nvSpPr>
        <p:spPr>
          <a:xfrm>
            <a:off x="8988552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988552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22960" y="57150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C3B4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57607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models:  </a:t>
            </a:r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(standalone) — each agent ships its own VPC, edge, Cognito, data and WORM audit stack, deployable by one CloudFormation/Terraform quickstart. Model B (+ Whole-of-Government) — adds shared canonical data, saga orchestration and a compliance event bus. GovCloud (US) uses the portable gateway path.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Deployable, defensible, and built to scale.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agents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241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code, IaC, containers, runbooks and a customer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3118104"/>
            <a:ext cx="912571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1960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76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CFN + Terraform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3905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IaC parity across commercial and GovCloud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3118104"/>
            <a:ext cx="1137514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1624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WCAG 2.1 AA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3569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tested; control mappings included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17408" y="3118104"/>
            <a:ext cx="987552" cy="256032"/>
          </a:xfrm>
          <a:prstGeom prst="rect">
            <a:avLst>
              <a:gd name="adj" fmla="val 14286"/>
            </a:avLst>
          </a:prstGeom>
          <a:solidFill>
            <a:srgbClr val="0E7C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3A4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76472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case: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agent that fits the room — 311 for citizen value, benefits for mission, public safety for credibility — then sell the platform underneath. Build governance once and every future agent inherits it. That is the difference between another pilot and a fundable program.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tier. Vendor-reported vs. government/peer-reviewed sourcing in DECK-SOURCES.md. Improvement applied to a reference agency — not a guarantee.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2026-06-25T00:54:06Z</dcterms:created>
  <dcterms:modified xsi:type="dcterms:W3CDTF">2026-06-25T00:54:06Z</dcterms:modified>
</cp:coreProperties>
</file>