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[~30 sec] This is your opener for an executive briefing or the leave-behind that frames the whole library. Use it when you don't yet know which agent the room cares about. Establish the thesis: governed, deployable, regulated-by-design AI on AWS.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[~60 sec] Anchor on NASCIO: AI is the #1 state-CIO priority for 2026. Then the portfolio: eight agents plus a platform, all on AWS, with Bedrock at FedRAMP High and DoD IL-4/5 in GovCloud — that last line preempts the security objection before it's raised. The narrative: the demand is settled; what's missing is governed, fundable production, and that's what this library 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[~55 sec] Tailor to the room: CIO hears the pilot trap and the legacy-budget squeeze; CISO hears 'security and audit are built in, not bolted on'; architect hears 'build the pattern once, reuse eight times.' The ADA deadline is a real, dated forcing function — April 2027 for governments over 50k — so accessibility isn't optional and we test for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[~70 sec] Show the portfolio as one repeated pattern across three tiers - resident-facing, casework, operations - with a human gate everywhere and one platform underneath. The proof point for a skeptical engineer: each agent withholds its consequential action (issue, adjudicate, release, award) and that's enforced by tests, not promised in a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[~75 sec] One governed backbone shared by all agents - that's the cost and security argument in a single diagram. Reuse the JWT / least-privilege / WORM walk-through. Stress full IaC parity: CloudFormation and Terraform, commercial and GovCloud. For the CISO, this is the slide that says a solution architect can deploy this and it will pass your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[~60 sec] Close on deployability: every agent ships with code, infrastructure-as-code, containers, runbooks and its own customer deck; full CFN/Terraform parity; WCAG 2.1 AA tested with control mappings included. Then the sales-coaching line: lead with the agent that fits the room, sell the platform underneath. The executive takeaway: build governance once, inherit it forever - that's a fundable program, not another pilot.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463040"/>
            <a:ext cx="859536" cy="457200"/>
          </a:xfrm>
          <a:prstGeom prst="roundRect">
            <a:avLst>
              <a:gd name="adj" fmla="val 8000"/>
            </a:avLst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463040"/>
            <a:ext cx="8595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AWS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1828800" y="1463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SLG AGENTIC AI REFERENCE LIBRARY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Agentic AI for State &amp; Local Government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41248" y="39776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governed agents and one platform — a reference library for regulated public-sector AI, on AWS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5806440"/>
            <a:ext cx="292608" cy="5486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59436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Ryder</a:t>
            </a:r>
            <a:pPr indent="0" marL="0">
              <a:lnSpc>
                <a:spcPct val="110000"/>
              </a:lnSpc>
              <a:buNone/>
            </a:pP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Strategy &amp; Architecture Leader   ·   github.com/virtualryder/slg-ai-agents   ·   June 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515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SCATTERED PILOTS TO A GOVERNED AI PLATFORM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841248" y="175564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for State &amp; Local Government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41248" y="2286000"/>
            <a:ext cx="10424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complete, deployable reference library: eight production-shaped agents across the resident journey, all built on one governed platform where every consequential action stays human, every answer is cited, and every step is logged — designed for a regulated environment from day one.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82296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#1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107899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is the top state-CIO priority for 2026 (NASCIO)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43484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3484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1" name="Text 9"/>
          <p:cNvSpPr/>
          <p:nvPr/>
        </p:nvSpPr>
        <p:spPr>
          <a:xfrm>
            <a:off x="466344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 + 1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469087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agents plus a whole-of-government platform, all on AWS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4672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672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5" name="Text 13"/>
          <p:cNvSpPr/>
          <p:nvPr/>
        </p:nvSpPr>
        <p:spPr>
          <a:xfrm>
            <a:off x="827532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FedRAMP High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830275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authorized; DoD IL-4/5 in GovCloud (US)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2960" y="632764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Ryder   ·   AI Strategy &amp; Architecture Leader   ·   github.com/virtualryder/slg-ai-agents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&amp; THE PROBLEM TODAY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demand is proven; the missing piece is governed, fundable production.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22960" y="19659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they are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249424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and local executives — CIOs, CISOs and directors of architecture — deciding where to place AI bets that will survive security review, an audit, and a budget cycle.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320040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live with today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3493008"/>
            <a:ext cx="585216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Pilots are everywhere; few reach governed, funded production.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agent rebuilt from scratch multiplies cost and risk.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Security, accessibility and audit are bolted on late, if at all.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Residents experience government as disconnected silos.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040880" y="1965960"/>
            <a:ext cx="4325112" cy="3977640"/>
          </a:xfrm>
          <a:prstGeom prst="roundRect">
            <a:avLst>
              <a:gd name="adj" fmla="val 1839"/>
            </a:avLst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7269480" y="21488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 OF THE STATUS QUO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269480" y="257860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90% vs 25%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7287768" y="309067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piloting GenAI vs. funded to scale it (NASCIO 2025)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269480" y="3621024"/>
            <a:ext cx="3886200" cy="0"/>
          </a:xfrm>
          <a:prstGeom prst="line">
            <a:avLst/>
          </a:prstGeom>
          <a:noFill/>
          <a:ln w="12700">
            <a:solidFill>
              <a:srgbClr val="3747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69480" y="367588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$100B+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7287768" y="418795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IT spend, ~80% operating legacy systems (GAO)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269480" y="4718304"/>
            <a:ext cx="3886200" cy="0"/>
          </a:xfrm>
          <a:prstGeom prst="line">
            <a:avLst/>
          </a:prstGeom>
          <a:noFill/>
          <a:ln w="12700">
            <a:solidFill>
              <a:srgbClr val="3747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269480" y="477316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Apr 2027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7287768" y="528523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 Title II WCAG 2.1 AA deadline for ≥50k-population governments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22960" y="6437376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NASCIO 2025–2026; GAO-25-107795; ADA.gov 2026 IFR. See DECK-SOURCES.md.</a:t>
            </a:r>
            <a:endParaRPr lang="en-US" sz="8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WORKFLOW — GOVERNED, STEP BY STEP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pattern, eight agents: ground → act safely → human gate → audit — reused everywhere.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987552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87552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Resident-facing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987552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311 services and forms/IDP — the front door and the intake.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87552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01–02</a:t>
            </a:r>
            <a:endParaRPr lang="en-US" sz="870" dirty="0"/>
          </a:p>
        </p:txBody>
      </p:sp>
      <p:sp>
        <p:nvSpPr>
          <p:cNvPr id="10" name="Text 8"/>
          <p:cNvSpPr/>
          <p:nvPr/>
        </p:nvSpPr>
        <p:spPr>
          <a:xfrm>
            <a:off x="2702966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977286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141878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3141878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141878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Casework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141878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Permitting, benefits, records, procurement — governed decisions.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141878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03–06</a:t>
            </a:r>
            <a:endParaRPr lang="en-US" sz="870" dirty="0"/>
          </a:p>
        </p:txBody>
      </p:sp>
      <p:sp>
        <p:nvSpPr>
          <p:cNvPr id="17" name="Text 15"/>
          <p:cNvSpPr/>
          <p:nvPr/>
        </p:nvSpPr>
        <p:spPr>
          <a:xfrm>
            <a:off x="4857293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131613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296205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20" name="Text 18"/>
          <p:cNvSpPr/>
          <p:nvPr/>
        </p:nvSpPr>
        <p:spPr>
          <a:xfrm>
            <a:off x="5296205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296205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5296205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service desk and public safety/health acceleration.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296205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07–08</a:t>
            </a:r>
            <a:endParaRPr lang="en-US" sz="870" dirty="0"/>
          </a:p>
        </p:txBody>
      </p:sp>
      <p:sp>
        <p:nvSpPr>
          <p:cNvPr id="24" name="Text 22"/>
          <p:cNvSpPr/>
          <p:nvPr/>
        </p:nvSpPr>
        <p:spPr>
          <a:xfrm>
            <a:off x="7011619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7285939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01A88D"/>
          </a:solidFill>
          <a:ln w="12700">
            <a:solidFill>
              <a:srgbClr val="0E7C6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50531" y="210312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7450531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1A88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7971739" y="2167128"/>
            <a:ext cx="112105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450531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gates everywhere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7450531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6FB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consequential action is withheld in code until approved.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450531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6FB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all agents</a:t>
            </a:r>
            <a:endParaRPr lang="en-US" sz="870" dirty="0"/>
          </a:p>
        </p:txBody>
      </p:sp>
      <p:sp>
        <p:nvSpPr>
          <p:cNvPr id="32" name="Text 30"/>
          <p:cNvSpPr/>
          <p:nvPr/>
        </p:nvSpPr>
        <p:spPr>
          <a:xfrm>
            <a:off x="9165946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9440266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604858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35" name="Text 33"/>
          <p:cNvSpPr/>
          <p:nvPr/>
        </p:nvSpPr>
        <p:spPr>
          <a:xfrm>
            <a:off x="9604858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9604858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platform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9604858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governance, canonical data, audit and compliance events.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9604858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WoG platform</a:t>
            </a:r>
            <a:endParaRPr lang="en-US" sz="870" dirty="0"/>
          </a:p>
        </p:txBody>
      </p:sp>
      <p:sp>
        <p:nvSpPr>
          <p:cNvPr id="39" name="Shape 37"/>
          <p:cNvSpPr/>
          <p:nvPr/>
        </p:nvSpPr>
        <p:spPr>
          <a:xfrm>
            <a:off x="822960" y="5166360"/>
            <a:ext cx="10515600" cy="868680"/>
          </a:xfrm>
          <a:prstGeom prst="roundRect">
            <a:avLst>
              <a:gd name="adj" fmla="val 6316"/>
            </a:avLst>
          </a:prstGeom>
          <a:solidFill>
            <a:srgbClr val="EAEFF4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05840" y="5358384"/>
            <a:ext cx="457200" cy="457200"/>
          </a:xfrm>
          <a:prstGeom prst="ellipse">
            <a:avLst/>
          </a:prstGeom>
          <a:solidFill>
            <a:srgbClr val="01A88D"/>
          </a:solidFill>
          <a:ln/>
        </p:spPr>
      </p:sp>
      <p:sp>
        <p:nvSpPr>
          <p:cNvPr id="41" name="Text 39"/>
          <p:cNvSpPr/>
          <p:nvPr/>
        </p:nvSpPr>
        <p:spPr>
          <a:xfrm>
            <a:off x="100584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1600200" y="5230368"/>
            <a:ext cx="9601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consequential action is withheld in code until a human approves.  </a:t>
            </a:r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agent withholds its consequential action — issue, adjudicate, release, award — verified by tests.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REFERENCE ARCHITECTURE — BUILT FOR A REGULATED ENVIRONMENT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14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governed AWS backbone shared by all eight agents and the platform.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822960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147EB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691640"/>
            <a:ext cx="310896" cy="310896"/>
          </a:xfrm>
          <a:prstGeom prst="ellipse">
            <a:avLst/>
          </a:prstGeom>
          <a:solidFill>
            <a:srgbClr val="147EB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32688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 / Staff channel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32688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· mobile · phone · kiosk</a:t>
            </a:r>
            <a:endParaRPr lang="en-US" sz="860" dirty="0"/>
          </a:p>
        </p:txBody>
      </p:sp>
      <p:sp>
        <p:nvSpPr>
          <p:cNvPr id="9" name="Text 7"/>
          <p:cNvSpPr/>
          <p:nvPr/>
        </p:nvSpPr>
        <p:spPr>
          <a:xfrm>
            <a:off x="2150146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351314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DD344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442754" y="1691640"/>
            <a:ext cx="310896" cy="310896"/>
          </a:xfrm>
          <a:prstGeom prst="ellipse">
            <a:avLst/>
          </a:prstGeom>
          <a:solidFill>
            <a:srgbClr val="DD344C"/>
          </a:solidFill>
          <a:ln/>
        </p:spPr>
      </p:sp>
      <p:sp>
        <p:nvSpPr>
          <p:cNvPr id="12" name="Text 10"/>
          <p:cNvSpPr/>
          <p:nvPr/>
        </p:nvSpPr>
        <p:spPr>
          <a:xfrm>
            <a:off x="2442754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461042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protection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461042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CloudFront + WAF + Shield</a:t>
            </a:r>
            <a:endParaRPr lang="en-US" sz="860" dirty="0"/>
          </a:p>
        </p:txBody>
      </p:sp>
      <p:sp>
        <p:nvSpPr>
          <p:cNvPr id="15" name="Text 13"/>
          <p:cNvSpPr/>
          <p:nvPr/>
        </p:nvSpPr>
        <p:spPr>
          <a:xfrm>
            <a:off x="3678501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879669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8C4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71109" y="1691640"/>
            <a:ext cx="310896" cy="310896"/>
          </a:xfrm>
          <a:prstGeom prst="ellipse">
            <a:avLst/>
          </a:prstGeom>
          <a:solidFill>
            <a:srgbClr val="8C4FFF"/>
          </a:solidFill>
          <a:ln/>
        </p:spPr>
      </p:sp>
      <p:sp>
        <p:nvSpPr>
          <p:cNvPr id="18" name="Text 16"/>
          <p:cNvSpPr/>
          <p:nvPr/>
        </p:nvSpPr>
        <p:spPr>
          <a:xfrm>
            <a:off x="3971109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989397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— Cognito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989397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federation → JWT</a:t>
            </a:r>
            <a:endParaRPr lang="en-US" sz="860" dirty="0"/>
          </a:p>
        </p:txBody>
      </p:sp>
      <p:sp>
        <p:nvSpPr>
          <p:cNvPr id="21" name="Text 19"/>
          <p:cNvSpPr/>
          <p:nvPr/>
        </p:nvSpPr>
        <p:spPr>
          <a:xfrm>
            <a:off x="5206855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08023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FF99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99463" y="1691640"/>
            <a:ext cx="310896" cy="310896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24" name="Text 22"/>
          <p:cNvSpPr/>
          <p:nvPr/>
        </p:nvSpPr>
        <p:spPr>
          <a:xfrm>
            <a:off x="5499463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517751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Gateway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517751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authorizer</a:t>
            </a:r>
            <a:endParaRPr lang="en-US" sz="860" dirty="0"/>
          </a:p>
        </p:txBody>
      </p:sp>
      <p:sp>
        <p:nvSpPr>
          <p:cNvPr id="27" name="Text 25"/>
          <p:cNvSpPr/>
          <p:nvPr/>
        </p:nvSpPr>
        <p:spPr>
          <a:xfrm>
            <a:off x="6735209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936377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FF99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027817" y="1691640"/>
            <a:ext cx="310896" cy="310896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30" name="Text 28"/>
          <p:cNvSpPr/>
          <p:nvPr/>
        </p:nvSpPr>
        <p:spPr>
          <a:xfrm>
            <a:off x="7027817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046105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tool gateway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046105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· least privilege</a:t>
            </a:r>
            <a:endParaRPr lang="en-US" sz="860" dirty="0"/>
          </a:p>
        </p:txBody>
      </p:sp>
      <p:sp>
        <p:nvSpPr>
          <p:cNvPr id="33" name="Text 31"/>
          <p:cNvSpPr/>
          <p:nvPr/>
        </p:nvSpPr>
        <p:spPr>
          <a:xfrm>
            <a:off x="8263563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8464731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01A88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56171" y="1691640"/>
            <a:ext cx="310896" cy="310896"/>
          </a:xfrm>
          <a:prstGeom prst="ellipse">
            <a:avLst/>
          </a:prstGeom>
          <a:solidFill>
            <a:srgbClr val="01A88D"/>
          </a:solidFill>
          <a:ln/>
        </p:spPr>
      </p:sp>
      <p:sp>
        <p:nvSpPr>
          <p:cNvPr id="36" name="Text 34"/>
          <p:cNvSpPr/>
          <p:nvPr/>
        </p:nvSpPr>
        <p:spPr>
          <a:xfrm>
            <a:off x="8556171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574459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— Bedrock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574459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+ Strands/LangGraph</a:t>
            </a:r>
            <a:endParaRPr lang="en-US" sz="860" dirty="0"/>
          </a:p>
        </p:txBody>
      </p:sp>
      <p:sp>
        <p:nvSpPr>
          <p:cNvPr id="39" name="Text 37"/>
          <p:cNvSpPr/>
          <p:nvPr/>
        </p:nvSpPr>
        <p:spPr>
          <a:xfrm>
            <a:off x="9791918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9993086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7AA11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084526" y="1691640"/>
            <a:ext cx="310896" cy="310896"/>
          </a:xfrm>
          <a:prstGeom prst="ellipse">
            <a:avLst/>
          </a:prstGeom>
          <a:solidFill>
            <a:srgbClr val="7AA116"/>
          </a:solidFill>
          <a:ln/>
        </p:spPr>
      </p:sp>
      <p:sp>
        <p:nvSpPr>
          <p:cNvPr id="42" name="Text 40"/>
          <p:cNvSpPr/>
          <p:nvPr/>
        </p:nvSpPr>
        <p:spPr>
          <a:xfrm>
            <a:off x="10084526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0102814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gate → action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0102814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Approve, then tools + data</a:t>
            </a:r>
            <a:endParaRPr lang="en-US" sz="860" dirty="0"/>
          </a:p>
        </p:txBody>
      </p:sp>
      <p:sp>
        <p:nvSpPr>
          <p:cNvPr id="45" name="Text 43"/>
          <p:cNvSpPr/>
          <p:nvPr/>
        </p:nvSpPr>
        <p:spPr>
          <a:xfrm>
            <a:off x="822960" y="3200400"/>
            <a:ext cx="105156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7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flow:  </a:t>
            </a:r>
            <a:pPr indent="0" marL="0">
              <a:lnSpc>
                <a:spcPct val="105000"/>
              </a:lnSpc>
              <a:buNone/>
            </a:pPr>
            <a:r>
              <a:rPr lang="en-US" sz="107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authenticates to the agency IdP, which Amazon Cognito federates into a signed JWT. API Gateway validates the JWT; the MCP gateway re-validates the custom:slg_role claim and issues a scoped, time-boxed token so the agent can call only the tools that role is entitled to (agent grant ∩ user entitlement). Bedrock Guardrails filter every prompt and response; the consequential action is held at the human gate. Every step writes to CloudTrail and a WORM (S3 Object Lock) audit log.</a:t>
            </a:r>
            <a:endParaRPr lang="en-US" sz="1070" dirty="0"/>
          </a:p>
        </p:txBody>
      </p:sp>
      <p:sp>
        <p:nvSpPr>
          <p:cNvPr id="46" name="Text 44"/>
          <p:cNvSpPr/>
          <p:nvPr/>
        </p:nvSpPr>
        <p:spPr>
          <a:xfrm>
            <a:off x="822960" y="3886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REGULATED-ENVIRONMENT CONTROLS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822960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48" name="Text 46"/>
          <p:cNvSpPr/>
          <p:nvPr/>
        </p:nvSpPr>
        <p:spPr>
          <a:xfrm>
            <a:off x="950976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&amp; least privilege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950976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+ custom:slg_role; deny-by-default MCP gateway; effective scope = agent grant ∩ user entitlement.</a:t>
            </a:r>
            <a:endParaRPr lang="en-US" sz="860" dirty="0"/>
          </a:p>
        </p:txBody>
      </p:sp>
      <p:sp>
        <p:nvSpPr>
          <p:cNvPr id="50" name="Shape 48"/>
          <p:cNvSpPr/>
          <p:nvPr/>
        </p:nvSpPr>
        <p:spPr>
          <a:xfrm>
            <a:off x="3502152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1" name="Text 49"/>
          <p:cNvSpPr/>
          <p:nvPr/>
        </p:nvSpPr>
        <p:spPr>
          <a:xfrm>
            <a:off x="3630168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protection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3630168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masking before inference; KMS encryption; S3 Object Lock (WORM) audit; private VPC + Bedrock VPC endpoint.</a:t>
            </a:r>
            <a:endParaRPr lang="en-US" sz="860" dirty="0"/>
          </a:p>
        </p:txBody>
      </p:sp>
      <p:sp>
        <p:nvSpPr>
          <p:cNvPr id="53" name="Shape 51"/>
          <p:cNvSpPr/>
          <p:nvPr/>
        </p:nvSpPr>
        <p:spPr>
          <a:xfrm>
            <a:off x="6181344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4" name="Text 52"/>
          <p:cNvSpPr/>
          <p:nvPr/>
        </p:nvSpPr>
        <p:spPr>
          <a:xfrm>
            <a:off x="6309360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guardrails &amp; HITL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6309360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Guardrails; grounded, cited answers; consequential action withheld in code until a human approves.</a:t>
            </a:r>
            <a:endParaRPr lang="en-US" sz="860" dirty="0"/>
          </a:p>
        </p:txBody>
      </p:sp>
      <p:sp>
        <p:nvSpPr>
          <p:cNvPr id="56" name="Shape 54"/>
          <p:cNvSpPr/>
          <p:nvPr/>
        </p:nvSpPr>
        <p:spPr>
          <a:xfrm>
            <a:off x="8860536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7" name="Text 55"/>
          <p:cNvSpPr/>
          <p:nvPr/>
        </p:nvSpPr>
        <p:spPr>
          <a:xfrm>
            <a:off x="8988552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posture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8988552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FedRAMP High + DoD IL-4/5 in GovCloud; CJIS / IRS-1075 alignment; CloudTrail; ADA WCAG 2.1 AA.</a:t>
            </a:r>
            <a:endParaRPr lang="en-US" sz="860" dirty="0"/>
          </a:p>
        </p:txBody>
      </p:sp>
      <p:sp>
        <p:nvSpPr>
          <p:cNvPr id="59" name="Shape 57"/>
          <p:cNvSpPr/>
          <p:nvPr/>
        </p:nvSpPr>
        <p:spPr>
          <a:xfrm>
            <a:off x="822960" y="5715000"/>
            <a:ext cx="10515600" cy="713232"/>
          </a:xfrm>
          <a:prstGeom prst="roundRect">
            <a:avLst>
              <a:gd name="adj" fmla="val 7692"/>
            </a:avLst>
          </a:prstGeom>
          <a:solidFill>
            <a:srgbClr val="2C3B4E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005840" y="5760720"/>
            <a:ext cx="101498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3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models:  </a:t>
            </a:r>
            <a:pPr indent="0" marL="0">
              <a:lnSpc>
                <a:spcPct val="102000"/>
              </a:lnSpc>
              <a:buNone/>
            </a:pPr>
            <a:r>
              <a:rPr lang="en-US" sz="103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 (standalone) — each agent ships its own VPC, edge, Cognito, data and WORM audit stack, deployable by one CloudFormation/Terraform quickstart. Model B (+ Whole-of-Government) — adds shared canonical data, saga orchestration and a compliance event bus. GovCloud (US) uses the portable gateway path.</a:t>
            </a:r>
            <a:endParaRPr lang="en-US" sz="103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GOOD LOOKS LIKE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877824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Deployable, defensible, and built to scale.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822960" y="1828800"/>
            <a:ext cx="332232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4128" y="1975104"/>
            <a:ext cx="2956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 agents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042416" y="2596896"/>
            <a:ext cx="290169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with code, IaC, containers, runbooks and a customer deck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24128" y="3118104"/>
            <a:ext cx="912571" cy="256032"/>
          </a:xfrm>
          <a:prstGeom prst="rect">
            <a:avLst>
              <a:gd name="adj" fmla="val 14286"/>
            </a:avLst>
          </a:prstGeom>
          <a:solidFill>
            <a:srgbClr val="3747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419600" y="1828800"/>
            <a:ext cx="332232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20768" y="1975104"/>
            <a:ext cx="2956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CFN + Terraform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639056" y="2596896"/>
            <a:ext cx="290169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IaC parity across commercial and GovCloud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620768" y="3118104"/>
            <a:ext cx="1137514" cy="256032"/>
          </a:xfrm>
          <a:prstGeom prst="rect">
            <a:avLst>
              <a:gd name="adj" fmla="val 14286"/>
            </a:avLst>
          </a:prstGeom>
          <a:solidFill>
            <a:srgbClr val="3747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8016240" y="1828800"/>
            <a:ext cx="332232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7408" y="1975104"/>
            <a:ext cx="2956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WCAG 2.1 AA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8235696" y="2596896"/>
            <a:ext cx="290169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accessibility tested; control mappings included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17408" y="3118104"/>
            <a:ext cx="987552" cy="256032"/>
          </a:xfrm>
          <a:prstGeom prst="rect">
            <a:avLst>
              <a:gd name="adj" fmla="val 14286"/>
            </a:avLst>
          </a:prstGeom>
          <a:solidFill>
            <a:srgbClr val="0E7C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822960" y="3730752"/>
            <a:ext cx="10515600" cy="841248"/>
          </a:xfrm>
          <a:prstGeom prst="roundRect">
            <a:avLst>
              <a:gd name="adj" fmla="val 6522"/>
            </a:avLst>
          </a:prstGeom>
          <a:solidFill>
            <a:srgbClr val="3A4B5F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" y="3776472"/>
            <a:ext cx="10149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executive case: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with the agent that fits the room — 311 for citizen value, benefits for mission, public safety for credibility — then sell the platform underneath. Build governance once and every future agent inherits it. That is the difference between another pilot and a fundable program.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22960" y="6437376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documented outcomes from named deployments, labeled by evidence tier. Vendor-reported vs. government/peer-reviewed sourcing in DECK-SOURCES.md. Improvement applied to a reference agency — not a guarantee.</a:t>
            </a:r>
            <a:endParaRPr lang="en-US" sz="8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rebuchet M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2026-06-25T00:54:06Z</dcterms:created>
  <dcterms:modified xsi:type="dcterms:W3CDTF">2026-06-25T00:54:06Z</dcterms:modified>
</cp:coreProperties>
</file>