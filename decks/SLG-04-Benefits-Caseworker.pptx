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~1.5 min.
SHOW: title and your name.
SAY: 'This is the most sensitive agent — lead with the stakes. A wrong action here removes food, healthcare, or income. So it's deliberately the most constrained thing I've built.'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~2.5 min.
SHOW: the PAPERWORK DENIALS → KEPT COVERAGE headline and three stat cards.
SAY: 'Nearly 7 in 10 Medicaid unwinding disenrollments were procedural — paperwork, not ineligibility, per KFF. SNAP's 10.9% error rate is largely documentation. Benefits call centers saw 25-minute waits and 29% abandonment. The lever is capacity and clean evidence — not automated decisions.'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 min.
SHOW: situation, need, constraint bar.
SAY: 'Hammer the constraint: the deterministic eligibility engine runs outside the LLM; the agent prescreens — nonbinding — organizes evidence, drafts notices. It never adjudicates, denies, or terminates a benefit.'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 min.
SHOW: the pipeline; green gate is the caseworker/supervisor; trust cards (adjudicate withheld).
SAY: 'Two controls to point at: prescreen is explicitly labeled nonbinding; adjudicate is absent from the agent's grants in code — a passing test proves it. The evidence package supports an appeal.'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~4.5 min.
SHOW: the architecture diagram; strict PHI/FTI isolation.
SAY: 'Call out BAA-eligible Bedrock, the deterministic eligibility engine as a separate component outside the model, and strict PHI/FTI data-class isolation.'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 min.
SHOW: outcomes band, cards, takeaway.
SAY: 'A named state deployment — Nevada DETR with Google: unemployment appeal decisions from about 3 hours to about 5 minutes, an appeals backlog from over 40,000 to under 5,000, roughly 30x faster prescreen. North Carolina handled 2,700 inquiries in month one.'
TRADEOFF TALK TRACK: (1) adjudication withheld — no auto-approve or deny, so determinations stay defensible with appeal-ready evidence; (2) the eligibility engine lives outside the LLM — maintained separately, but testable under model-risk review; (3) stricter PHI/FTI isolation costs more accounts but shrinks the blast radius. CLOSE: 'A wrong action can remove food, healthcare, or housing — so the agent assembles, and humans plus deterministic rules decide.'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C0"/>
                </a:solidFill>
              </a:rPr>
              <a:t>SLG AI AGENT SUITE  ·  BUILT ON AWS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/ HHS Caseworker Assist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 governed agent that prescreens, assembles evidence, flags missing documents and drafts notices — while a deterministic eligibility engine and a human supervisor own the determination.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David Ryder   ·   AI Strategy &amp; Architecture Leader   ·   github.com/virtualryder/slg-ai-agents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PAPERWORK DENIALS TO KEPT COVERAGE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/ HHS Caseworker Assist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</a:rPr>
              <a:t>When most coverage losses are procedural — not ineligibility — caseworker capacity and clean evidence are the levers. The agent organizes the case; it never adjudicates.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058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of Medicaid 'unwinding' disenrollments were procedural (paperwork), not ineligibility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KFF,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10.93%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634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SNAP payment error rate (FY2024) — mostly documentation, not fraud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USDA FNS, Jun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min / 29%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210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avg benefits call-center wait / call-abandonment during unwinding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CMS via PBS, 2023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</a:rPr>
              <a:t>David Ryder   ·   AI Strategy &amp; Architecture Leader   ·   github.com/virtualryder/slg-ai-agents   ·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CUSTOMER &amp;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rules, repeated evidence, and churn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611880"/>
          </a:xfrm>
          <a:prstGeom prst="roundRect">
            <a:avLst>
              <a:gd name="adj" fmla="val 151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THE SITUATION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Medicaid, SNAP, TANF, UI, childcare — dense eligibility logic and documentation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Caseworkers move across many systems while residents re-supply the same documents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Most coverage losses are procedural (paperwork), not confirmed ineligibility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High call-center wait and abandonment during peak periods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WHAT THEY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Business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increase caseworker capacity, reduce procedural denials and churn, and speed renewals.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Technical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prescreen (nonbinding), extract documents, identify missing evidence, and draft notices.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Regulatory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HIPAA / MARS-E→ARC-AMPE, IRS Pub 1075, SSA exchange — the eligibility engine stays deterministic and outside the LLM.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design constraint that shaped everything:  </a:t>
            </a:r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The deterministic eligibility engine runs outside the LLM; the agent never adjudicates, denies, or terminates a benefit.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C0"/>
                </a:solidFill>
              </a:rPr>
              <a:t>THE SOLUTION — GOVERNED WORKFLOW, HUMAN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Prescreen → assemble evidence → draft notices; adjudication stays deterministic + human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classify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program + intent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174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462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9"/>
          <p:cNvSpPr/>
          <p:nvPr/>
        </p:nvSpPr>
        <p:spPr>
          <a:xfrm>
            <a:off x="267462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633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Prescreen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633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nonbinding program match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0799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+ gaps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0799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extract docs · flag missing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794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79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965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965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grounding · PII · identity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2F8F5B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1131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1131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caseworker / supervisor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983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812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812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629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&amp; audit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629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notice · evidence pack · WORM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EVIDENCE ASSEMBLY — automated (Bedrock Claude + governed MCP tool calls)   ·   then a framework-enforced human gate (interrupt_before)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868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Adjudication withheld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868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eligibility.adjudicate is absent from the agent in code; a deterministic engine + human supervisor decide. Verified by test.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Nonbinding prescreen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Prescreen is explicitly nonbinding and labeled; it never replaces the official determination.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4672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7532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Appeal-ready evidence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An auditable evidence package supports the human decision and any appeal.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AWS ARCHITECTURE &amp; TRAFFIC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/ HHS Caseworker Assist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50976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BF3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509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B12"/>
                </a:solidFill>
              </a:rPr>
              <a:t>DEPLOYMENT MODEL:  </a:t>
            </a:r>
            <a:pPr indent="0" marL="0">
              <a:buNone/>
            </a:pPr>
            <a:r>
              <a:rPr lang="en-US" sz="900" dirty="0">
                <a:solidFill>
                  <a:srgbClr val="5B4708"/>
                </a:solidFill>
              </a:rPr>
              <a:t>STANDALONE-DEPLOYABLE — own VPC · CloudFront + WAF edge · KMS · WORM audit · gateway · human gate. No WoG dependency; the Whole-of-Government platform is optional and additive.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993392" cy="3310128"/>
          </a:xfrm>
          <a:prstGeom prst="roundRect">
            <a:avLst>
              <a:gd name="adj" fmla="val 2294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99616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EXTERNAL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755648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Residents / agency staff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340864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IdP — SAML/OIDC · MFA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108960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systems (on-prem)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694176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External data sources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66928" y="4334256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488"/>
                </a:solidFill>
              </a:rPr>
              <a:t>PrivateLink / Direct Connect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15184" y="1444752"/>
            <a:ext cx="9116568" cy="3310128"/>
          </a:xfrm>
          <a:prstGeom prst="roundRect">
            <a:avLst>
              <a:gd name="adj" fmla="val 1381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1499616"/>
            <a:ext cx="8897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AWS CLOUD — per-customer VPC / dedicated account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EDGE / PUBLIC SUBNET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52928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07792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CloudFront + WAF + Shield (TLS 1.2+)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761488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61488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52928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07792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API Gateway / ALB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852928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07792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Cognito — SAML → JWT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61488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0" name="Text 28"/>
          <p:cNvSpPr/>
          <p:nvPr/>
        </p:nvSpPr>
        <p:spPr>
          <a:xfrm>
            <a:off x="276148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58384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PRIVATE SUBNET — COMPUTE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68112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22976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Agent runtime — Step Functions + Lambda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376672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68112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22976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MCP authorization gateway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376672" y="2651760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0" name="Text 38"/>
          <p:cNvSpPr/>
          <p:nvPr/>
        </p:nvSpPr>
        <p:spPr>
          <a:xfrm>
            <a:off x="5376672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68112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22976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SQS queue + DLQ · HITL gate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376672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4" name="Text 42"/>
          <p:cNvSpPr/>
          <p:nvPr/>
        </p:nvSpPr>
        <p:spPr>
          <a:xfrm>
            <a:off x="5376672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73568" y="1773936"/>
            <a:ext cx="3657600" cy="2852928"/>
          </a:xfrm>
          <a:prstGeom prst="roundRect">
            <a:avLst>
              <a:gd name="adj" fmla="val 1603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181965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MODEL LAYER — VPC ENDPOINT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092440" y="2048256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47304" y="2048256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Bedrock — Claude Sonnet + Haiku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001000" y="1975104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92440" y="2633472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147304" y="2633472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Bedrock Guardrails — PII &amp; content (mandatory)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8083296" y="321868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DATA TIER — KMS CMK per data class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092440" y="3438144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147304" y="3438144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DynamoDB — append-only audit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001000" y="33649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092440" y="4023360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147304" y="4023360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S3 Object Lock (WORM) · state · Secrets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8001000" y="395020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61" name="Text 59"/>
          <p:cNvSpPr/>
          <p:nvPr/>
        </p:nvSpPr>
        <p:spPr>
          <a:xfrm>
            <a:off x="800100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340864" y="3520440"/>
            <a:ext cx="402336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38928" y="2322576"/>
            <a:ext cx="329184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54112" y="2304288"/>
            <a:ext cx="338328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11112" y="3383280"/>
            <a:ext cx="0" cy="22860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828032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4828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</a:rPr>
              <a:t>SECURITY &amp; OPS:  </a:t>
            </a:r>
            <a:pPr indent="0" marL="0">
              <a:buNone/>
            </a:pPr>
            <a:r>
              <a:rPr lang="en-US" sz="930" dirty="0">
                <a:solidFill>
                  <a:srgbClr val="1B2440"/>
                </a:solidFill>
              </a:rPr>
              <a:t>KMS (CMK per data class) · IAM least-privilege · CloudWatch · CloudTrail · X-Ray · GuardDuty · Security Hub + Config · data-class isolation (CJI/FTI/PHI/EDU/public)</a:t>
            </a:r>
            <a:endParaRPr lang="en-US" sz="930" dirty="0"/>
          </a:p>
        </p:txBody>
      </p:sp>
      <p:sp>
        <p:nvSpPr>
          <p:cNvPr id="68" name="Text 66"/>
          <p:cNvSpPr/>
          <p:nvPr/>
        </p:nvSpPr>
        <p:spPr>
          <a:xfrm>
            <a:off x="457200" y="5303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C0"/>
                </a:solidFill>
              </a:rPr>
              <a:t>TRAFFIC FLOW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5541264"/>
            <a:ext cx="5623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1  Resident/staff sign in at the agency IdP (SAML/OIDC, MFA). Amazon Cognito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2  CloudFront + AWS WAF inspect, filter and rate-limit the request; API Gatew…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3  The MCP gateway re-validates the JWT and its custom:slg_role claim and aut…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4  For each authorized call the gateway mints a short-lived, tool-scoped toke…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6172200" y="5541264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5  Model calls stay inside AWS via a Bedrock VPC endpoint; Guardrails filter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6  Workflow pauses at the human-review gate (Step Functions waitForTaskToken)…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7  On approval the action commits; case state, append-only audit and finalize…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8  Every step — node, timestamp, JWT subject/actor, data sources, model versi…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TRADEOFFS, RESULTS &amp; 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 — and what it honestly 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MEASURED OUTCOMES — documented results from named deployments &amp; published benchmarks (vendor-reported where noted)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hrs→5 min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appeal decision, 4× faster (Nevada DETR)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3872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40k→&lt;5k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3872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appeals backlog cleared (Nevada)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08776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30×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08776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faster claim prescreen (Nevada)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78824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78824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inquiries handled mo.1 (NC DES)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DELIBERATE TRADEOFFS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Adjudication withheld over automated decisions — a deterministic engine plus human supervisor decide; the agent prescreens and organizes. Cost: no auto-approve or deny; payoff: defensible determinations and appeal-ready evidence.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Deterministic eligibility engine outside the LLM over an all-LLM flow. Cost: rules maintained separately; payoff: the calculation is testable and validatable under model-risk review.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Stricter PHI/FTI data-class isolation over a single convenient boundary. Cost: more accounts/VPCs to operate; payoff: HIPAA / IRS-1075 posture and a smaller blast radius.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WHAT'S NEXT (V2)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End-to-end benefits orchestration with consent + compensation (the job_loss life-event saga)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Bedrock Knowledge Bases for program-rule RAG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Live integrated-eligibility connectors; proactive renewal reminders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The takeaway:  </a:t>
            </a:r>
            <a:pPr indent="0" marL="0">
              <a:buNone/>
            </a:pPr>
            <a:r>
              <a:rPr lang="en-US" sz="1250" i="1" dirty="0">
                <a:solidFill>
                  <a:srgbClr val="1B2440"/>
                </a:solidFill>
              </a:rPr>
              <a:t>a wrong action can remove food, healthcare or housing — so the agent assembles, and humans + deterministic rules decide.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8"/>
                </a:solidFill>
              </a:rPr>
              <a:t>Sources: StateScoop / Route Fifty 2025 (Nevada DETR + Google, named state)  ·  AWS Public Sector 2025 (NC DES)  ·  KFF 2024; USDA FNS 2025 (problem context)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/ HHS Caseworker Assist</dc:title>
  <dc:subject>PptxGenJS Presentation</dc:subject>
  <dc:creator>David Ryder</dc:creator>
  <cp:lastModifiedBy>David Ryder</cp:lastModifiedBy>
  <cp:revision>1</cp:revision>
  <dcterms:created xsi:type="dcterms:W3CDTF">2026-06-23T22:01:38Z</dcterms:created>
  <dcterms:modified xsi:type="dcterms:W3CDTF">2026-06-23T22:01:38Z</dcterms:modified>
</cp:coreProperties>
</file>