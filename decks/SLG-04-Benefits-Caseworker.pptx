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 The most sensitive agent — lead with the human stakes. 'A wrong action here removes food, healthcare, or income. So this agent is deliberately the most constrained.'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 The killer stat: nearly 7 in 10 Medicaid unwinding disenrollments were procedural — paperwork, not ineligibility (KFF, 2024). SNAP's 10.93% error rate (USDA, 2025) is largely documentation. Benefits call centers saw 25-minute waits and 29% abandonment (CMS via PBS). The lever is capacity and clean evidence, not automated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 Situation → need. Hammer the constraint: the deterministic eligibility engine runs OUTSIDE the LLM; the agent prescreens (nonbinding), organizes evidence, drafts notices — it never adjudicates. This is what a Medicaid CISO and program counsel need to hear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Walk the steps. Two withheld/labeled controls: prescreen is explicitly nonbinding; adjudicate is absent from the agent in code (a passing test). The evidence package is built to support an appeal.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~4.5 min. Architecture with strict PHI/FTI isolation; note BAA-eligible Bedrock and the deterministic engine as a separate component.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Outcomes framed honestly: NC's assistant handled 2,700 inquiries in month one (AWS, 2025); capacity and reduced procedural churn are the levers. Close: this agent is the benefits step in the job_loss and disaster life-event sagas, with consent and rollback.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 / HHS Caseworker Assist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 agent that prescreens, assembles evidence, flags missing documents and drafts notices — while a deterministic eligibility engine and a human supervisor own the determination.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PAPERWORK DENIALS TO KEPT COVERAGE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 / HHS Caseworker Assist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When most coverage losses are procedural — not ineligibility — caseworker capacity and clean evidence are the levers. The agent organizes the case; it never adjudicates.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Medicaid 'unwinding' disenrollments were procedural (paperwork), not ineligibility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KFF, 2024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10.93%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SNAP payment error rate (FY2024) — mostly documentation, not fraud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USDA FNS, Jun 2025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min / 29%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avg benefits call-center wait / call-abandonment during unwinding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CMS via PBS, 2023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Complex rules, repeated evidence, and churn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Medicaid, SNAP, TANF, UI, childcare — dense eligibility logic and documentation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Caseworkers move across many systems while residents re-supply the same documents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Most coverage losses are procedural (paperwork), not confirmed ineligibility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High call-center wait and abandonment during peak periods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increase caseworker capacity, reduce procedural denials and churn, and speed renewals.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prescreen (nonbinding), extract documents, identify missing evidence, and draft notices.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HIPAA / MARS-E→ARC-AMPE, IRS Pub 1075, SSA exchange — the eligibility engine stays deterministic and outside the LLM.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The deterministic eligibility engine runs outside the LLM; the agent never adjudicates, denies, or terminates a benefit.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Prescreen → assemble evidence → draft notices; adjudication stays deterministic + human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classify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program + intent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Prescreen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nonbinding program match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+ gaps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extract docs · flag missing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grounding · PII · identity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caseworker / supervisor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&amp; audit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notice · evidence pack · WORM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Adjudication withheld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eligibility.adjudicate is absent from the agent in code; a deterministic engine + human supervisor decide. Verified by test.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Nonbinding prescreen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Prescreen is explicitly nonbinding and labeled; it never replaces the official determination.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Appeal-ready evidence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An auditable evidence package supports the human decision and any appeal.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 / HHS Caseworker Assist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5097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00" dirty="0">
                <a:solidFill>
                  <a:srgbClr val="5B4708"/>
                </a:solidFill>
              </a:rPr>
              <a:t>STANDALONE-DEPLOYABLE — own VPC · CloudFront + WAF edge · KMS · WORM audit · gateway · human gate. No WoG dependency; the Whole-of-Government platform is optional and additive.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1993392" cy="3310128"/>
          </a:xfrm>
          <a:prstGeom prst="roundRect">
            <a:avLst>
              <a:gd name="adj" fmla="val 2294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99616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EXTERNAL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" y="1755648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Residents / agency staff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2340864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IdP — SAML/OIDC · MFA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" y="3108960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systems (on-prem)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" y="3694176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External data sources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566928" y="4334256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488"/>
                </a:solidFill>
              </a:rPr>
              <a:t>PrivateLink / Direct Connect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615184" y="1444752"/>
            <a:ext cx="9116568" cy="3310128"/>
          </a:xfrm>
          <a:prstGeom prst="roundRect">
            <a:avLst>
              <a:gd name="adj" fmla="val 1381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4912" y="1499616"/>
            <a:ext cx="8897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AWS CLOUD — per-customer VPC / dedicated account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0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52928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EDGE / PUBLIC SUBNET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852928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907792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CloudFront + WAF + Shield (TLS 1.2+)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61488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24" name="Text 22"/>
          <p:cNvSpPr/>
          <p:nvPr/>
        </p:nvSpPr>
        <p:spPr>
          <a:xfrm>
            <a:off x="2761488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52928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907792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API Gateway / ALB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852928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7792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Cognito — SAML → JWT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761488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0" name="Text 28"/>
          <p:cNvSpPr/>
          <p:nvPr/>
        </p:nvSpPr>
        <p:spPr>
          <a:xfrm>
            <a:off x="2761488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358384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PRIVATE SUBNET — COMPUTE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68112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522976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Agent runtime — Step Functions + Lambda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376672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6" name="Text 34"/>
          <p:cNvSpPr/>
          <p:nvPr/>
        </p:nvSpPr>
        <p:spPr>
          <a:xfrm>
            <a:off x="5376672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68112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522976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MCP authorization gateway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5376672" y="2651760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2651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68112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22976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SQS queue + DLQ · HITL gate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5376672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4" name="Text 42"/>
          <p:cNvSpPr/>
          <p:nvPr/>
        </p:nvSpPr>
        <p:spPr>
          <a:xfrm>
            <a:off x="5376672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973568" y="1773936"/>
            <a:ext cx="3657600" cy="2852928"/>
          </a:xfrm>
          <a:prstGeom prst="roundRect">
            <a:avLst>
              <a:gd name="adj" fmla="val 1603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1819656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MODEL LAYER — VPC ENDPOINT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092440" y="2048256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147304" y="2048256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Bedrock — Claude Sonnet + Haiku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8001000" y="1975104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0" name="Text 48"/>
          <p:cNvSpPr/>
          <p:nvPr/>
        </p:nvSpPr>
        <p:spPr>
          <a:xfrm>
            <a:off x="8001000" y="19751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633472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147304" y="2633472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Bedrock Guardrails — PII &amp; content (mandatory)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8083296" y="3218688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DATA TIER — KMS CMK per data class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092440" y="3438144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147304" y="3438144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DynamoDB — append-only audit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001000" y="33649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7" name="Text 55"/>
          <p:cNvSpPr/>
          <p:nvPr/>
        </p:nvSpPr>
        <p:spPr>
          <a:xfrm>
            <a:off x="8001000" y="3364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092440" y="4023360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147304" y="4023360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S3 Object Lock (WORM) · state · Secrets</a:t>
            </a:r>
            <a:endParaRPr lang="en-US" sz="880" dirty="0"/>
          </a:p>
        </p:txBody>
      </p:sp>
      <p:sp>
        <p:nvSpPr>
          <p:cNvPr id="60" name="Shape 58"/>
          <p:cNvSpPr/>
          <p:nvPr/>
        </p:nvSpPr>
        <p:spPr>
          <a:xfrm>
            <a:off x="8001000" y="395020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3950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340864" y="3520440"/>
            <a:ext cx="402336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38928" y="2322576"/>
            <a:ext cx="329184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54112" y="2304288"/>
            <a:ext cx="338328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11112" y="3383280"/>
            <a:ext cx="0" cy="22860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4828032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/>
        </p:spPr>
      </p:sp>
      <p:sp>
        <p:nvSpPr>
          <p:cNvPr id="67" name="Text 65"/>
          <p:cNvSpPr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930" dirty="0">
                <a:solidFill>
                  <a:srgbClr val="1B2440"/>
                </a:solidFill>
              </a:rPr>
              <a:t>KMS (CMK per data class) · IAM least-privilege · CloudWatch · CloudTrail · X-Ray · GuardDuty · Security Hub + Config · data-class isolation (CJI/FTI/PHI/EDU/public)</a:t>
            </a:r>
            <a:endParaRPr lang="en-US" sz="930" dirty="0"/>
          </a:p>
        </p:txBody>
      </p:sp>
      <p:sp>
        <p:nvSpPr>
          <p:cNvPr id="68" name="Text 66"/>
          <p:cNvSpPr/>
          <p:nvPr/>
        </p:nvSpPr>
        <p:spPr>
          <a:xfrm>
            <a:off x="457200" y="5303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BC0"/>
                </a:solidFill>
              </a:rPr>
              <a:t>TRAFFIC FLOW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5541264"/>
            <a:ext cx="5623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1  Resident/staff sign in at the agency IdP (SAML/OIDC, MFA). Amazon Cognito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2  CloudFront + AWS WAF inspect, filter and rate-limit the request; API Gatew…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3  The MCP gateway re-validates the JWT and its custom:slg_role claim and aut…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4  For each authorized call the gateway mints a short-lived, tool-scoped toke…</a:t>
            </a:r>
            <a:endParaRPr lang="en-US" sz="930" dirty="0"/>
          </a:p>
        </p:txBody>
      </p:sp>
      <p:sp>
        <p:nvSpPr>
          <p:cNvPr id="70" name="Text 68"/>
          <p:cNvSpPr/>
          <p:nvPr/>
        </p:nvSpPr>
        <p:spPr>
          <a:xfrm>
            <a:off x="6172200" y="5541264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5  Model calls stay inside AWS via a Bedrock VPC endpoint; Guardrails filter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6  Workflow pauses at the human-review gate (Step Functions waitForTaskToken)…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7  On approval the action commits; case state, append-only audit and finalize…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8  Every step — node, timestamp, JWT subject/actor, data sources, model versi…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— documented results from named deployments &amp; published benchmarks (vendor-reported where noted)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hrs→5 min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appeal decision, 4× faster (Nevada DETR)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40k→&lt;5k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appeals backlog cleared (Nevada)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30×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faster claim prescreen (Nevada)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2,700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inquiries handled mo.1 (NC DES)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Adjudication deliberately withheld — the regulated decision stays deterministic + human.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Deterministic eligibility engine outside the LLM (auditable, validatable under model-risk review).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Stricter data-class isolation (PHI/FTI) accepted over convenience.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End-to-end benefits orchestration with consent + compensation (the job_loss life-event saga)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Knowledge Bases for program-rule RAG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integrated-eligibility connectors; proactive renewal reminders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a wrong action can remove food, healthcare or housing — so the agent assembles, and humans + deterministic rules decide.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StateScoop / Route Fifty 2025 (Nevada DETR + Google, named state)  ·  AWS Public Sector 2025 (NC DES)  ·  KFF 2024; USDA FNS 2025 (problem context)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Benefits / HHS Caseworker Assist</dc:title>
  <dc:subject>PptxGenJS Presentation</dc:subject>
  <dc:creator>David Ryder</dc:creator>
  <cp:lastModifiedBy>David Ryder</cp:lastModifiedBy>
  <cp:revision>1</cp:revision>
  <dcterms:created xsi:type="dcterms:W3CDTF">2026-06-23T21:28:11Z</dcterms:created>
  <dcterms:modified xsi:type="dcterms:W3CDTF">2026-06-23T21:28:11Z</dcterms:modified>
</cp:coreProperties>
</file>