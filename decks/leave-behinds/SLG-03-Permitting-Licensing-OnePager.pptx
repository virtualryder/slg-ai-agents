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37160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292608"/>
            <a:ext cx="749808" cy="402336"/>
          </a:xfrm>
          <a:prstGeom prst="roundRect">
            <a:avLst>
              <a:gd name="adj" fmla="val 9091"/>
            </a:avLst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292608"/>
            <a:ext cx="7498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53312" y="310896"/>
            <a:ext cx="5852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  ·  GOVERNED,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Permitting &amp; Licensing Plan-Review Agent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57200" y="1517904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D7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WEEKS AND MONTHS TO HOURS AND DAYS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plan-review assistant that checks designs against local zoning and building codes before submission, flags issues for applicants to fix up front, and gives reviewers a structured first pass — so staff approve, not chase corrections. The issuance decision stays with a licensed human.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852928"/>
            <a:ext cx="3319272" cy="3246120"/>
          </a:xfrm>
          <a:prstGeom prst="roundRect">
            <a:avLst>
              <a:gd name="adj" fmla="val 1972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1792" y="2980944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3310128"/>
            <a:ext cx="2953512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Reviewers manually check each plan against zoning and building codes.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 submissions bounce back, adding correction cycles and weeks.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Applicants wait without visibility; staff field status calls.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Permitting delay shows up directly in the price of housing and development.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640080" y="5065776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C73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Weeks–months  </a:t>
            </a:r>
            <a:pPr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issue rebuilding permits at the local pace California flagged as too slow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577840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C73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&gt;26%  </a:t>
            </a:r>
            <a:pPr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a new single-family home's price driven by regulation (NAHB)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995928" y="2852928"/>
            <a:ext cx="3319272" cy="3246120"/>
          </a:xfrm>
          <a:prstGeom prst="roundRect">
            <a:avLst>
              <a:gd name="adj" fmla="val 1972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160520" y="2980944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SOLUTION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178808" y="3328416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178808" y="332841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44568" y="3310128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Pre-check the plan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4178808" y="3803904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178808" y="38039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44568" y="3785616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for the applicant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4178808" y="4279392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178808" y="4279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44568" y="426110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the review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4178808" y="4754880"/>
            <a:ext cx="274320" cy="274320"/>
          </a:xfrm>
          <a:prstGeom prst="ellipse">
            <a:avLst/>
          </a:prstGeom>
          <a:solidFill>
            <a:srgbClr val="01A88D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178808" y="4754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44568" y="4736592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E7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issues the permit  </a:t>
            </a:r>
            <a:pPr indent="0" marL="0">
              <a:buNone/>
            </a:pPr>
            <a:r>
              <a:rPr lang="en-US" sz="970" i="1" dirty="0">
                <a:solidFill>
                  <a:srgbClr val="0E7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(human gate)</a:t>
            </a:r>
            <a:endParaRPr lang="en-US" sz="970" dirty="0"/>
          </a:p>
        </p:txBody>
      </p:sp>
      <p:sp>
        <p:nvSpPr>
          <p:cNvPr id="28" name="Shape 26"/>
          <p:cNvSpPr/>
          <p:nvPr/>
        </p:nvSpPr>
        <p:spPr>
          <a:xfrm>
            <a:off x="4178808" y="5230368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178808" y="52303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44568" y="5212080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&amp; audit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31" name="Text 29"/>
          <p:cNvSpPr/>
          <p:nvPr/>
        </p:nvSpPr>
        <p:spPr>
          <a:xfrm>
            <a:off x="4178808" y="5532120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accelerates the review; a licensed human issues the permit. Issuance is withheld in code.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457200" y="6263640"/>
            <a:ext cx="3319272" cy="2743200"/>
          </a:xfrm>
          <a:prstGeom prst="roundRect">
            <a:avLst>
              <a:gd name="adj" fmla="val 2333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21792" y="6391656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ROI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0080" y="6720840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→ hours/days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process with AI e-check, per the Governor of California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" y="7232904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~50%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zoning-review time saved with AI pre-check, City of Austin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" y="7744968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25+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municipalities already using AI plan-review (Austin, Houston, Seattle, CO…)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" y="8257032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case: </a:t>
            </a:r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correction cycle removed is days off the clock for a resident or a builder — and permitting delay is a measurable housing cost. The agency keeps the same legal authority and reviewer judgment, but spends it on decisions instead of chasing incomplete paperwork.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3995928" y="6263640"/>
            <a:ext cx="3319272" cy="2743200"/>
          </a:xfrm>
          <a:prstGeom prst="roundRect">
            <a:avLst>
              <a:gd name="adj" fmla="val 2333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4160520" y="6391656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178808" y="6720840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780" dirty="0"/>
          </a:p>
        </p:txBody>
      </p:sp>
      <p:sp>
        <p:nvSpPr>
          <p:cNvPr id="41" name="Text 39"/>
          <p:cNvSpPr/>
          <p:nvPr/>
        </p:nvSpPr>
        <p:spPr>
          <a:xfrm>
            <a:off x="4178808" y="7251192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4178808" y="7781544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780" dirty="0"/>
          </a:p>
        </p:txBody>
      </p:sp>
      <p:sp>
        <p:nvSpPr>
          <p:cNvPr id="43" name="Text 41"/>
          <p:cNvSpPr/>
          <p:nvPr/>
        </p:nvSpPr>
        <p:spPr>
          <a:xfrm>
            <a:off x="4178808" y="8311896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57200" y="9144000"/>
            <a:ext cx="6858000" cy="45720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21792" y="9144000"/>
            <a:ext cx="65288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</a:t>
            </a:r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(own VPC/edge/identity/data/WORM audit) or + Whole-of-Government layer. Full CloudFormation + Terraform parity, commercial &amp; GovCloud (US).</a:t>
            </a:r>
            <a:endParaRPr lang="en-US" sz="830" dirty="0"/>
          </a:p>
        </p:txBody>
      </p:sp>
      <p:sp>
        <p:nvSpPr>
          <p:cNvPr id="46" name="Text 44"/>
          <p:cNvSpPr/>
          <p:nvPr/>
        </p:nvSpPr>
        <p:spPr>
          <a:xfrm>
            <a:off x="457200" y="969264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·  AI Strategy &amp; Architecture Leader  ·  github.com/virtualryder/slg-ai-agents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57200" y="987552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tier; full citations in decks/DECK-SOURCES.md. Applied to a reference agency — not a guarantee.</a:t>
            </a:r>
            <a:endParaRPr lang="en-US" sz="700" dirty="0"/>
          </a:p>
        </p:txBody>
      </p:sp>
      <p:sp>
        <p:nvSpPr>
          <p:cNvPr id="48" name="TextBox 47"/>
          <p:cNvSpPr txBox="1"/>
          <p:nvPr/>
        </p:nvSpPr>
        <p:spPr>
          <a:xfrm>
            <a:off x="274320" y="9555480"/>
            <a:ext cx="7223760" cy="4114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7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 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2026-06-25T00:55:44Z</dcterms:created>
  <dcterms:modified xsi:type="dcterms:W3CDTF">2026-06-25T00:55:44Z</dcterms:modified>
</cp:coreProperties>
</file>