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3716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92608"/>
            <a:ext cx="749808" cy="402336"/>
          </a:xfrm>
          <a:prstGeom prst="roundRect">
            <a:avLst>
              <a:gd name="adj" fmla="val 9091"/>
            </a:avLst>
          </a:prstGeom>
          <a:solidFill>
            <a:srgbClr val="FF99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92608"/>
            <a:ext cx="7498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53312" y="310896"/>
            <a:ext cx="5852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  ·  GOVERNED,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Resident Services &amp; 311 Virtual Agent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517904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D7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$8 A CALL TO $0.10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always-on, multilingual agent that answers resident questions, files and tracks 311 service requests, and routes only the exceptions to staff — grounded in your knowledge base, with every answer cited and every action logged.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852928"/>
            <a:ext cx="3319272" cy="3246120"/>
          </a:xfrm>
          <a:prstGeom prst="roundRect">
            <a:avLst>
              <a:gd name="adj" fmla="val 1972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2980944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3310128"/>
            <a:ext cx="2953512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FAQs — trash days, permits, potholes, payments — consume scarce agent time.</a:t>
            </a:r>
            <a:endParaRPr lang="en-US" sz="97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channels cost roughly $8 a contact; self-service is about a dime.</a:t>
            </a:r>
            <a:endParaRPr lang="en-US" sz="97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After-hours and language gaps push residents to call back, inflating volume.</a:t>
            </a:r>
            <a:endParaRPr lang="en-US" sz="97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copy-paste between systems instead of resolving the resident's actual issue.</a:t>
            </a:r>
            <a:endParaRPr lang="en-US" sz="970" dirty="0"/>
          </a:p>
        </p:txBody>
      </p:sp>
      <p:sp>
        <p:nvSpPr>
          <p:cNvPr id="12" name="Text 10"/>
          <p:cNvSpPr/>
          <p:nvPr/>
        </p:nvSpPr>
        <p:spPr>
          <a:xfrm>
            <a:off x="640080" y="5065776"/>
            <a:ext cx="29535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C73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$8.01  </a:t>
            </a:r>
            <a:pPr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live-agent contact — ~80× the cost of self-service (Gartner, 2019)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5577840"/>
            <a:ext cx="29535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C73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98,028 / day  </a:t>
            </a:r>
            <a:pPr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volume at a single big-city 311 (NYC OTI, 2023)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995928" y="2852928"/>
            <a:ext cx="3319272" cy="3246120"/>
          </a:xfrm>
          <a:prstGeom prst="roundRect">
            <a:avLst>
              <a:gd name="adj" fmla="val 1972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60520" y="2980944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GOVERNED SOLUTION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178808" y="3328416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7" name="Text 15"/>
          <p:cNvSpPr/>
          <p:nvPr/>
        </p:nvSpPr>
        <p:spPr>
          <a:xfrm>
            <a:off x="4178808" y="332841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44568" y="3310128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request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4178808" y="3803904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4178808" y="38039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44568" y="3785616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the answer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22" name="Shape 20"/>
          <p:cNvSpPr/>
          <p:nvPr/>
        </p:nvSpPr>
        <p:spPr>
          <a:xfrm>
            <a:off x="4178808" y="4279392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3" name="Text 21"/>
          <p:cNvSpPr/>
          <p:nvPr/>
        </p:nvSpPr>
        <p:spPr>
          <a:xfrm>
            <a:off x="4178808" y="4279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44568" y="426110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safe action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25" name="Shape 23"/>
          <p:cNvSpPr/>
          <p:nvPr/>
        </p:nvSpPr>
        <p:spPr>
          <a:xfrm>
            <a:off x="4178808" y="4754880"/>
            <a:ext cx="274320" cy="27432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26" name="Text 24"/>
          <p:cNvSpPr/>
          <p:nvPr/>
        </p:nvSpPr>
        <p:spPr>
          <a:xfrm>
            <a:off x="4178808" y="4754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44568" y="4736592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0E7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 </a:t>
            </a:r>
            <a:pPr indent="0" marL="0">
              <a:buNone/>
            </a:pPr>
            <a:r>
              <a:rPr lang="en-US" sz="970" i="1" dirty="0">
                <a:solidFill>
                  <a:srgbClr val="0E7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(human gate)</a:t>
            </a:r>
            <a:endParaRPr lang="en-US" sz="970" dirty="0"/>
          </a:p>
        </p:txBody>
      </p:sp>
      <p:sp>
        <p:nvSpPr>
          <p:cNvPr id="28" name="Shape 26"/>
          <p:cNvSpPr/>
          <p:nvPr/>
        </p:nvSpPr>
        <p:spPr>
          <a:xfrm>
            <a:off x="4178808" y="5230368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9" name="Text 27"/>
          <p:cNvSpPr/>
          <p:nvPr/>
        </p:nvSpPr>
        <p:spPr>
          <a:xfrm>
            <a:off x="4178808" y="523036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44568" y="5212080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&amp; learn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31" name="Text 29"/>
          <p:cNvSpPr/>
          <p:nvPr/>
        </p:nvSpPr>
        <p:spPr>
          <a:xfrm>
            <a:off x="4178808" y="5532120"/>
            <a:ext cx="29535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file-a-request are automated; commitments are not. The agent drafts; a person commits.</a:t>
            </a:r>
            <a:endParaRPr lang="en-US" sz="830" dirty="0"/>
          </a:p>
        </p:txBody>
      </p:sp>
      <p:sp>
        <p:nvSpPr>
          <p:cNvPr id="32" name="Shape 30"/>
          <p:cNvSpPr/>
          <p:nvPr/>
        </p:nvSpPr>
        <p:spPr>
          <a:xfrm>
            <a:off x="457200" y="6263640"/>
            <a:ext cx="3319272" cy="2743200"/>
          </a:xfrm>
          <a:prstGeom prst="roundRect">
            <a:avLst>
              <a:gd name="adj" fmla="val 2333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1792" y="6391656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ROI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40080" y="6720840"/>
            <a:ext cx="29535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2,700  </a:t>
            </a:r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inquiries handled in month one, North Carolina DES assistant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" y="7232904"/>
            <a:ext cx="29535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~20%  </a:t>
            </a:r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311 interactions handled by Denver's 'Sunny' assistant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" y="7744968"/>
            <a:ext cx="29535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  </a:t>
            </a:r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peak-season live-agent staffing reduction, Denver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40080" y="8257032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case: </a:t>
            </a:r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contact the agent resolves is roughly an $8 live interaction turned into a dime — at 311 volumes that is a budget line, not a rounding error. Productivity research shows the biggest lift goes to your newest agents, shortening ramp time and turnover cost.</a:t>
            </a:r>
            <a:endParaRPr lang="en-US" sz="820" dirty="0"/>
          </a:p>
        </p:txBody>
      </p:sp>
      <p:sp>
        <p:nvSpPr>
          <p:cNvPr id="38" name="Shape 36"/>
          <p:cNvSpPr/>
          <p:nvPr/>
        </p:nvSpPr>
        <p:spPr>
          <a:xfrm>
            <a:off x="3995928" y="6263640"/>
            <a:ext cx="3319272" cy="2743200"/>
          </a:xfrm>
          <a:prstGeom prst="roundRect">
            <a:avLst>
              <a:gd name="adj" fmla="val 2333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60520" y="6391656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COMPLIANCE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4178808" y="6720840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780" dirty="0"/>
          </a:p>
        </p:txBody>
      </p:sp>
      <p:sp>
        <p:nvSpPr>
          <p:cNvPr id="41" name="Text 39"/>
          <p:cNvSpPr/>
          <p:nvPr/>
        </p:nvSpPr>
        <p:spPr>
          <a:xfrm>
            <a:off x="4178808" y="7251192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780" dirty="0"/>
          </a:p>
        </p:txBody>
      </p:sp>
      <p:sp>
        <p:nvSpPr>
          <p:cNvPr id="42" name="Text 40"/>
          <p:cNvSpPr/>
          <p:nvPr/>
        </p:nvSpPr>
        <p:spPr>
          <a:xfrm>
            <a:off x="4178808" y="7781544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780" dirty="0"/>
          </a:p>
        </p:txBody>
      </p:sp>
      <p:sp>
        <p:nvSpPr>
          <p:cNvPr id="43" name="Text 41"/>
          <p:cNvSpPr/>
          <p:nvPr/>
        </p:nvSpPr>
        <p:spPr>
          <a:xfrm>
            <a:off x="4178808" y="8311896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457200" y="9144000"/>
            <a:ext cx="6858000" cy="457200"/>
          </a:xfrm>
          <a:prstGeom prst="roundRect">
            <a:avLst>
              <a:gd name="adj" fmla="val 10000"/>
            </a:avLst>
          </a:prstGeom>
          <a:solidFill>
            <a:srgbClr val="232F3E"/>
          </a:solidFill>
          <a:ln/>
        </p:spPr>
      </p:sp>
      <p:sp>
        <p:nvSpPr>
          <p:cNvPr id="45" name="Text 43"/>
          <p:cNvSpPr/>
          <p:nvPr/>
        </p:nvSpPr>
        <p:spPr>
          <a:xfrm>
            <a:off x="621792" y="9144000"/>
            <a:ext cx="65288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</a:t>
            </a:r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(own VPC/edge/identity/data/WORM audit) or + Whole-of-Government layer. Full CloudFormation + Terraform parity, commercial &amp; GovCloud (US).</a:t>
            </a:r>
            <a:endParaRPr lang="en-US" sz="830" dirty="0"/>
          </a:p>
        </p:txBody>
      </p:sp>
      <p:sp>
        <p:nvSpPr>
          <p:cNvPr id="46" name="Text 44"/>
          <p:cNvSpPr/>
          <p:nvPr/>
        </p:nvSpPr>
        <p:spPr>
          <a:xfrm>
            <a:off x="457200" y="969264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·  AI Strategy &amp; Architecture Leader  ·  github.com/virtualryder/slg-ai-agents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457200" y="987552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tier; full citations in decks/DECK-SOURCES.md. Applied to a reference agency — not a guarantee.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2026-06-25T00:55:44Z</dcterms:created>
  <dcterms:modified xsi:type="dcterms:W3CDTF">2026-06-25T00:55:44Z</dcterms:modified>
</cp:coreProperties>
</file>