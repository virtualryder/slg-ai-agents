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37160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0" y="292608"/>
            <a:ext cx="749808" cy="402336"/>
          </a:xfrm>
          <a:prstGeom prst="roundRect">
            <a:avLst>
              <a:gd name="adj" fmla="val 9091"/>
            </a:avLst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292608"/>
            <a:ext cx="7498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2F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53312" y="310896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SLG AGENTIC AI REFERENCE LIBRARY  ·  GOVERNED, ON AWS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Resident Services &amp; 311 Virtual Agent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517904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D7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$8 A CALL TO $0.10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always-on, multilingual agent that answers resident questions, files and tracks 311 service requests, and routes only the exceptions to staff — grounded in your knowledge base, with every answer cited and every action logged.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852928"/>
            <a:ext cx="3319272" cy="3246120"/>
          </a:xfrm>
          <a:prstGeom prst="roundRect">
            <a:avLst>
              <a:gd name="adj" fmla="val 1972"/>
            </a:avLst>
          </a:prstGeom>
          <a:solidFill>
            <a:srgbClr val="EAEFF4"/>
          </a:solidFill>
          <a:ln w="12700">
            <a:solidFill>
              <a:srgbClr val="C9D3D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1792" y="2980944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3310128"/>
            <a:ext cx="295351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FAQs — trash days, permits, potholes, payments — consume scarce agent time.</a:t>
            </a:r>
            <a:endParaRPr lang="en-US" sz="97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channels cost roughly $8 a contact; self-service is about a dime.</a:t>
            </a:r>
            <a:endParaRPr lang="en-US" sz="97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After-hours and language gaps push residents to call back, inflating volume.</a:t>
            </a:r>
            <a:endParaRPr lang="en-US" sz="97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copy-paste between systems instead of resolving the resident's actual issue.</a:t>
            </a:r>
            <a:endParaRPr lang="en-US" sz="970" dirty="0"/>
          </a:p>
        </p:txBody>
      </p:sp>
      <p:sp>
        <p:nvSpPr>
          <p:cNvPr id="12" name="Text 10"/>
          <p:cNvSpPr/>
          <p:nvPr/>
        </p:nvSpPr>
        <p:spPr>
          <a:xfrm>
            <a:off x="640080" y="5065776"/>
            <a:ext cx="2953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C73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$8.01  </a:t>
            </a:r>
            <a:pPr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live-agent contact — ~80× the cost of self-service (Gartner, 2019)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577840"/>
            <a:ext cx="2953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C73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98,028 / day  </a:t>
            </a:r>
            <a:pPr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volume at a single big-city 311 (NYC OTI, 2023)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95928" y="2852928"/>
            <a:ext cx="3319272" cy="3246120"/>
          </a:xfrm>
          <a:prstGeom prst="roundRect">
            <a:avLst>
              <a:gd name="adj" fmla="val 1972"/>
            </a:avLst>
          </a:prstGeom>
          <a:solidFill>
            <a:srgbClr val="EAEFF4"/>
          </a:solidFill>
          <a:ln w="12700">
            <a:solidFill>
              <a:srgbClr val="C9D3DC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160520" y="2980944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GOVERNED SOLUTION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78808" y="3328416"/>
            <a:ext cx="274320" cy="27432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178808" y="33284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44568" y="3310128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request  </a:t>
            </a:r>
            <a:pPr indent="0" marL="0">
              <a:buNone/>
            </a:pP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4178808" y="3803904"/>
            <a:ext cx="274320" cy="27432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178808" y="38039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44568" y="3785616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the answer  </a:t>
            </a:r>
            <a:pPr indent="0" marL="0">
              <a:buNone/>
            </a:pP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4178808" y="4279392"/>
            <a:ext cx="274320" cy="27432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178808" y="4279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44568" y="426110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safe action  </a:t>
            </a:r>
            <a:pPr indent="0" marL="0">
              <a:buNone/>
            </a:pP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4178808" y="4754880"/>
            <a:ext cx="274320" cy="274320"/>
          </a:xfrm>
          <a:prstGeom prst="ellipse">
            <a:avLst/>
          </a:prstGeom>
          <a:solidFill>
            <a:srgbClr val="01A88D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178808" y="4754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44568" y="4736592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0E7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  </a:t>
            </a:r>
            <a:pPr indent="0" marL="0">
              <a:buNone/>
            </a:pPr>
            <a:r>
              <a:rPr lang="en-US" sz="970" i="1" dirty="0">
                <a:solidFill>
                  <a:srgbClr val="0E7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(human gate)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4178808" y="5230368"/>
            <a:ext cx="274320" cy="27432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178808" y="5230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44568" y="5212080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&amp; learn  </a:t>
            </a:r>
            <a:pPr indent="0" marL="0">
              <a:buNone/>
            </a:pPr>
            <a:endParaRPr lang="en-US" sz="970" dirty="0"/>
          </a:p>
        </p:txBody>
      </p:sp>
      <p:sp>
        <p:nvSpPr>
          <p:cNvPr id="31" name="Text 29"/>
          <p:cNvSpPr/>
          <p:nvPr/>
        </p:nvSpPr>
        <p:spPr>
          <a:xfrm>
            <a:off x="4178808" y="5532120"/>
            <a:ext cx="295351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file-a-request are automated; commitments are not. The agent drafts; a person commits.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457200" y="6263640"/>
            <a:ext cx="3319272" cy="2743200"/>
          </a:xfrm>
          <a:prstGeom prst="roundRect">
            <a:avLst>
              <a:gd name="adj" fmla="val 2333"/>
            </a:avLst>
          </a:prstGeom>
          <a:solidFill>
            <a:srgbClr val="EAEFF4"/>
          </a:solidFill>
          <a:ln w="12700">
            <a:solidFill>
              <a:srgbClr val="C9D3DC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21792" y="6391656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ROI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0080" y="6720840"/>
            <a:ext cx="2953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2,700 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inquiries handled in month one, North Carolina DES assistant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" y="7232904"/>
            <a:ext cx="2953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 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311 interactions handled by Denver's 'Sunny' assistant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080" y="7744968"/>
            <a:ext cx="2953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peak-season live-agent staffing reduction, Denver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0080" y="8257032"/>
            <a:ext cx="29535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case: </a:t>
            </a:r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contact the agent resolves is roughly an $8 live interaction turned into a dime — at 311 volumes that is a budget line, not a rounding error. Productivity research shows the biggest lift goes to your newest agents, shortening ramp time and turnover cost.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3995928" y="6263640"/>
            <a:ext cx="3319272" cy="2743200"/>
          </a:xfrm>
          <a:prstGeom prst="roundRect">
            <a:avLst>
              <a:gd name="adj" fmla="val 2333"/>
            </a:avLst>
          </a:prstGeom>
          <a:solidFill>
            <a:srgbClr val="EAEFF4"/>
          </a:solidFill>
          <a:ln w="12700">
            <a:solidFill>
              <a:srgbClr val="C9D3DC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4160520" y="6391656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178808" y="6720840"/>
            <a:ext cx="295351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least privilege — </a:t>
            </a:r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+ custom:slg_role; deny-by-default MCP gateway; effective scope = agent grant ∩ user entitlement.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4178808" y="7251192"/>
            <a:ext cx="295351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 — </a:t>
            </a:r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masking before inference; KMS encryption; S3 Object Lock (WORM) audit; private VPC + Bedrock VPC endpoint.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4178808" y="7781544"/>
            <a:ext cx="295351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guardrails &amp; HITL — </a:t>
            </a:r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Guardrails; grounded, cited answers; consequential action withheld in code until a human approves.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4178808" y="8311896"/>
            <a:ext cx="295351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posture — </a:t>
            </a:r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FedRAMP High + DoD IL-4/5 in GovCloud; CJIS / IRS-1075 alignment; CloudTrail; ADA WCAG 2.1 AA.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457200" y="9144000"/>
            <a:ext cx="6858000" cy="45720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621792" y="9144000"/>
            <a:ext cx="6528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3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</a:t>
            </a:r>
            <a:pPr indent="0" marL="0">
              <a:lnSpc>
                <a:spcPct val="98000"/>
              </a:lnSpc>
              <a:buNone/>
            </a:pPr>
            <a:r>
              <a:rPr lang="en-US" sz="83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(own VPC/edge/identity/data/WORM audit) or + Whole-of-Government layer. Full CloudFormation + Terraform parity, commercial &amp; GovCloud (US).</a:t>
            </a:r>
            <a:endParaRPr lang="en-US" sz="830" dirty="0"/>
          </a:p>
        </p:txBody>
      </p:sp>
      <p:sp>
        <p:nvSpPr>
          <p:cNvPr id="46" name="Text 44"/>
          <p:cNvSpPr/>
          <p:nvPr/>
        </p:nvSpPr>
        <p:spPr>
          <a:xfrm>
            <a:off x="457200" y="969264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Ryder  ·  AI Strategy &amp; Architecture Leader  ·  github.com/virtualryder/slg-ai-agents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457200" y="987552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documented outcomes from named deployments, labeled by evidence tier; full citations in decks/DECK-SOURCES.md. Applied to a reference agency — not a guarantee.</a:t>
            </a:r>
            <a:endParaRPr lang="en-US" sz="700" dirty="0"/>
          </a:p>
        </p:txBody>
      </p:sp>
      <p:sp>
        <p:nvSpPr>
          <p:cNvPr id="48" name="TextBox 47"/>
          <p:cNvSpPr txBox="1"/>
          <p:nvPr/>
        </p:nvSpPr>
        <p:spPr>
          <a:xfrm>
            <a:off x="274320" y="9555480"/>
            <a:ext cx="7223760" cy="4114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700" i="1">
                <a:solidFill>
                  <a:srgbClr val="879296"/>
                </a:solidFill>
              </a:rPr>
              <a:t>Reference accelerator — not an AWS service, not AWS-supported software, not a compliance certification, and not production-ready for regulated data without customer-specific engineering, testing, authorization, and operational ownership. Built on AWS; not affiliated with or endorsed by Amazon Web Services.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2026-06-25T00:55:44Z</dcterms:created>
  <dcterms:modified xsi:type="dcterms:W3CDTF">2026-06-25T00:55:44Z</dcterms:modified>
</cp:coreProperties>
</file>