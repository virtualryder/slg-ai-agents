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3716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749808" cy="402336"/>
          </a:xfrm>
          <a:prstGeom prst="roundRect">
            <a:avLst>
              <a:gd name="adj" fmla="val 9091"/>
            </a:avLst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92608"/>
            <a:ext cx="7498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2F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53312" y="310896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SLG AGENTIC AI REFERENCE LIBRARY  ·  GOVERNED, ON AWS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for State &amp; Local Government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517904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7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SCATTERED PILOTS TO A GOVERNED AI PLATFORM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deployable reference library: eight production-shaped agents across the resident journey, all built on one governed platform where every consequential action stays human, every answer is cited, and every step is logged — designed for a regulated environment from day one.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52928"/>
            <a:ext cx="3319272" cy="3246120"/>
          </a:xfrm>
          <a:prstGeom prst="roundRect">
            <a:avLst>
              <a:gd name="adj" fmla="val 1972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980944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3310128"/>
            <a:ext cx="295351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Pilots are everywhere; few reach governed, funded production.</a:t>
            </a:r>
            <a:endParaRPr lang="en-US" sz="97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rebuilt from scratch multiplies cost and risk.</a:t>
            </a:r>
            <a:endParaRPr lang="en-US" sz="97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accessibility and audit are bolted on late, if at all.</a:t>
            </a:r>
            <a:endParaRPr lang="en-US" sz="97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experience government as disconnected silos.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640080" y="5065776"/>
            <a:ext cx="2953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C73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vs 25%  </a:t>
            </a:r>
            <a:pPr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piloting GenAI vs. funded to scale it (NASCIO 2025)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577840"/>
            <a:ext cx="2953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C73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$100B+  </a:t>
            </a:r>
            <a:pPr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IT spend, ~80% operating legacy systems (GAO)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95928" y="2852928"/>
            <a:ext cx="3319272" cy="3246120"/>
          </a:xfrm>
          <a:prstGeom prst="roundRect">
            <a:avLst>
              <a:gd name="adj" fmla="val 1972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2980944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GOVERNED SOLUTION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78808" y="3328416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7" name="Text 15"/>
          <p:cNvSpPr/>
          <p:nvPr/>
        </p:nvSpPr>
        <p:spPr>
          <a:xfrm>
            <a:off x="4178808" y="33284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44568" y="3310128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Resident-facing  </a:t>
            </a:r>
            <a:pPr indent="0" marL="0">
              <a:buNone/>
            </a:pP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4178808" y="3803904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20" name="Text 18"/>
          <p:cNvSpPr/>
          <p:nvPr/>
        </p:nvSpPr>
        <p:spPr>
          <a:xfrm>
            <a:off x="4178808" y="38039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44568" y="3785616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Casework  </a:t>
            </a:r>
            <a:pPr indent="0" marL="0">
              <a:buNone/>
            </a:pP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4178808" y="4279392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23" name="Text 21"/>
          <p:cNvSpPr/>
          <p:nvPr/>
        </p:nvSpPr>
        <p:spPr>
          <a:xfrm>
            <a:off x="4178808" y="4279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44568" y="426110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 </a:t>
            </a:r>
            <a:pPr indent="0" marL="0">
              <a:buNone/>
            </a:pP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4178808" y="4754880"/>
            <a:ext cx="274320" cy="274320"/>
          </a:xfrm>
          <a:prstGeom prst="ellipse">
            <a:avLst/>
          </a:prstGeom>
          <a:solidFill>
            <a:srgbClr val="01A88D"/>
          </a:solidFill>
          <a:ln/>
        </p:spPr>
      </p:sp>
      <p:sp>
        <p:nvSpPr>
          <p:cNvPr id="26" name="Text 24"/>
          <p:cNvSpPr/>
          <p:nvPr/>
        </p:nvSpPr>
        <p:spPr>
          <a:xfrm>
            <a:off x="4178808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44568" y="4736592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0E7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gates everywhere  </a:t>
            </a:r>
            <a:pPr indent="0" marL="0">
              <a:buNone/>
            </a:pPr>
            <a:r>
              <a:rPr lang="en-US" sz="970" i="1" dirty="0">
                <a:solidFill>
                  <a:srgbClr val="0E7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(human gate)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4178808" y="5230368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29" name="Text 27"/>
          <p:cNvSpPr/>
          <p:nvPr/>
        </p:nvSpPr>
        <p:spPr>
          <a:xfrm>
            <a:off x="4178808" y="5230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44568" y="5212080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 </a:t>
            </a:r>
            <a:pPr indent="0" marL="0">
              <a:buNone/>
            </a:pPr>
            <a:endParaRPr lang="en-US" sz="970" dirty="0"/>
          </a:p>
        </p:txBody>
      </p:sp>
      <p:sp>
        <p:nvSpPr>
          <p:cNvPr id="31" name="Text 29"/>
          <p:cNvSpPr/>
          <p:nvPr/>
        </p:nvSpPr>
        <p:spPr>
          <a:xfrm>
            <a:off x="4178808" y="5532120"/>
            <a:ext cx="29535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withholds its consequential action — issue, adjudicate, release, award — verified by tests.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457200" y="6263640"/>
            <a:ext cx="3319272" cy="2743200"/>
          </a:xfrm>
          <a:prstGeom prst="roundRect">
            <a:avLst>
              <a:gd name="adj" fmla="val 2333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" y="6391656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ROI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0080" y="6720840"/>
            <a:ext cx="2953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agents 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with code, IaC, containers, runbooks and a customer deck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" y="7232904"/>
            <a:ext cx="2953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CFN + Terraform 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IaC parity across commercial and GovCloud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" y="7744968"/>
            <a:ext cx="2953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AA 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tested; control mappings included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0080" y="8257032"/>
            <a:ext cx="29535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case: </a:t>
            </a:r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the agent that fits the room — 311 for citizen value, benefits for mission, public safety for credibility — then sell the platform underneath. Build governance once and every future agent inherits it. That is the difference between another pilot and a fundable program.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3995928" y="6263640"/>
            <a:ext cx="3319272" cy="2743200"/>
          </a:xfrm>
          <a:prstGeom prst="roundRect">
            <a:avLst>
              <a:gd name="adj" fmla="val 2333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60520" y="6391656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178808" y="6720840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least privilege — </a:t>
            </a:r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+ custom:slg_role; deny-by-default MCP gateway; effective scope = agent grant ∩ user entitlement.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4178808" y="7251192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— </a:t>
            </a:r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 before inference; KMS encryption; S3 Object Lock (WORM) audit; private VPC + Bedrock VPC endpoint.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4178808" y="7781544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guardrails &amp; HITL — </a:t>
            </a:r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Guardrails; grounded, cited answers; consequential action withheld in code until a human approves.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4178808" y="8311896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posture — </a:t>
            </a:r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FedRAMP High + DoD IL-4/5 in GovCloud; CJIS / IRS-1075 alignment; CloudTrail; ADA WCAG 2.1 AA.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457200" y="9144000"/>
            <a:ext cx="6858000" cy="45720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/>
        </p:spPr>
      </p:sp>
      <p:sp>
        <p:nvSpPr>
          <p:cNvPr id="45" name="Text 43"/>
          <p:cNvSpPr/>
          <p:nvPr/>
        </p:nvSpPr>
        <p:spPr>
          <a:xfrm>
            <a:off x="621792" y="9144000"/>
            <a:ext cx="6528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3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</a:t>
            </a:r>
            <a:pPr indent="0" marL="0">
              <a:lnSpc>
                <a:spcPct val="98000"/>
              </a:lnSpc>
              <a:buNone/>
            </a:pPr>
            <a:r>
              <a:rPr lang="en-US" sz="83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(own VPC/edge/identity/data/WORM audit) or + Whole-of-Government layer. Full CloudFormation + Terraform parity, commercial &amp; GovCloud (US).</a:t>
            </a:r>
            <a:endParaRPr lang="en-US" sz="830" dirty="0"/>
          </a:p>
        </p:txBody>
      </p:sp>
      <p:sp>
        <p:nvSpPr>
          <p:cNvPr id="46" name="Text 44"/>
          <p:cNvSpPr/>
          <p:nvPr/>
        </p:nvSpPr>
        <p:spPr>
          <a:xfrm>
            <a:off x="457200" y="969264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Ryder  ·  AI Strategy &amp; Architecture Leader  ·  github.com/virtualryder/slg-ai-agents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457200" y="987552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documented outcomes from named deployments, labeled by evidence tier; full citations in decks/DECK-SOURCES.md. Applied to a reference agency — not a guarantee.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2026-06-25T00:59:25Z</dcterms:created>
  <dcterms:modified xsi:type="dcterms:W3CDTF">2026-06-25T00:59:25Z</dcterms:modified>
</cp:coreProperties>
</file>