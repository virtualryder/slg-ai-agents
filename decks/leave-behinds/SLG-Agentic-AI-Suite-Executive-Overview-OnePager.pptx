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7772400" cy="10058400"/>
  <p:notesSz cx="10058400" cy="77724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772400" cy="1371600"/>
          </a:xfrm>
          <a:prstGeom prst="rect">
            <a:avLst/>
          </a:prstGeom>
          <a:solidFill>
            <a:srgbClr val="232F3E"/>
          </a:solidFill>
          <a:ln/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457200" y="292608"/>
            <a:ext cx="749808" cy="402336"/>
          </a:xfrm>
          <a:prstGeom prst="roundRect">
            <a:avLst>
              <a:gd name="adj" fmla="val 9091"/>
            </a:avLst>
          </a:prstGeom>
          <a:solidFill>
            <a:srgbClr val="FF9900"/>
          </a:solidFill>
          <a:ln/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457200" y="292608"/>
            <a:ext cx="749808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232F3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AWS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1353312" y="310896"/>
            <a:ext cx="58521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SLG AGENTIC AI REFERENCE LIBRARY  ·  GOVERNED, ON AWS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749808"/>
            <a:ext cx="68580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Agentic AI for State &amp; Local Government</a:t>
            </a:r>
            <a:endParaRPr lang="en-US" sz="1900" dirty="0"/>
          </a:p>
        </p:txBody>
      </p:sp>
      <p:sp>
        <p:nvSpPr>
          <p:cNvPr id="7" name="Text 5"/>
          <p:cNvSpPr/>
          <p:nvPr/>
        </p:nvSpPr>
        <p:spPr>
          <a:xfrm>
            <a:off x="457200" y="1517904"/>
            <a:ext cx="6858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ED710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FROM SCATTERED PILOTS TO A GOVERNED AI PLATFORM</a:t>
            </a:r>
            <a:endParaRPr lang="en-US" sz="2100" dirty="0"/>
          </a:p>
        </p:txBody>
      </p:sp>
      <p:sp>
        <p:nvSpPr>
          <p:cNvPr id="8" name="Text 6"/>
          <p:cNvSpPr/>
          <p:nvPr/>
        </p:nvSpPr>
        <p:spPr>
          <a:xfrm>
            <a:off x="457200" y="2011680"/>
            <a:ext cx="6858000" cy="7132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complete, deployable reference library: eight production-shaped agents across the resident journey, all built on one governed platform where every consequential action stays human, every answer is cited, and every step is logged — designed for a regulated environment from day one.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457200" y="2852928"/>
            <a:ext cx="3319272" cy="3246120"/>
          </a:xfrm>
          <a:prstGeom prst="roundRect">
            <a:avLst>
              <a:gd name="adj" fmla="val 1972"/>
            </a:avLst>
          </a:prstGeom>
          <a:solidFill>
            <a:srgbClr val="EAEFF4"/>
          </a:solidFill>
          <a:ln w="12700">
            <a:solidFill>
              <a:srgbClr val="C9D3DC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21792" y="2980944"/>
            <a:ext cx="299008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spc="120" kern="0" dirty="0">
                <a:solidFill>
                  <a:srgbClr val="ED71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PROBLEM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640080" y="3310128"/>
            <a:ext cx="2953512" cy="1691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52400" indent="-152400">
              <a:lnSpc>
                <a:spcPct val="100000"/>
              </a:lnSpc>
              <a:spcAft>
                <a:spcPts val="500"/>
              </a:spcAft>
              <a:buSzPct val="100000"/>
              <a:buChar char="•"/>
            </a:pPr>
            <a:r>
              <a:rPr lang="en-US" sz="970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Pilots are everywhere; few reach governed, funded production.</a:t>
            </a:r>
            <a:endParaRPr lang="en-US" sz="970" dirty="0"/>
          </a:p>
          <a:p>
            <a:pPr marL="152400" indent="-152400">
              <a:lnSpc>
                <a:spcPct val="100000"/>
              </a:lnSpc>
              <a:spcAft>
                <a:spcPts val="500"/>
              </a:spcAft>
              <a:buSzPct val="100000"/>
              <a:buChar char="•"/>
            </a:pPr>
            <a:r>
              <a:rPr lang="en-US" sz="970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agent rebuilt from scratch multiplies cost and risk.</a:t>
            </a:r>
            <a:endParaRPr lang="en-US" sz="970" dirty="0"/>
          </a:p>
          <a:p>
            <a:pPr marL="152400" indent="-152400">
              <a:lnSpc>
                <a:spcPct val="100000"/>
              </a:lnSpc>
              <a:spcAft>
                <a:spcPts val="500"/>
              </a:spcAft>
              <a:buSzPct val="100000"/>
              <a:buChar char="•"/>
            </a:pPr>
            <a:r>
              <a:rPr lang="en-US" sz="970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Security, accessibility and audit are bolted on late, if at all.</a:t>
            </a:r>
            <a:endParaRPr lang="en-US" sz="970" dirty="0"/>
          </a:p>
          <a:p>
            <a:pPr marL="152400" indent="-152400">
              <a:lnSpc>
                <a:spcPct val="100000"/>
              </a:lnSpc>
              <a:spcAft>
                <a:spcPts val="500"/>
              </a:spcAft>
              <a:buSzPct val="100000"/>
              <a:buChar char="•"/>
            </a:pPr>
            <a:r>
              <a:rPr lang="en-US" sz="970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Residents experience government as disconnected silos.</a:t>
            </a:r>
            <a:endParaRPr lang="en-US" sz="970" dirty="0"/>
          </a:p>
        </p:txBody>
      </p:sp>
      <p:sp>
        <p:nvSpPr>
          <p:cNvPr id="12" name="Text 10"/>
          <p:cNvSpPr/>
          <p:nvPr/>
        </p:nvSpPr>
        <p:spPr>
          <a:xfrm>
            <a:off x="640080" y="5065776"/>
            <a:ext cx="2953512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300" b="1" dirty="0">
                <a:solidFill>
                  <a:srgbClr val="C736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90% vs 25%  </a:t>
            </a:r>
            <a:pPr indent="0" marL="0">
              <a:lnSpc>
                <a:spcPct val="95000"/>
              </a:lnSpc>
              <a:buNone/>
            </a:pPr>
            <a:r>
              <a:rPr lang="en-US" sz="860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piloting GenAI vs. funded to scale it (NASCIO 2025)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40080" y="5577840"/>
            <a:ext cx="2953512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300" b="1" dirty="0">
                <a:solidFill>
                  <a:srgbClr val="C736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$100B+  </a:t>
            </a:r>
            <a:pPr indent="0" marL="0">
              <a:lnSpc>
                <a:spcPct val="95000"/>
              </a:lnSpc>
              <a:buNone/>
            </a:pPr>
            <a:r>
              <a:rPr lang="en-US" sz="860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government IT spend, ~80% operating legacy systems (GAO)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3995928" y="2852928"/>
            <a:ext cx="3319272" cy="3246120"/>
          </a:xfrm>
          <a:prstGeom prst="roundRect">
            <a:avLst>
              <a:gd name="adj" fmla="val 1972"/>
            </a:avLst>
          </a:prstGeom>
          <a:solidFill>
            <a:srgbClr val="EAEFF4"/>
          </a:solidFill>
          <a:ln w="12700">
            <a:solidFill>
              <a:srgbClr val="C9D3DC"/>
            </a:solidFill>
            <a:prstDash val="solid"/>
          </a:ln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4160520" y="2980944"/>
            <a:ext cx="299008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spc="120" kern="0" dirty="0">
                <a:solidFill>
                  <a:srgbClr val="ED71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GOVERNED SOLUTION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4178808" y="3328416"/>
            <a:ext cx="274320" cy="274320"/>
          </a:xfrm>
          <a:prstGeom prst="ellipse">
            <a:avLst/>
          </a:prstGeom>
          <a:solidFill>
            <a:srgbClr val="232F3E"/>
          </a:solidFill>
          <a:ln/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4178808" y="3328416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990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4544568" y="3310128"/>
            <a:ext cx="26060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70" b="1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Resident-facing  </a:t>
            </a:r>
            <a:pPr indent="0" marL="0">
              <a:buNone/>
            </a:pPr>
            <a:endParaRPr lang="en-US" sz="970" dirty="0"/>
          </a:p>
        </p:txBody>
      </p:sp>
      <p:sp>
        <p:nvSpPr>
          <p:cNvPr id="19" name="Shape 17"/>
          <p:cNvSpPr/>
          <p:nvPr/>
        </p:nvSpPr>
        <p:spPr>
          <a:xfrm>
            <a:off x="4178808" y="3803904"/>
            <a:ext cx="274320" cy="274320"/>
          </a:xfrm>
          <a:prstGeom prst="ellipse">
            <a:avLst/>
          </a:prstGeom>
          <a:solidFill>
            <a:srgbClr val="232F3E"/>
          </a:solidFill>
          <a:ln/>
        </p:spPr>
        <p:txBody>
          <a:bodyPr/>
          <a:p/>
        </p:txBody>
      </p:sp>
      <p:sp>
        <p:nvSpPr>
          <p:cNvPr id="20" name="Text 18"/>
          <p:cNvSpPr/>
          <p:nvPr/>
        </p:nvSpPr>
        <p:spPr>
          <a:xfrm>
            <a:off x="4178808" y="3803904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990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4544568" y="3785616"/>
            <a:ext cx="26060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70" b="1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Casework  </a:t>
            </a:r>
            <a:pPr indent="0" marL="0">
              <a:buNone/>
            </a:pPr>
            <a:endParaRPr lang="en-US" sz="970" dirty="0"/>
          </a:p>
        </p:txBody>
      </p:sp>
      <p:sp>
        <p:nvSpPr>
          <p:cNvPr id="22" name="Shape 20"/>
          <p:cNvSpPr/>
          <p:nvPr/>
        </p:nvSpPr>
        <p:spPr>
          <a:xfrm>
            <a:off x="4178808" y="4279392"/>
            <a:ext cx="274320" cy="274320"/>
          </a:xfrm>
          <a:prstGeom prst="ellipse">
            <a:avLst/>
          </a:prstGeom>
          <a:solidFill>
            <a:srgbClr val="232F3E"/>
          </a:solidFill>
          <a:ln/>
        </p:spPr>
        <p:txBody>
          <a:bodyPr/>
          <a:p/>
        </p:txBody>
      </p:sp>
      <p:sp>
        <p:nvSpPr>
          <p:cNvPr id="23" name="Text 21"/>
          <p:cNvSpPr/>
          <p:nvPr/>
        </p:nvSpPr>
        <p:spPr>
          <a:xfrm>
            <a:off x="4178808" y="4279392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990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4544568" y="4261104"/>
            <a:ext cx="26060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70" b="1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Operations  </a:t>
            </a:r>
            <a:pPr indent="0" marL="0">
              <a:buNone/>
            </a:pPr>
            <a:endParaRPr lang="en-US" sz="970" dirty="0"/>
          </a:p>
        </p:txBody>
      </p:sp>
      <p:sp>
        <p:nvSpPr>
          <p:cNvPr id="25" name="Shape 23"/>
          <p:cNvSpPr/>
          <p:nvPr/>
        </p:nvSpPr>
        <p:spPr>
          <a:xfrm>
            <a:off x="4178808" y="4754880"/>
            <a:ext cx="274320" cy="274320"/>
          </a:xfrm>
          <a:prstGeom prst="ellipse">
            <a:avLst/>
          </a:prstGeom>
          <a:solidFill>
            <a:srgbClr val="01A88D"/>
          </a:solidFill>
          <a:ln/>
        </p:spPr>
        <p:txBody>
          <a:bodyPr/>
          <a:p/>
        </p:txBody>
      </p:sp>
      <p:sp>
        <p:nvSpPr>
          <p:cNvPr id="26" name="Text 24"/>
          <p:cNvSpPr/>
          <p:nvPr/>
        </p:nvSpPr>
        <p:spPr>
          <a:xfrm>
            <a:off x="4178808" y="4754880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4544568" y="4736592"/>
            <a:ext cx="26060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70" b="1" dirty="0">
                <a:solidFill>
                  <a:srgbClr val="0E7C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Human gates everywhere  </a:t>
            </a:r>
            <a:pPr indent="0" marL="0">
              <a:buNone/>
            </a:pPr>
            <a:r>
              <a:rPr lang="en-US" sz="970" i="1" dirty="0">
                <a:solidFill>
                  <a:srgbClr val="0E7C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(human gate)</a:t>
            </a:r>
            <a:endParaRPr lang="en-US" sz="970" dirty="0"/>
          </a:p>
        </p:txBody>
      </p:sp>
      <p:sp>
        <p:nvSpPr>
          <p:cNvPr id="28" name="Shape 26"/>
          <p:cNvSpPr/>
          <p:nvPr/>
        </p:nvSpPr>
        <p:spPr>
          <a:xfrm>
            <a:off x="4178808" y="5230368"/>
            <a:ext cx="274320" cy="274320"/>
          </a:xfrm>
          <a:prstGeom prst="ellipse">
            <a:avLst/>
          </a:prstGeom>
          <a:solidFill>
            <a:srgbClr val="232F3E"/>
          </a:solidFill>
          <a:ln/>
        </p:spPr>
        <p:txBody>
          <a:bodyPr/>
          <a:p/>
        </p:txBody>
      </p:sp>
      <p:sp>
        <p:nvSpPr>
          <p:cNvPr id="29" name="Text 27"/>
          <p:cNvSpPr/>
          <p:nvPr/>
        </p:nvSpPr>
        <p:spPr>
          <a:xfrm>
            <a:off x="4178808" y="5230368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990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5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4544568" y="5212080"/>
            <a:ext cx="26060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70" b="1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platform  </a:t>
            </a:r>
            <a:pPr indent="0" marL="0">
              <a:buNone/>
            </a:pPr>
            <a:endParaRPr lang="en-US" sz="970" dirty="0"/>
          </a:p>
        </p:txBody>
      </p:sp>
      <p:sp>
        <p:nvSpPr>
          <p:cNvPr id="31" name="Text 29"/>
          <p:cNvSpPr/>
          <p:nvPr/>
        </p:nvSpPr>
        <p:spPr>
          <a:xfrm>
            <a:off x="4178808" y="5532120"/>
            <a:ext cx="2953512" cy="4754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830" i="1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agent withholds its consequential action — issue, adjudicate, release, award — verified by tests.</a:t>
            </a:r>
            <a:endParaRPr lang="en-US" sz="830" dirty="0"/>
          </a:p>
        </p:txBody>
      </p:sp>
      <p:sp>
        <p:nvSpPr>
          <p:cNvPr id="32" name="Shape 30"/>
          <p:cNvSpPr/>
          <p:nvPr/>
        </p:nvSpPr>
        <p:spPr>
          <a:xfrm>
            <a:off x="457200" y="6263640"/>
            <a:ext cx="3319272" cy="2743200"/>
          </a:xfrm>
          <a:prstGeom prst="roundRect">
            <a:avLst>
              <a:gd name="adj" fmla="val 2333"/>
            </a:avLst>
          </a:prstGeom>
          <a:solidFill>
            <a:srgbClr val="EAEFF4"/>
          </a:solidFill>
          <a:ln w="12700">
            <a:solidFill>
              <a:srgbClr val="C9D3DC"/>
            </a:solidFill>
            <a:prstDash val="solid"/>
          </a:ln>
        </p:spPr>
        <p:txBody>
          <a:bodyPr/>
          <a:p/>
        </p:txBody>
      </p:sp>
      <p:sp>
        <p:nvSpPr>
          <p:cNvPr id="33" name="Text 31"/>
          <p:cNvSpPr/>
          <p:nvPr/>
        </p:nvSpPr>
        <p:spPr>
          <a:xfrm>
            <a:off x="621792" y="6391656"/>
            <a:ext cx="299008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spc="120" kern="0" dirty="0">
                <a:solidFill>
                  <a:srgbClr val="ED71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ROI</a:t>
            </a:r>
            <a:endParaRPr lang="en-US" sz="1150" dirty="0"/>
          </a:p>
        </p:txBody>
      </p:sp>
      <p:sp>
        <p:nvSpPr>
          <p:cNvPr id="34" name="Text 32"/>
          <p:cNvSpPr/>
          <p:nvPr/>
        </p:nvSpPr>
        <p:spPr>
          <a:xfrm>
            <a:off x="640080" y="6720840"/>
            <a:ext cx="2953512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300" b="1" dirty="0">
                <a:solidFill>
                  <a:srgbClr val="ED71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agents  </a:t>
            </a:r>
            <a:pPr indent="0" marL="0">
              <a:lnSpc>
                <a:spcPct val="95000"/>
              </a:lnSpc>
              <a:buNone/>
            </a:pPr>
            <a:r>
              <a:rPr lang="en-US" sz="850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with code, IaC, containers, runbooks and a customer deck</a:t>
            </a:r>
            <a:endParaRPr lang="en-US" sz="1300" dirty="0"/>
          </a:p>
        </p:txBody>
      </p:sp>
      <p:sp>
        <p:nvSpPr>
          <p:cNvPr id="35" name="Text 33"/>
          <p:cNvSpPr/>
          <p:nvPr/>
        </p:nvSpPr>
        <p:spPr>
          <a:xfrm>
            <a:off x="640080" y="7232904"/>
            <a:ext cx="2953512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300" b="1" dirty="0">
                <a:solidFill>
                  <a:srgbClr val="ED71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CFN + Terraform  </a:t>
            </a:r>
            <a:pPr indent="0" marL="0">
              <a:lnSpc>
                <a:spcPct val="95000"/>
              </a:lnSpc>
              <a:buNone/>
            </a:pPr>
            <a:r>
              <a:rPr lang="en-US" sz="850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IaC parity across commercial and GovCloud</a:t>
            </a:r>
            <a:endParaRPr lang="en-US" sz="1300" dirty="0"/>
          </a:p>
        </p:txBody>
      </p:sp>
      <p:sp>
        <p:nvSpPr>
          <p:cNvPr id="36" name="Text 34"/>
          <p:cNvSpPr/>
          <p:nvPr/>
        </p:nvSpPr>
        <p:spPr>
          <a:xfrm>
            <a:off x="640080" y="7744968"/>
            <a:ext cx="2953512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300" b="1" dirty="0">
                <a:solidFill>
                  <a:srgbClr val="ED71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WCAG 2.1 AA  </a:t>
            </a:r>
            <a:pPr indent="0" marL="0">
              <a:lnSpc>
                <a:spcPct val="95000"/>
              </a:lnSpc>
              <a:buNone/>
            </a:pPr>
            <a:r>
              <a:rPr lang="en-US" sz="850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accessibility tested; control mappings included</a:t>
            </a:r>
            <a:endParaRPr lang="en-US" sz="1300" dirty="0"/>
          </a:p>
        </p:txBody>
      </p:sp>
      <p:sp>
        <p:nvSpPr>
          <p:cNvPr id="37" name="Text 35"/>
          <p:cNvSpPr/>
          <p:nvPr/>
        </p:nvSpPr>
        <p:spPr>
          <a:xfrm>
            <a:off x="640080" y="8257032"/>
            <a:ext cx="2953512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820" b="1" dirty="0">
                <a:solidFill>
                  <a:srgbClr val="ED71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Executive case: </a:t>
            </a:r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Lead with the agent that fits the room — 311 for citizen value, benefits for mission, public safety for credibility — then sell the platform underneath. Build governance once and every future agent inherits it. That is the difference between another pilot and a fundable program.</a:t>
            </a:r>
            <a:endParaRPr lang="en-US" sz="820" dirty="0"/>
          </a:p>
        </p:txBody>
      </p:sp>
      <p:sp>
        <p:nvSpPr>
          <p:cNvPr id="38" name="Shape 36"/>
          <p:cNvSpPr/>
          <p:nvPr/>
        </p:nvSpPr>
        <p:spPr>
          <a:xfrm>
            <a:off x="3995928" y="6263640"/>
            <a:ext cx="3319272" cy="2743200"/>
          </a:xfrm>
          <a:prstGeom prst="roundRect">
            <a:avLst>
              <a:gd name="adj" fmla="val 2333"/>
            </a:avLst>
          </a:prstGeom>
          <a:solidFill>
            <a:srgbClr val="EAEFF4"/>
          </a:solidFill>
          <a:ln w="12700">
            <a:solidFill>
              <a:srgbClr val="C9D3DC"/>
            </a:solidFill>
            <a:prstDash val="solid"/>
          </a:ln>
        </p:spPr>
        <p:txBody>
          <a:bodyPr/>
          <a:p/>
        </p:txBody>
      </p:sp>
      <p:sp>
        <p:nvSpPr>
          <p:cNvPr id="39" name="Text 37"/>
          <p:cNvSpPr/>
          <p:nvPr/>
        </p:nvSpPr>
        <p:spPr>
          <a:xfrm>
            <a:off x="4160520" y="6391656"/>
            <a:ext cx="299008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spc="120" kern="0" dirty="0">
                <a:solidFill>
                  <a:srgbClr val="ED71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SECURITY &amp; COMPLIANCE</a:t>
            </a:r>
            <a:endParaRPr lang="en-US" sz="1150" dirty="0"/>
          </a:p>
        </p:txBody>
      </p:sp>
      <p:sp>
        <p:nvSpPr>
          <p:cNvPr id="40" name="Text 38"/>
          <p:cNvSpPr/>
          <p:nvPr/>
        </p:nvSpPr>
        <p:spPr>
          <a:xfrm>
            <a:off x="4178808" y="6720840"/>
            <a:ext cx="2953512" cy="5120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780" b="1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Identity &amp; least privilege — </a:t>
            </a:r>
            <a:pPr indent="0" marL="0">
              <a:lnSpc>
                <a:spcPct val="100000"/>
              </a:lnSpc>
              <a:buNone/>
            </a:pPr>
            <a:r>
              <a:rPr lang="en-US" sz="780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Cognito + custom:slg_role; deny-by-default MCP gateway; effective scope = agent grant ∩ user entitlement.</a:t>
            </a:r>
            <a:endParaRPr lang="en-US" sz="780" dirty="0"/>
          </a:p>
        </p:txBody>
      </p:sp>
      <p:sp>
        <p:nvSpPr>
          <p:cNvPr id="41" name="Text 39"/>
          <p:cNvSpPr/>
          <p:nvPr/>
        </p:nvSpPr>
        <p:spPr>
          <a:xfrm>
            <a:off x="4178808" y="7251192"/>
            <a:ext cx="2953512" cy="5120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780" b="1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protection — </a:t>
            </a:r>
            <a:pPr indent="0" marL="0">
              <a:lnSpc>
                <a:spcPct val="100000"/>
              </a:lnSpc>
              <a:buNone/>
            </a:pPr>
            <a:r>
              <a:rPr lang="en-US" sz="780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PII masking before inference; KMS encryption; S3 Object Lock (WORM) audit; private VPC + Bedrock VPC endpoint.</a:t>
            </a:r>
            <a:endParaRPr lang="en-US" sz="780" dirty="0"/>
          </a:p>
        </p:txBody>
      </p:sp>
      <p:sp>
        <p:nvSpPr>
          <p:cNvPr id="42" name="Text 40"/>
          <p:cNvSpPr/>
          <p:nvPr/>
        </p:nvSpPr>
        <p:spPr>
          <a:xfrm>
            <a:off x="4178808" y="7781544"/>
            <a:ext cx="2953512" cy="5120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780" b="1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guardrails &amp; HITL — </a:t>
            </a:r>
            <a:pPr indent="0" marL="0">
              <a:lnSpc>
                <a:spcPct val="100000"/>
              </a:lnSpc>
              <a:buNone/>
            </a:pPr>
            <a:r>
              <a:rPr lang="en-US" sz="780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Bedrock Guardrails; grounded, cited answers; consequential action withheld in code until a human approves.</a:t>
            </a:r>
            <a:endParaRPr lang="en-US" sz="780" dirty="0"/>
          </a:p>
        </p:txBody>
      </p:sp>
      <p:sp>
        <p:nvSpPr>
          <p:cNvPr id="43" name="Text 41"/>
          <p:cNvSpPr/>
          <p:nvPr/>
        </p:nvSpPr>
        <p:spPr>
          <a:xfrm>
            <a:off x="4178808" y="8311896"/>
            <a:ext cx="2953512" cy="5120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780" b="1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Compliance posture — </a:t>
            </a:r>
            <a:pPr indent="0" marL="0">
              <a:lnSpc>
                <a:spcPct val="100000"/>
              </a:lnSpc>
              <a:buNone/>
            </a:pPr>
            <a:r>
              <a:rPr lang="en-US" sz="780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Bedrock FedRAMP High + DoD IL-4/5 in GovCloud; CJIS / IRS-1075 alignment; CloudTrail; ADA WCAG 2.1 AA.</a:t>
            </a:r>
            <a:endParaRPr lang="en-US" sz="780" dirty="0"/>
          </a:p>
        </p:txBody>
      </p:sp>
      <p:sp>
        <p:nvSpPr>
          <p:cNvPr id="44" name="Shape 42"/>
          <p:cNvSpPr/>
          <p:nvPr/>
        </p:nvSpPr>
        <p:spPr>
          <a:xfrm>
            <a:off x="457200" y="9144000"/>
            <a:ext cx="6858000" cy="457200"/>
          </a:xfrm>
          <a:prstGeom prst="roundRect">
            <a:avLst>
              <a:gd name="adj" fmla="val 10000"/>
            </a:avLst>
          </a:prstGeom>
          <a:solidFill>
            <a:srgbClr val="232F3E"/>
          </a:solidFill>
          <a:ln/>
        </p:spPr>
        <p:txBody>
          <a:bodyPr/>
          <a:p/>
        </p:txBody>
      </p:sp>
      <p:sp>
        <p:nvSpPr>
          <p:cNvPr id="45" name="Text 43"/>
          <p:cNvSpPr/>
          <p:nvPr/>
        </p:nvSpPr>
        <p:spPr>
          <a:xfrm>
            <a:off x="621792" y="9144000"/>
            <a:ext cx="6528816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830" b="1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Deploy: </a:t>
            </a:r>
            <a:pPr indent="0" marL="0">
              <a:lnSpc>
                <a:spcPct val="98000"/>
              </a:lnSpc>
              <a:buNone/>
            </a:pPr>
            <a:r>
              <a:rPr lang="en-US" sz="830" dirty="0">
                <a:solidFill>
                  <a:srgbClr val="C9D3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Standalone (own VPC/edge/identity/data/WORM audit) or + Whole-of-Government layer. Full CloudFormation + Terraform parity, commercial &amp; GovCloud (US).</a:t>
            </a:r>
            <a:endParaRPr lang="en-US" sz="830" dirty="0"/>
          </a:p>
        </p:txBody>
      </p:sp>
      <p:sp>
        <p:nvSpPr>
          <p:cNvPr id="46" name="Text 44"/>
          <p:cNvSpPr/>
          <p:nvPr/>
        </p:nvSpPr>
        <p:spPr>
          <a:xfrm>
            <a:off x="457200" y="9692640"/>
            <a:ext cx="68580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20" b="1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David Ryder  ·  AI Strategy &amp; Architecture Leader  ·  github.com/virtualryder/slg-ai-agents</a:t>
            </a:r>
            <a:endParaRPr lang="en-US" sz="820" dirty="0"/>
          </a:p>
        </p:txBody>
      </p:sp>
      <p:sp>
        <p:nvSpPr>
          <p:cNvPr id="47" name="Text 45"/>
          <p:cNvSpPr/>
          <p:nvPr/>
        </p:nvSpPr>
        <p:spPr>
          <a:xfrm>
            <a:off x="457200" y="9875520"/>
            <a:ext cx="68580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i="1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Figures are documented outcomes from named deployments, labeled by evidence tier; full citations in decks/DECK-SOURCES.md. Applied to a reference agency — not a guarantee.</a:t>
            </a:r>
            <a:endParaRPr lang="en-US" sz="700" dirty="0"/>
          </a:p>
        </p:txBody>
      </p:sp>
      <p:sp>
        <p:nvSpPr>
          <p:cNvPr id="48" name="TextBox 47"/>
          <p:cNvSpPr txBox="1"/>
          <p:nvPr/>
        </p:nvSpPr>
        <p:spPr>
          <a:xfrm>
            <a:off x="274320" y="9555480"/>
            <a:ext cx="7223760" cy="41148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l"/>
            <a:r>
              <a:rPr sz="700" i="1">
                <a:solidFill>
                  <a:srgbClr val="879296"/>
                </a:solidFill>
              </a:rPr>
              <a:t>Reference accelerator — not an AWS service, not AWS-supported software, not a compliance certification, and not production-ready for regulated data without customer-specific engineering, testing, authorization, and operational ownership. Built on AWS; not affiliated with or endorsed by Amazon Web Services.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2026-06-25T00:59:25Z</dcterms:created>
  <dcterms:modified xsi:type="dcterms:W3CDTF">2026-06-25T00:59:25Z</dcterms:modified>
</cp:coreProperties>
</file>