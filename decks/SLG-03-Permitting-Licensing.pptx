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The proof point here is bulletproof and government-issued: the Office of the Governor of California, April 30 2025, announcing an AI e-check plan-review tool — and Amazon is named as a contributing partner, which gives you the AWS thread. Lead with government, not vendor.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The headline quote is verbatim from the California .gov release: AI brings permitting from 'weeks and months' to 'hours or days.' That's a government source — no caveat needed. Then make it matter to taxpayers and CIOs with the NAHB numbers: regulation is over a quarter of a new home's price and 94% of developers say it causes delays. So speed isn't a convenience metric — it's housing affordability. NAHB is the authoritative homebuilding trade body; label it industry/analyst.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 sec] CIO: this is a backlog and constituent-satisfaction problem with a hard economic tail. CISO: note that the agent pre-checks and advises — it does not issue. Architect: the code rules live in a knowledge base you control and version, so 'why was this flagged' is always answerable with a citation. Ask: how many of your review cycles are caused by incomplete or non-compliant submissions? That's exactly what pre-check removes.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[~70 sec] Emphasize the human gate for this regulated decision: a licensed reviewer issues the permit — issuance is withheld in code, the model never has that authority. That's the sentence that protects the agency legally. Steps 1-3 just make the human faster: applicants fix problems before submitting, and reviewers start from a structured first pass instead of a blank plan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[~80 sec] Standard governed backbone. For the architect, stress that the rules engine and code knowledge base are agency-owned and auditable. For the CISO: WORM audit means every issuance has an immutable record of what was checked and why — valuable in an appeal or a records request. Reuse the JWT/least-privilege walk-through.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Lead with the California government framing (weeks → hours/days), then the Austin ~50% zoning-review figure — be transparent that the 50% is Archistar's vendor number, though it carries a named City of Austin official's attribution, so present it as 'the City of Austin reports ~50%.' The 25+ municipalities line (Austin, Houston, Seattle, Colorado) is from the California release and shows this isn't experimental. Do NOT claim end-to-end issuance got faster by a fixed percent — the honest story is fewer correction cycles and faster valid submissions; reviewer judgment and legal authority are unchanged.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859536" cy="457200"/>
          </a:xfrm>
          <a:prstGeom prst="roundRect">
            <a:avLst>
              <a:gd name="adj" fmla="val 8000"/>
            </a:avLst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859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8288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Permitting &amp; Licensing Plan-Review Agent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pre-check that catches code issues before submission — governed, on AWS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292608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</a:t>
            </a:r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Architecture Leader   ·   github.com/virtualryder/slg-ai-agents   ·   June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WEEKS AND MONTHS TO HOURS AND DAYS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41248" y="1755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Permitting &amp; Licensing Plan-Review Agent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41248" y="22860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plan-review assistant that checks designs against local zoning and building codes before submission, flags issues for applicants to fix up front, and gives reviewers a structured first pass — so staff approve, not chase corrections. The issuance decision stays with a licensed human.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Weeks → hours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timeline with AI e-check, per the State of California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&gt;26%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69087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 new home's price is government regulation (NAHB, 2025)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94.2%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30275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developers say regulations routinely cause project delays (NAHB)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 ·   AI Strategy &amp; Architecture Leader   ·   github.com/virtualryder/slg-ai-agents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&amp; THE PROBLEM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 review is slow, iterative, and expensive — and the delay is a housing cost.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24942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and county building, planning and licensing departments where every submission triggers manual code checks, correction cycles, and resubmittals before anything is issued.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live with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5852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Reviewers manually check each plan against zoning and building codes.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Incomplete submissions bounce back, adding correction cycles and weeks.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Applicants wait without visibility; staff field status calls.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Permitting delay shows up directly in the price of housing and development.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40880" y="196596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26948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STATUS QUO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257860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Weeks–months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287768" y="309067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issue rebuilding permits at the local pace California flagged as too slow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362102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367588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&gt;26%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287768" y="418795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a new single-family home's price driven by regulation (NAHB)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471830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77316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94.2%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287768" y="528523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developers report regulation-driven project delays (NAHB)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Office of the Governor of California, Apr 30 2025; NAHB 2025. See DECK-SOURCES.md.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WORKFLOW — GOVERNED, 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Pre-check → flag → structure → human-issue — fewer correction cycles, faster valid submissions.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Pre-check the plan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87552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+ rules check designs against local codes before submittal.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rules engine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70296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728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4187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314187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4187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for the applicant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4187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specific, cited code issues so plans are fixed up front.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4187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Bases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4857293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1613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96205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5296205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96205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the review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96205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staff a first-pass summary and a checklist, not a blank slate.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96205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gateway + connectors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7011619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85939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01A88D"/>
          </a:solidFill>
          <a:ln w="12700">
            <a:solidFill>
              <a:srgbClr val="0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0531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50531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A8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71739" y="2167128"/>
            <a:ext cx="11210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50531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issues the permit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50531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licensed reviewer makes the issuance decision — never the model.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50531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916594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44026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485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5" name="Text 33"/>
          <p:cNvSpPr/>
          <p:nvPr/>
        </p:nvSpPr>
        <p:spPr>
          <a:xfrm>
            <a:off x="960485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0485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&amp; audit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0485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the review, citations and decision to a WORM trail.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0485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+ CloudTrail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6316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5840" y="5358384"/>
            <a:ext cx="457200" cy="45720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600200" y="5230368"/>
            <a:ext cx="9601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withheld in code until a human approves.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accelerates the review; a licensed human issues the permit. Issuance is withheld in code.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REFERENCE ARCHITECTURE — BUILT FOR A REGULATED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Code-aware pre-check that shortens review while keeping issuance a licensed human decision.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147E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310896" cy="310896"/>
          </a:xfrm>
          <a:prstGeom prst="ellipse">
            <a:avLst/>
          </a:prstGeom>
          <a:solidFill>
            <a:srgbClr val="147EB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/ Staff channel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phone · kiosk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2150146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51314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42754" y="1691640"/>
            <a:ext cx="310896" cy="310896"/>
          </a:xfrm>
          <a:prstGeom prst="ellipse">
            <a:avLst/>
          </a:prstGeom>
          <a:solidFill>
            <a:srgbClr val="DD344C"/>
          </a:solidFill>
          <a:ln/>
        </p:spPr>
      </p:sp>
      <p:sp>
        <p:nvSpPr>
          <p:cNvPr id="12" name="Text 10"/>
          <p:cNvSpPr/>
          <p:nvPr/>
        </p:nvSpPr>
        <p:spPr>
          <a:xfrm>
            <a:off x="2442754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1042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1042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 + Shield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678501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79669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1109" y="1691640"/>
            <a:ext cx="310896" cy="310896"/>
          </a:xfrm>
          <a:prstGeom prst="ellipse">
            <a:avLst/>
          </a:prstGeom>
          <a:solidFill>
            <a:srgbClr val="8C4FFF"/>
          </a:solidFill>
          <a:ln/>
        </p:spPr>
      </p:sp>
      <p:sp>
        <p:nvSpPr>
          <p:cNvPr id="18" name="Text 16"/>
          <p:cNvSpPr/>
          <p:nvPr/>
        </p:nvSpPr>
        <p:spPr>
          <a:xfrm>
            <a:off x="3971109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89397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Cognito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89397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→ JWT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206855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08023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9463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99463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17751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17751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authorizer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735209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36377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7817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027817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6105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gateway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6105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· least privilege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263563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64731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01A88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6171" y="1691640"/>
            <a:ext cx="310896" cy="310896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36" name="Text 34"/>
          <p:cNvSpPr/>
          <p:nvPr/>
        </p:nvSpPr>
        <p:spPr>
          <a:xfrm>
            <a:off x="8556171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74459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Bedrock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4459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+ Strands/LangGraph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9791918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993086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7AA11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84526" y="1691640"/>
            <a:ext cx="310896" cy="310896"/>
          </a:xfrm>
          <a:prstGeom prst="ellipse">
            <a:avLst/>
          </a:prstGeom>
          <a:solidFill>
            <a:srgbClr val="7AA116"/>
          </a:solidFill>
          <a:ln/>
        </p:spPr>
      </p:sp>
      <p:sp>
        <p:nvSpPr>
          <p:cNvPr id="42" name="Text 40"/>
          <p:cNvSpPr/>
          <p:nvPr/>
        </p:nvSpPr>
        <p:spPr>
          <a:xfrm>
            <a:off x="10084526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02814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→ action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02814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then tools + data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822960" y="320040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flow:  </a:t>
            </a:r>
            <a:pPr indent="0" marL="0">
              <a:lnSpc>
                <a:spcPct val="105000"/>
              </a:lnSpc>
              <a:buNone/>
            </a:pPr>
            <a:r>
              <a:rPr lang="en-US" sz="107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authenticates to the agency IdP, which Amazon Cognito federates into a signed JWT. API Gateway validates the JWT; the MCP gateway re-validates the custom:slg_role claim and issues a scoped, time-boxed token so the agent can call only the tools that role is entitled to (agent grant ∩ user entitlement). Bedrock Guardrails filter every prompt and response; the consequential action is held at the human gate. Every step writes to CloudTrail and a WORM (S3 Object Lock) audit log.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82296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REGULATED-ENVIRONMENT CONTROLS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50976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3502152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1" name="Text 49"/>
          <p:cNvSpPr/>
          <p:nvPr/>
        </p:nvSpPr>
        <p:spPr>
          <a:xfrm>
            <a:off x="3630168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630168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6181344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860536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7" name="Text 55"/>
          <p:cNvSpPr/>
          <p:nvPr/>
        </p:nvSpPr>
        <p:spPr>
          <a:xfrm>
            <a:off x="8988552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822960" y="571500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2C3B4E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760720"/>
            <a:ext cx="10149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models: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(standalone) — each agent ships its own VPC, edge, Cognito, data and WORM audit stack, deployable by one CloudFormation/Terraform quickstart. Model B (+ Whole-of-Government) — adds shared canonical data, saga orchestration and a compliance event bus. GovCloud (US) uses the portable gateway path.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77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Valid plans the first time; reviewers freed to decide.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Weeks → hours/days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4241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process with AI e-check, per the Governor of California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4128" y="3118104"/>
            <a:ext cx="987552" cy="256032"/>
          </a:xfrm>
          <a:prstGeom prst="rect">
            <a:avLst>
              <a:gd name="adj" fmla="val 14286"/>
            </a:avLst>
          </a:prstGeom>
          <a:solidFill>
            <a:srgbClr val="0E7C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1960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2076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~50%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63905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zoning-review time saved with AI pre-check, City of Austin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20768" y="3118104"/>
            <a:ext cx="226222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 · NAMED GOV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01624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740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25+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823569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municipalities already using AI plan-review (Austin, Houston, Seattle, CO…)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17408" y="3118104"/>
            <a:ext cx="987552" cy="256032"/>
          </a:xfrm>
          <a:prstGeom prst="rect">
            <a:avLst>
              <a:gd name="adj" fmla="val 14286"/>
            </a:avLst>
          </a:prstGeom>
          <a:solidFill>
            <a:srgbClr val="0E7C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2960" y="3730752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3A4B5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76472"/>
            <a:ext cx="10149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case: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correction cycle removed is days off the clock for a resident or a builder — and permitting delay is a measurable housing cost. The agency keeps the same legal authority and reviewer judgment, but spends it on decisions instead of chasing incomplete paperwork.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tier. Vendor-reported vs. government/peer-reviewed sourcing in DECK-SOURCES.md. Improvement applied to a reference agency — not a guarantee.</a:t>
            </a:r>
            <a:endParaRPr lang="en-US" sz="8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rebuchet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2026-06-25T00:54:05Z</dcterms:created>
  <dcterms:modified xsi:type="dcterms:W3CDTF">2026-06-25T00:54:05Z</dcterms:modified>
</cp:coreProperties>
</file>