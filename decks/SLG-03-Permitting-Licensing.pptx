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~1.5 min. 'A building permit can touch five departments, and the applicant can't see any of them.' Set up cycle time as an economic-development lever, not just an admin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~2.5 min. US average first commercial plan review is ~19 business days (Permit Place 2026). Honolulu's AI plan review cut days-to-decision from 73 to 32.5 (−55%, Clariti — flag as vendor-reported). And the macro: peer-reviewed work (Soltas &amp; Gruber, 2026) attributes about a third of the price-vs-cost gap to permitting friction. This is a housing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 min. Situation → need. The constraint: the agent can recommend completeness, but issuance and code interpretation stay with an official. Distinguish deterministic code rules from discretionary judgment — that distinction is the engineering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 Walk the steps. The green gate is the permit tech; issuance is a separate, withheld action held by an official — call out that it's enforced in code (a passing test), not a policy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~5 min. Standard architecture; note GIS (Esri/Amazon Location) and the optional RPA/computer-use bridge for legacy permitting systems without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 min. Honolulu's vendor-reported outcomes: 55% faster decisions, 70% less residential review time, 67% fewer corrections. Be candid these are early, vendor-reported figures. Close: this is also the 'new business' life-event saga's permit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C0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Permitting &amp; Licensing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 governed agent that identifies the right permit, explains requirements, checks parcel/zoning, prefills and routes the package — while issuance stays with an authorized official.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David Ryder   ·   AI Strategy &amp; Architecture Leader   ·   github.com/virtualryder/slg-ai-agents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73 DAYS TO 33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Permitting &amp; Licensing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</a:rPr>
              <a:t>Permits cross zoning, planning, fire and engineering with no shared view. AI plan-review and routing compress cycle time — while a human official still issues the permit.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 days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US average first commercial plan review (median 14; 11% take &gt;30)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Permit Place Index,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→ 33 days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days-to-decision with AI plan review (Honolulu, −55%)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Clariti / Honolulu DPP,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~⅓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4370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of the home price-vs-cost gap is explained by permitting friction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E0"/>
                </a:solidFill>
              </a:rPr>
              <a:t>Soltas &amp; Gruber,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</a:rPr>
              <a:t>David Ryder   ·   AI Strategy &amp; Architecture Leader   ·   github.com/virtualryder/slg-ai-agents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CUSTOMER &amp;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Multi-department reviews and opaque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611880"/>
          </a:xfrm>
          <a:prstGeom prst="roundRect">
            <a:avLst>
              <a:gd name="adj" fmla="val 151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Zoning, planning, fire, engineering — parallel reviews no one can see across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Applicants can't tell what's missing or which agency is holding the case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Incomplete submissions create rework loops that add weeks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</a:rPr>
              <a:t>Slow permits delay housing, business, and tax revenue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</a:rPr>
              <a:t>WHAT THEY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Business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compress cycle time, raise first-submission completeness, and unblock economic development.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Technical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check parcel/zoning/GIS, prefill applications, and route packages to required reviewers in parallel.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2E8BC0"/>
                </a:solidFill>
              </a:rPr>
              <a:t>Regulatory  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B2440"/>
                </a:solidFill>
              </a:rPr>
              <a:t>local code interpretation and issuance remain an authorized official's decision.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design constraint that shaped everything: 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The agent recommends an application is complete; permit issuance and code interpretation stay with a human official.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C0"/>
                </a:solidFill>
              </a:rPr>
              <a:t>THE SOLUTION — GOVERNED WORKFLOW, HUMAN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→ prefill → route in parallel, with issuance held for a human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classify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identify permit 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174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462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26746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633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+ GIS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checklist · parcel/zoning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0799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Prefill application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799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from approved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965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965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code rule vs. discretion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2F8F5B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1131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131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permit tech approves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98380" y="1554480"/>
            <a:ext cx="1623060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81260" y="1737360"/>
            <a:ext cx="384048" cy="384048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12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2972" y="2212848"/>
            <a:ext cx="1293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route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62972" y="2670048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8"/>
                </a:solidFill>
              </a:rPr>
              <a:t>parallel reviews · audit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EVIDENCE ASSEMBLY — automated (Bedrock Claude + governed MCP tool calls)   ·   then a framework-enforced human gate (interrupt_before)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Issuance withheld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permitting.issue_permit is absent from the agent's grants in code — an official issues. Verified by test.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vs. judgment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The agent distinguishes a deterministic code rule from a discretionary official judgment.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logged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40"/>
                </a:solidFill>
              </a:rPr>
              <a:t>Parallel routing and approvals land in one examiner-ready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AWS ARCHITECTURE &amp; TRAFFIC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Permitting &amp; Licensing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5097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2"/>
                </a:solidFill>
              </a:rPr>
              <a:t>DEPLOYMENT MODEL:  </a:t>
            </a:r>
            <a:pPr indent="0" marL="0">
              <a:buNone/>
            </a:pPr>
            <a:r>
              <a:rPr lang="en-US" sz="900" dirty="0">
                <a:solidFill>
                  <a:srgbClr val="5B4708"/>
                </a:solidFill>
              </a:rPr>
              <a:t>STANDALONE-DEPLOYABLE — own VPC · CloudFront + WAF edge · KMS · WORM audit · gateway · human gate. No WoG dependency; the Whole-of-Government platform is optional and additive.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993392" cy="3310128"/>
          </a:xfrm>
          <a:prstGeom prst="roundRect">
            <a:avLst>
              <a:gd name="adj" fmla="val 2294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99616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EXTERNAL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55648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Residents / agency staff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36406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340864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IdP — SAML/OIDC · MFA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108960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Agency systems (on-prem)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773936" cy="512064"/>
          </a:xfrm>
          <a:prstGeom prst="roundRect">
            <a:avLst>
              <a:gd name="adj" fmla="val 7143"/>
            </a:avLst>
          </a:prstGeom>
          <a:solidFill>
            <a:srgbClr val="4A5687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694176"/>
            <a:ext cx="16642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External data sources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66928" y="4334256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488"/>
                </a:solidFill>
              </a:rPr>
              <a:t>PrivateLink / Direct Connect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15184" y="1444752"/>
            <a:ext cx="9116568" cy="3310128"/>
          </a:xfrm>
          <a:prstGeom prst="roundRect">
            <a:avLst>
              <a:gd name="adj" fmla="val 1381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499616"/>
            <a:ext cx="8897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AWS CLOUD — per-customer VPC / dedicated account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EDGE / PUBLIC SUBNET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52928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07792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CloudFront + WAF + Shield (TLS 1.2+)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61488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52928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07792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API Gateway / ALB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852928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7792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Cognito — SAML → JWT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61488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6148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58384" y="1773936"/>
            <a:ext cx="2505456" cy="2852928"/>
          </a:xfrm>
          <a:prstGeom prst="roundRect">
            <a:avLst>
              <a:gd name="adj" fmla="val 1825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PRIVATE SUBNET — COMPUTE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112" y="2066544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22976" y="2066544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Agent runtime — Step Functions + Lambda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376672" y="19933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68112" y="2724912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22976" y="2724912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MCP authorization gateway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376672" y="2651760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0" name="Text 38"/>
          <p:cNvSpPr/>
          <p:nvPr/>
        </p:nvSpPr>
        <p:spPr>
          <a:xfrm>
            <a:off x="5376672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68112" y="338328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22976" y="3383280"/>
            <a:ext cx="21762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SQS queue + DLQ · HITL gate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376672" y="331012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44" name="Text 42"/>
          <p:cNvSpPr/>
          <p:nvPr/>
        </p:nvSpPr>
        <p:spPr>
          <a:xfrm>
            <a:off x="5376672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73568" y="1773936"/>
            <a:ext cx="3657600" cy="2852928"/>
          </a:xfrm>
          <a:prstGeom prst="roundRect">
            <a:avLst>
              <a:gd name="adj" fmla="val 1603"/>
            </a:avLst>
          </a:prstGeom>
          <a:solidFill>
            <a:srgbClr val="F4F7FE"/>
          </a:solidFill>
          <a:ln w="12700">
            <a:solidFill>
              <a:srgbClr val="C2D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18196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MODEL LAYER — VPC ENDPOINT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92440" y="2048256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47304" y="2048256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Amazon Bedrock — Claude Sonnet + Haiku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001000" y="1975104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92440" y="2633472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47304" y="2633472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Bedrock Guardrails — PII &amp; content (mandatory)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8083296" y="32186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2761"/>
                </a:solidFill>
              </a:rPr>
              <a:t>DATA TIER — KMS CMK per data class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3438144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147304" y="3438144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DynamoDB — append-only audit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001000" y="3364992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92440" y="4023360"/>
            <a:ext cx="3419856" cy="512064"/>
          </a:xfrm>
          <a:prstGeom prst="roundRect">
            <a:avLst>
              <a:gd name="adj" fmla="val 7143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47304" y="4023360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S3 Object Lock (WORM) · state · Secrets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001000" y="3950208"/>
            <a:ext cx="274320" cy="274320"/>
          </a:xfrm>
          <a:prstGeom prst="ellipse">
            <a:avLst/>
          </a:prstGeom>
          <a:solidFill>
            <a:srgbClr val="E0A53B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40864" y="3520440"/>
            <a:ext cx="402336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38928" y="2322576"/>
            <a:ext cx="329184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54112" y="2304288"/>
            <a:ext cx="338328" cy="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112" y="3383280"/>
            <a:ext cx="0" cy="228600"/>
          </a:xfrm>
          <a:prstGeom prst="line">
            <a:avLst/>
          </a:prstGeom>
          <a:noFill/>
          <a:ln w="19050">
            <a:solidFill>
              <a:srgbClr val="8FA0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82803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</a:rPr>
              <a:t>SECURITY &amp; OPS:  </a:t>
            </a:r>
            <a:pPr indent="0" marL="0">
              <a:buNone/>
            </a:pPr>
            <a:r>
              <a:rPr lang="en-US" sz="930" dirty="0">
                <a:solidFill>
                  <a:srgbClr val="1B2440"/>
                </a:solidFill>
              </a:rPr>
              <a:t>KMS (CMK per data class) · IAM least-privilege · CloudWatch · CloudTrail · X-Ray · GuardDuty · Security Hub + Config · data-class isolation (CJI/FTI/PHI/EDU/public)</a:t>
            </a:r>
            <a:endParaRPr lang="en-US" sz="930" dirty="0"/>
          </a:p>
        </p:txBody>
      </p:sp>
      <p:sp>
        <p:nvSpPr>
          <p:cNvPr id="68" name="Text 66"/>
          <p:cNvSpPr/>
          <p:nvPr/>
        </p:nvSpPr>
        <p:spPr>
          <a:xfrm>
            <a:off x="457200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C0"/>
                </a:solidFill>
              </a:rPr>
              <a:t>TRAFFIC FLOW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541264"/>
            <a:ext cx="5623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1  Resident/staff sign in at the agency IdP (SAML/OIDC, MFA). Amazon Cognito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2  CloudFront + AWS WAF inspect, filter and rate-limit the request; API Gatew…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3  The MCP gateway re-validates the JWT and its custom:slg_role claim and aut…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4  For each authorized call the gateway mints a short-lived, tool-scoped toke…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6172200" y="5541264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5  Model calls stay inside AWS via a Bedrock VPC endpoint; Guardrails filter 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6  Workflow pauses at the human-review gate (Step Functions waitForTaskToken)…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7  On approval the action commits; case state, append-only audit and finalize…</a:t>
            </a:r>
            <a:endParaRPr lang="en-US" sz="9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30" dirty="0">
                <a:solidFill>
                  <a:srgbClr val="1B2440"/>
                </a:solidFill>
              </a:rPr>
              <a:t>8  Every step — node, timestamp, JWT subject/actor, data sources, model versi…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TRADEOFFS, RESULTS &amp;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what it honestly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MEASURED OUTCOMES (illustrative for a reference agency; sources cited)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faster days-to-decision (Honolulu)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3872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less review time (Honolulu residential)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08776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fewer corrections per permit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78824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first-submission completeness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DELIBERATE 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Issuance withheld from the agent — caps automation at the regulated decision boundary.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Deterministic rules engine outside the LLM for code checks; the agent orchestrates and explains.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RPA/computer-use bridge for legacy permitting GUIs until APIs exist (documented).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WHAT'S NEXT (V2)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Multi-agent parallel review (planning/fire/engineering) on Step Functions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Bedrock Knowledge Bases for municipal-code RAG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40"/>
                </a:solidFill>
              </a:rPr>
              <a:t>Live Accela/Tyler connectors replacing fixtures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The takeaway:  </a:t>
            </a:r>
            <a:pPr indent="0" marL="0">
              <a:buNone/>
            </a:pPr>
            <a:r>
              <a:rPr lang="en-US" sz="1250" i="1" dirty="0">
                <a:solidFill>
                  <a:srgbClr val="1B2440"/>
                </a:solidFill>
              </a:rPr>
              <a:t>permitting speed drives housing and revenue — accelerate the package, keep issuance human.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8"/>
                </a:solidFill>
              </a:rPr>
              <a:t>Sources: Permit Place Index 2026  ·  Clariti/Honolulu DPP 2026 (vendor-reported)  ·  Soltas &amp; Gruber 2026 (MIT/Princeton)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Permitting &amp; Licensing</dc:title>
  <dc:subject>PptxGenJS Presentation</dc:subject>
  <dc:creator>David Ryder</dc:creator>
  <cp:lastModifiedBy>David Ryder</cp:lastModifiedBy>
  <cp:revision>1</cp:revision>
  <dcterms:created xsi:type="dcterms:W3CDTF">2026-06-23T21:11:26Z</dcterms:created>
  <dcterms:modified xsi:type="dcterms:W3CDTF">2026-06-23T21:11:26Z</dcterms:modified>
</cp:coreProperties>
</file>