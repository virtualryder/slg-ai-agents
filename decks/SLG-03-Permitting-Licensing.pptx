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~1.5 min. 'A building permit can touch five departments, and the applicant can't see any of them.' Set up cycle time as an economic-development lever, not just an admin metric.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~2.5 min. US average first commercial plan review is ~19 business days (Permit Place 2026). Honolulu's AI plan review cut days-to-decision from 73 to 32.5 (−55%, Clariti — flag as vendor-reported). And the macro: peer-reviewed work (Soltas &amp; Gruber, 2026) attributes about a third of the price-vs-cost gap to permitting friction. This is a housing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~3 min. Situation → need. The constraint: the agent can recommend completeness, but issuance and code interpretation stay with an official. Distinguish deterministic code rules from discretionary judgment — that distinction is the engineering challenge.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~4 min. Walk the steps. The green gate is the permit tech; issuance is a separate, withheld action held by an official — call out that it's enforced in code (a passing test), not a policy doc.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~5 min. Standard architecture; note GIS (Esri/Amazon Location) and the optional RPA/computer-use bridge for legacy permitting systems without APIs.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~4 min. Honolulu's vendor-reported outcomes: 55% faster decisions, 70% less residential review time, 67% fewer corrections. Be candid these are early, vendor-reported figures. Close: this is also the 'new business' life-event saga's permit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E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011680"/>
            <a:ext cx="5669280" cy="56692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206240"/>
            <a:ext cx="3291840" cy="3291840"/>
          </a:xfrm>
          <a:prstGeom prst="ellipse">
            <a:avLst/>
          </a:prstGeom>
          <a:solidFill>
            <a:srgbClr val="2A376E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8288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8BC0"/>
                </a:solidFill>
              </a:rPr>
              <a:t>SLG AI AGENT SUITE  ·  BUILT ON AWS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286000"/>
            <a:ext cx="10607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Permitting &amp; Licensing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77240" y="3886200"/>
            <a:ext cx="10241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</a:rPr>
              <a:t>A governed agent that identifies the right permit, explains requirements, checks parcel/zoning, prefills and routes the package — while issuance stays with an authorized official.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David Ryder   ·   AI Strategy &amp; Architecture Leader   ·   github.com/virtualryder/slg-ai-agents   ·   June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73 DAYS TO 33 DAYS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77240" y="10972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Permitting &amp; Licensing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96596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CADCFC"/>
                </a:solidFill>
              </a:rPr>
              <a:t>Permits cross zoning, planning, fire and engineering with no shared view. AI plan-review and routing compress cycle time — while a human official still issues the permit.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772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19.2 days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10058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US average first commercial plan review (median 14; 11% take &gt;30)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Permit Place Index, 2026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4348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4348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 → 33 days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46634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days-to-decision with AI plan review (Honolulu, −55%)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177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Clariti / Honolulu DPP, 2026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0924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0924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~⅓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83210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of the home price-vs-cost gap is explained by permitting friction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753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Soltas &amp; Gruber, 2026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772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E0"/>
                </a:solidFill>
              </a:rPr>
              <a:t>David Ryder   ·   AI Strategy &amp; Architecture Leader   ·   github.com/virtualryder/slg-ai-agents   ·   June 2026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THE CUSTOMER &amp; 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Multi-department reviews and opaque status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486400" cy="3611880"/>
          </a:xfrm>
          <a:prstGeom prst="roundRect">
            <a:avLst>
              <a:gd name="adj" fmla="val 151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830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2761"/>
                </a:solidFill>
              </a:rPr>
              <a:t>THE SITUATION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50292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Zoning, planning, fire, engineering — parallel reviews no one can see across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Applicants can't tell what's missing or which agency is holding the case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Incomplete submissions create rework loops that add weeks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Slow permits delay housing, business, and tax revenue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355080" y="1600200"/>
            <a:ext cx="5166360" cy="361188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0" y="1783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2761"/>
                </a:solidFill>
              </a:rPr>
              <a:t>WHAT THEY NEED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0" y="2194560"/>
            <a:ext cx="47548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Business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compress cycle time, raise first-submission completeness, and unblock economic development.</a:t>
            </a:r>
            <a:endParaRPr lang="en-US" sz="1250" dirty="0"/>
          </a:p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Technical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check parcel/zoning/GIS, prefill applications, and route packages to required reviewers in parallel.</a:t>
            </a:r>
            <a:endParaRPr lang="en-US" sz="1250" dirty="0"/>
          </a:p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Regulatory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local code interpretation and issuance remain an authorized official's decision.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5349240"/>
            <a:ext cx="10881360" cy="96012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544068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The design constraint that shaped everything:  </a:t>
            </a:r>
            <a:pPr indent="0" marL="0">
              <a:buNone/>
            </a:pPr>
            <a:r>
              <a:rPr lang="en-US" sz="1350" i="1" dirty="0">
                <a:solidFill>
                  <a:srgbClr val="CADCFC"/>
                </a:solidFill>
              </a:rPr>
              <a:t>The agent recommends an application is complete; permit issuance and code interpretation stay with a human official.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E8BC0"/>
                </a:solidFill>
              </a:rPr>
              <a:t>THE SOLUTION — GOVERNED WORKFLOW, HUMAN DECISIONS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→ prefill → route in parallel, with issuance held for a human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Intake &amp; classify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0467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identify permit type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49174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67462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11" name="Text 9"/>
          <p:cNvSpPr/>
          <p:nvPr/>
        </p:nvSpPr>
        <p:spPr>
          <a:xfrm>
            <a:off x="267462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65633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Requirements + GIS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65633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checklist · parcel/zoning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2628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16" name="Text 14"/>
          <p:cNvSpPr/>
          <p:nvPr/>
        </p:nvSpPr>
        <p:spPr>
          <a:xfrm>
            <a:off x="452628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0799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Prefill application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0799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from approved data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506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7794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21" name="Text 19"/>
          <p:cNvSpPr/>
          <p:nvPr/>
        </p:nvSpPr>
        <p:spPr>
          <a:xfrm>
            <a:off x="637794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35965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35965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code rule vs. discretion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04672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2F8F5B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229600" y="173736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8229600" y="173736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8F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1131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GATE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21131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permit tech approves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989838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1008126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33" name="Text 31"/>
          <p:cNvSpPr/>
          <p:nvPr/>
        </p:nvSpPr>
        <p:spPr>
          <a:xfrm>
            <a:off x="1008126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006297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 &amp; route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1006297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parallel reviews · audit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40080" y="324612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488"/>
                </a:solidFill>
              </a:rPr>
              <a:t>EVIDENCE ASSEMBLY — automated (Bedrock Claude + governed MCP tool calls)   ·   then a framework-enforced human gate (interrupt_before)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4008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86868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Issuance withheld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6868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permitting.issue_permit is absent from the agent's grants in code — an official issues. Verified by test.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34340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457200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 vs. judgment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457200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The agent distinguishes a deterministic code rule from a discretionary official judgment.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04672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827532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action logged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827532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Parallel routing and approvals land in one examiner-ready audit trail.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AWS ARCHITECTURE &amp; TRAFFIC FLOW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Permitting &amp; Licensing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950976"/>
            <a:ext cx="11274552" cy="365760"/>
          </a:xfrm>
          <a:prstGeom prst="roundRect">
            <a:avLst>
              <a:gd name="adj" fmla="val 10000"/>
            </a:avLst>
          </a:prstGeom>
          <a:solidFill>
            <a:srgbClr val="FBF3D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950976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6B12"/>
                </a:solidFill>
              </a:rPr>
              <a:t>DEPLOYMENT MODEL:  </a:t>
            </a:r>
            <a:pPr indent="0" marL="0">
              <a:buNone/>
            </a:pPr>
            <a:r>
              <a:rPr lang="en-US" sz="900" dirty="0">
                <a:solidFill>
                  <a:srgbClr val="5B4708"/>
                </a:solidFill>
              </a:rPr>
              <a:t>STANDALONE-DEPLOYABLE — own VPC · CloudFront + WAF edge · KMS · WORM audit · gateway · human gate. No WoG dependency; the Whole-of-Government platform is optional and additive.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444752"/>
            <a:ext cx="1993392" cy="3310128"/>
          </a:xfrm>
          <a:prstGeom prst="roundRect">
            <a:avLst>
              <a:gd name="adj" fmla="val 2294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499616"/>
            <a:ext cx="1773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EXTERNAL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66928" y="1755648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36406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1792" y="1755648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Residents / agency staff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566928" y="2340864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36406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1792" y="2340864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Agency IdP — SAML/OIDC · MFA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566928" y="3108960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4A5687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21792" y="3108960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Agency systems (on-prem)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566928" y="3694176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4A5687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" y="3694176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External data sources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566928" y="4334256"/>
            <a:ext cx="1773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B6488"/>
                </a:solidFill>
              </a:rPr>
              <a:t>PrivateLink / Direct Connect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2615184" y="1444752"/>
            <a:ext cx="9116568" cy="3310128"/>
          </a:xfrm>
          <a:prstGeom prst="roundRect">
            <a:avLst>
              <a:gd name="adj" fmla="val 1381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24912" y="1499616"/>
            <a:ext cx="88971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AWS CLOUD — per-customer VPC / dedicated account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743200" y="1773936"/>
            <a:ext cx="2505456" cy="2852928"/>
          </a:xfrm>
          <a:prstGeom prst="roundRect">
            <a:avLst>
              <a:gd name="adj" fmla="val 1825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52928" y="1828800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EDGE / PUBLIC SUBNET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852928" y="2066544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2907792" y="2066544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CloudFront + WAF + Shield (TLS 1.2+)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2761488" y="19933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24" name="Text 22"/>
          <p:cNvSpPr/>
          <p:nvPr/>
        </p:nvSpPr>
        <p:spPr>
          <a:xfrm>
            <a:off x="2761488" y="19933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852928" y="2724912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2907792" y="2724912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API Gateway / ALB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2852928" y="3383280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2907792" y="3383280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Amazon Cognito — SAML → JWT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2761488" y="331012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30" name="Text 28"/>
          <p:cNvSpPr/>
          <p:nvPr/>
        </p:nvSpPr>
        <p:spPr>
          <a:xfrm>
            <a:off x="2761488" y="331012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358384" y="1773936"/>
            <a:ext cx="2505456" cy="2852928"/>
          </a:xfrm>
          <a:prstGeom prst="roundRect">
            <a:avLst>
              <a:gd name="adj" fmla="val 1825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68112" y="1828800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PRIVATE SUBNET — COMPUTE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468112" y="2066544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5522976" y="2066544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Agent runtime — Step Functions + Lambda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5376672" y="19933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36" name="Text 34"/>
          <p:cNvSpPr/>
          <p:nvPr/>
        </p:nvSpPr>
        <p:spPr>
          <a:xfrm>
            <a:off x="5376672" y="19933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468112" y="2724912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5522976" y="2724912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MCP authorization gateway</a:t>
            </a:r>
            <a:endParaRPr lang="en-US" sz="880" dirty="0"/>
          </a:p>
        </p:txBody>
      </p:sp>
      <p:sp>
        <p:nvSpPr>
          <p:cNvPr id="39" name="Shape 37"/>
          <p:cNvSpPr/>
          <p:nvPr/>
        </p:nvSpPr>
        <p:spPr>
          <a:xfrm>
            <a:off x="5376672" y="2651760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40" name="Text 38"/>
          <p:cNvSpPr/>
          <p:nvPr/>
        </p:nvSpPr>
        <p:spPr>
          <a:xfrm>
            <a:off x="5376672" y="26517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468112" y="3383280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5522976" y="3383280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SQS queue + DLQ · HITL gate</a:t>
            </a:r>
            <a:endParaRPr lang="en-US" sz="880" dirty="0"/>
          </a:p>
        </p:txBody>
      </p:sp>
      <p:sp>
        <p:nvSpPr>
          <p:cNvPr id="43" name="Shape 41"/>
          <p:cNvSpPr/>
          <p:nvPr/>
        </p:nvSpPr>
        <p:spPr>
          <a:xfrm>
            <a:off x="5376672" y="331012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44" name="Text 42"/>
          <p:cNvSpPr/>
          <p:nvPr/>
        </p:nvSpPr>
        <p:spPr>
          <a:xfrm>
            <a:off x="5376672" y="331012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7973568" y="1773936"/>
            <a:ext cx="3657600" cy="2852928"/>
          </a:xfrm>
          <a:prstGeom prst="roundRect">
            <a:avLst>
              <a:gd name="adj" fmla="val 1603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083296" y="1819656"/>
            <a:ext cx="3419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MODEL LAYER — VPC ENDPOINT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8092440" y="2048256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8147304" y="2048256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Amazon Bedrock — Claude Sonnet + Haiku</a:t>
            </a:r>
            <a:endParaRPr lang="en-US" sz="880" dirty="0"/>
          </a:p>
        </p:txBody>
      </p:sp>
      <p:sp>
        <p:nvSpPr>
          <p:cNvPr id="49" name="Shape 47"/>
          <p:cNvSpPr/>
          <p:nvPr/>
        </p:nvSpPr>
        <p:spPr>
          <a:xfrm>
            <a:off x="8001000" y="1975104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50" name="Text 48"/>
          <p:cNvSpPr/>
          <p:nvPr/>
        </p:nvSpPr>
        <p:spPr>
          <a:xfrm>
            <a:off x="8001000" y="197510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092440" y="2633472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8147304" y="2633472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Bedrock Guardrails — PII &amp; content (mandatory)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8083296" y="3218688"/>
            <a:ext cx="3419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DATA TIER — KMS CMK per data class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8092440" y="3438144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8147304" y="3438144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DynamoDB — append-only audit</a:t>
            </a:r>
            <a:endParaRPr lang="en-US" sz="880" dirty="0"/>
          </a:p>
        </p:txBody>
      </p:sp>
      <p:sp>
        <p:nvSpPr>
          <p:cNvPr id="56" name="Shape 54"/>
          <p:cNvSpPr/>
          <p:nvPr/>
        </p:nvSpPr>
        <p:spPr>
          <a:xfrm>
            <a:off x="8001000" y="33649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57" name="Text 55"/>
          <p:cNvSpPr/>
          <p:nvPr/>
        </p:nvSpPr>
        <p:spPr>
          <a:xfrm>
            <a:off x="8001000" y="33649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8092440" y="4023360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147304" y="4023360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S3 Object Lock (WORM) · state · Secrets</a:t>
            </a:r>
            <a:endParaRPr lang="en-US" sz="880" dirty="0"/>
          </a:p>
        </p:txBody>
      </p:sp>
      <p:sp>
        <p:nvSpPr>
          <p:cNvPr id="60" name="Shape 58"/>
          <p:cNvSpPr/>
          <p:nvPr/>
        </p:nvSpPr>
        <p:spPr>
          <a:xfrm>
            <a:off x="8001000" y="395020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61" name="Text 59"/>
          <p:cNvSpPr/>
          <p:nvPr/>
        </p:nvSpPr>
        <p:spPr>
          <a:xfrm>
            <a:off x="8001000" y="39502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2340864" y="3520440"/>
            <a:ext cx="402336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138928" y="2322576"/>
            <a:ext cx="329184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754112" y="2304288"/>
            <a:ext cx="338328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611112" y="3383280"/>
            <a:ext cx="0" cy="22860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57200" y="4828032"/>
            <a:ext cx="11274552" cy="36576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/>
        </p:spPr>
      </p:sp>
      <p:sp>
        <p:nvSpPr>
          <p:cNvPr id="67" name="Text 65"/>
          <p:cNvSpPr/>
          <p:nvPr/>
        </p:nvSpPr>
        <p:spPr>
          <a:xfrm>
            <a:off x="640080" y="482803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1E2761"/>
                </a:solidFill>
              </a:rPr>
              <a:t>SECURITY &amp; OPS:  </a:t>
            </a:r>
            <a:pPr indent="0" marL="0">
              <a:buNone/>
            </a:pPr>
            <a:r>
              <a:rPr lang="en-US" sz="930" dirty="0">
                <a:solidFill>
                  <a:srgbClr val="1B2440"/>
                </a:solidFill>
              </a:rPr>
              <a:t>KMS (CMK per data class) · IAM least-privilege · CloudWatch · CloudTrail · X-Ray · GuardDuty · Security Hub + Config · data-class isolation (CJI/FTI/PHI/EDU/public)</a:t>
            </a:r>
            <a:endParaRPr lang="en-US" sz="930" dirty="0"/>
          </a:p>
        </p:txBody>
      </p:sp>
      <p:sp>
        <p:nvSpPr>
          <p:cNvPr id="68" name="Text 66"/>
          <p:cNvSpPr/>
          <p:nvPr/>
        </p:nvSpPr>
        <p:spPr>
          <a:xfrm>
            <a:off x="457200" y="5303520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E8BC0"/>
                </a:solidFill>
              </a:rPr>
              <a:t>TRAFFIC FLOW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457200" y="5541264"/>
            <a:ext cx="5623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1  Resident/staff sign in at the agency IdP (SAML/OIDC, MFA). Amazon Cognito 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2  CloudFront + AWS WAF inspect, filter and rate-limit the request; API Gatew…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3  The MCP gateway re-validates the JWT and its custom:slg_role claim and aut…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4  For each authorized call the gateway mints a short-lived, tool-scoped toke…</a:t>
            </a:r>
            <a:endParaRPr lang="en-US" sz="930" dirty="0"/>
          </a:p>
        </p:txBody>
      </p:sp>
      <p:sp>
        <p:nvSpPr>
          <p:cNvPr id="70" name="Text 68"/>
          <p:cNvSpPr/>
          <p:nvPr/>
        </p:nvSpPr>
        <p:spPr>
          <a:xfrm>
            <a:off x="6172200" y="5541264"/>
            <a:ext cx="55778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5  Model calls stay inside AWS via a Bedrock VPC endpoint; Guardrails filter 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6  Workflow pauses at the human-review gate (Step Functions waitForTaskToken)…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7  On approval the action commits; case state, append-only audit and finalize…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8  Every step — node, timestamp, JWT subject/actor, data sources, model versi…</a:t>
            </a:r>
            <a:endParaRPr lang="en-US" sz="9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TRADEOFFS, RESULTS &amp; WHAT'S NEXT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delivers — and what it honestly 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1828800"/>
          </a:xfrm>
          <a:prstGeom prst="roundRect">
            <a:avLst>
              <a:gd name="adj" fmla="val 30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91640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ADCFC"/>
                </a:solidFill>
              </a:rPr>
              <a:t>MEASURED OUTCOMES — documented results from named deployments &amp; published benchmarks (vendor-reported where noted)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−70%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68680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residential plan-review time (Honolulu)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538728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23→9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538728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corrections per plan (Honolulu)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208776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75→18 min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6208776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per-plan review time (Honolulu)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78824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2.3→1.4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8878824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review cycles per permit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3611880"/>
            <a:ext cx="5349240" cy="2057400"/>
          </a:xfrm>
          <a:prstGeom prst="roundRect">
            <a:avLst>
              <a:gd name="adj" fmla="val 2667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8680" y="376732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</a:rPr>
              <a:t>DELIBERATE TRADEOFFS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41148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Issuance withheld from the agent — caps automation at the regulated decision boundary.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Deterministic rules engine outside the LLM for code checks; the agent orchestrates and explains.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RPA/computer-use bridge for legacy permitting GUIs until APIs exist (documented).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72200" y="3611880"/>
            <a:ext cx="5349240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0800" y="376732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</a:rPr>
              <a:t>WHAT'S NEXT (V2)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46520" y="41148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Multi-agent parallel review (planning/fire/engineering) on Step Functions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Bedrock Knowledge Bases for municipal-code RAG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Live Accela/Tyler connectors replacing fixtures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580644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</a:rPr>
              <a:t>The takeaway:  </a:t>
            </a:r>
            <a:pPr indent="0" marL="0">
              <a:buNone/>
            </a:pPr>
            <a:r>
              <a:rPr lang="en-US" sz="1250" i="1" dirty="0">
                <a:solidFill>
                  <a:srgbClr val="1B2440"/>
                </a:solidFill>
              </a:rPr>
              <a:t>permitting speed drives housing and revenue — accelerate the package, keep issuance human.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488"/>
                </a:solidFill>
              </a:rPr>
              <a:t>Sources: CivCheck / Honolulu DPP 2024 pilot — vendor-reported, named city (−70% is review time; end-to-end issuance varies, Honolulu Civil Beat 2025)  ·  Permit Place Index 2026  ·  Soltas &amp; Gruber 2026 (MIT/Princeton)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Permitting &amp; Licensing</dc:title>
  <dc:subject>PptxGenJS Presentation</dc:subject>
  <dc:creator>David Ryder</dc:creator>
  <cp:lastModifiedBy>David Ryder</cp:lastModifiedBy>
  <cp:revision>1</cp:revision>
  <dcterms:created xsi:type="dcterms:W3CDTF">2026-06-23T21:28:11Z</dcterms:created>
  <dcterms:modified xsi:type="dcterms:W3CDTF">2026-06-23T21:28:11Z</dcterms:modified>
</cp:coreProperties>
</file>