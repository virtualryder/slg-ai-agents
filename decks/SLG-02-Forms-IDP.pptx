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[~30 sec] Position IDP as the plumbing under everything else — benefits, permits, records all start with a document. If you fix intake once, every downstream agent gets cleaner inputs. Good second agent to show after 311.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The 45-minutes-to-20-seconds number is real and recent: Anne Arundel County, Maryland, on AWS, February 2026 — Bedrock, Textract and Transcribe with Bedrock Guardrails and a human in the loop. Named CIO (Jack Martin). It's vendor-published but government-named and quote-rich, so label it that way. The ~1% error figure is the peer-reviewed JAMIA study on manual transcription — your strongest 'humans make keying errors' citation. The 30%-of-web-traffic stat is from the same county and sets up the permitting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[~50 sec] CIO lens: this is pure operational drag — weeks of latency created by retyping. CISO lens: the win is that PII is masked before storage or display, and the source document is preserved in WORM. Architect lens: note we handle handwriting and voicemail, not just clean PDFs — that's Textract plus Transcribe.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[~70 sec] The gate here is subtle but important for a CISO: the AI extracts, but the official record of truth is human-confirmed before it enters the case system. So an extraction error can't silently become a benefits decision. Step 3 — validate and mask — is where governance lives: rules checks plus PII redaction happen before anything is stored.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[~80 sec] Same governed backbone as every agent — reuse the JWT and deny-by-default story. The one change is box 6: the agent calls Textract and Transcribe under Guardrails. For the architect: this is the reference IDP pattern AWS publishes (Textract + Comprehend + A2I), wrapped in our gateway and audit. For the CISO: source documents and extracted records both land in Object-Lock WORM storage — immutable for retention and audit.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[~50 sec] Anne Arundel is the spine — name the county, it lands harder than an anonymized stat. Be precise: the 45-min-to-20-sec figure is specifically voicemail summarization; the broader claim is that hour-long manual steps now need almost no effort. The ROI sentence is the one CIOs remember: you reclaim the first hour of every case, and the same pipeline serves all eight agents — build once, reuse everywhere.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63040"/>
            <a:ext cx="859536" cy="457200"/>
          </a:xfrm>
          <a:prstGeom prst="roundRect">
            <a:avLst>
              <a:gd name="adj" fmla="val 8000"/>
            </a:avLst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63040"/>
            <a:ext cx="8595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828800" y="1463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SLG AGENTIC AI REFERENCE LIBRARY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Forms &amp; Intelligent Document Processing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41248" y="3977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paper, PDFs and voicemail into structured, validated data — governed, on AWS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5806440"/>
            <a:ext cx="292608" cy="5486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</a:t>
            </a:r>
            <a:pPr indent="0" marL="0">
              <a:lnSpc>
                <a:spcPct val="110000"/>
              </a:lnSpc>
              <a:buNone/>
            </a:pP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Strategy &amp; Architecture Leader   ·   github.com/virtualryder/slg-ai-agents   ·   June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45 MINUTES TO 20 SECONDS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841248" y="175564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&amp; Intelligent Document Processing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41248" y="228600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IDP agent that ingests applications, letters, and voicemails, extracts and validates the fields, masks PII, and routes a clean record to staff — replacing manual keying that is slow and error-prone, with a human gate before anything is filed as official.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45 min → &lt;20s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07899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intake vs. AI summarization, Anne Arundel County (AWS)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3484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~1%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469087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error rate even for double-key manual data entry (JAMIA)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5" name="Text 13"/>
          <p:cNvSpPr/>
          <p:nvPr/>
        </p:nvSpPr>
        <p:spPr>
          <a:xfrm>
            <a:off x="827532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30%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830275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one county's web traffic is a single document-heavy process: permitting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632764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   ·   AI Strategy &amp; Architecture Leader   ·   github.com/virtualryder/slg-ai-agents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&amp; THE PROBLEM TODAY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Applications languish for weeks because a human has to read and retype them.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they are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249424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agency that runs on intake forms — benefits, permits, licensing, records — where staff manually transcribe documents into case systems before work can even begin.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live with today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3493008"/>
            <a:ext cx="5852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applications can wait weeks or months just to be entered.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keying introduces errors that cause rejected applications and rework.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arrive in every format — typed, handwritten, scanned, voicemail.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spend their first hour on a case transcribing, not deciding.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040880" y="1965960"/>
            <a:ext cx="4325112" cy="3977640"/>
          </a:xfrm>
          <a:prstGeom prst="roundRect">
            <a:avLst>
              <a:gd name="adj" fmla="val 1839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269480" y="21488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THE STATUS QUO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269480" y="257860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~1%+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7287768" y="309067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error rate for manual entry — higher for single-key (JAMIA, 2019)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269480" y="362102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69480" y="367588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45 min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7287768" y="418795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intake per case before staff can begin (Anne Arundel County)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269480" y="471830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69480" y="477316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Weeks–months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287768" y="528523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can languish unprocessed (AWS Public Sector)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Mays &amp; Mathias, JAMIA 2019 (peer-reviewed); AWS Public Sector Blog 2025–2026. See DECK-SOURCES.md.</a:t>
            </a:r>
            <a:endParaRPr lang="en-US" sz="8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WORKFLOW — GOVERNED, STEP BY STEP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Ingest → extract → validate → mask → human-confirm — clean data, not a clean-up project.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987552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87552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anything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87552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Documents, images, handwriting and voicemail across channels.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87552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Textract + Transcribe</a:t>
            </a:r>
            <a:endParaRPr lang="en-US" sz="870" dirty="0"/>
          </a:p>
        </p:txBody>
      </p:sp>
      <p:sp>
        <p:nvSpPr>
          <p:cNvPr id="10" name="Text 8"/>
          <p:cNvSpPr/>
          <p:nvPr/>
        </p:nvSpPr>
        <p:spPr>
          <a:xfrm>
            <a:off x="270296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97728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4187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314187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14187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&amp; summarize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14187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fields and a structured summary; categorize and route.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14187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+ Guardrails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4857293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131613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96205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20" name="Text 18"/>
          <p:cNvSpPr/>
          <p:nvPr/>
        </p:nvSpPr>
        <p:spPr>
          <a:xfrm>
            <a:off x="5296205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296205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mask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296205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against rules; redact PII before anything is stored or shown.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296205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masker + Comprehend</a:t>
            </a:r>
            <a:endParaRPr lang="en-US" sz="870" dirty="0"/>
          </a:p>
        </p:txBody>
      </p:sp>
      <p:sp>
        <p:nvSpPr>
          <p:cNvPr id="24" name="Text 22"/>
          <p:cNvSpPr/>
          <p:nvPr/>
        </p:nvSpPr>
        <p:spPr>
          <a:xfrm>
            <a:off x="7011619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285939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01A88D"/>
          </a:solidFill>
          <a:ln w="12700">
            <a:solidFill>
              <a:srgbClr val="0E7C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50531" y="210312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450531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1A8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971739" y="2167128"/>
            <a:ext cx="112105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450531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confirm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450531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verify the extracted record before it is filed as official.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450531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waitForTaskToken</a:t>
            </a:r>
            <a:endParaRPr lang="en-US" sz="870" dirty="0"/>
          </a:p>
        </p:txBody>
      </p:sp>
      <p:sp>
        <p:nvSpPr>
          <p:cNvPr id="32" name="Text 30"/>
          <p:cNvSpPr/>
          <p:nvPr/>
        </p:nvSpPr>
        <p:spPr>
          <a:xfrm>
            <a:off x="916594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944026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0485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35" name="Text 33"/>
          <p:cNvSpPr/>
          <p:nvPr/>
        </p:nvSpPr>
        <p:spPr>
          <a:xfrm>
            <a:off x="960485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60485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&amp; audit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960485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validated record and the source doc to a WORM trail.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60485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+ CloudTrail</a:t>
            </a:r>
            <a:endParaRPr lang="en-US" sz="870" dirty="0"/>
          </a:p>
        </p:txBody>
      </p:sp>
      <p:sp>
        <p:nvSpPr>
          <p:cNvPr id="39" name="Shape 37"/>
          <p:cNvSpPr/>
          <p:nvPr/>
        </p:nvSpPr>
        <p:spPr>
          <a:xfrm>
            <a:off x="822960" y="5166360"/>
            <a:ext cx="10515600" cy="868680"/>
          </a:xfrm>
          <a:prstGeom prst="roundRect">
            <a:avLst>
              <a:gd name="adj" fmla="val 6316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05840" y="5358384"/>
            <a:ext cx="457200" cy="457200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41" name="Text 39"/>
          <p:cNvSpPr/>
          <p:nvPr/>
        </p:nvSpPr>
        <p:spPr>
          <a:xfrm>
            <a:off x="100584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600200" y="5230368"/>
            <a:ext cx="9601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withheld in code until a human approves.  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is automated; the official record of truth is human-confirmed before it enters the case system.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REFERENCE ARCHITECTURE — BUILT FOR A REGULATED ENVIRONMENT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Document-to-data pipeline with PII masking and human confirmation before filing.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147EB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691640"/>
            <a:ext cx="310896" cy="310896"/>
          </a:xfrm>
          <a:prstGeom prst="ellipse">
            <a:avLst/>
          </a:prstGeom>
          <a:solidFill>
            <a:srgbClr val="147EB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2688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/ Staff channel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32688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mobile · phone · kiosk</a:t>
            </a:r>
            <a:endParaRPr lang="en-US" sz="860" dirty="0"/>
          </a:p>
        </p:txBody>
      </p:sp>
      <p:sp>
        <p:nvSpPr>
          <p:cNvPr id="9" name="Text 7"/>
          <p:cNvSpPr/>
          <p:nvPr/>
        </p:nvSpPr>
        <p:spPr>
          <a:xfrm>
            <a:off x="2150146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351314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DD344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42754" y="1691640"/>
            <a:ext cx="310896" cy="310896"/>
          </a:xfrm>
          <a:prstGeom prst="ellipse">
            <a:avLst/>
          </a:prstGeom>
          <a:solidFill>
            <a:srgbClr val="DD344C"/>
          </a:solidFill>
          <a:ln/>
        </p:spPr>
      </p:sp>
      <p:sp>
        <p:nvSpPr>
          <p:cNvPr id="12" name="Text 10"/>
          <p:cNvSpPr/>
          <p:nvPr/>
        </p:nvSpPr>
        <p:spPr>
          <a:xfrm>
            <a:off x="2442754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461042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protection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61042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 + Shield</a:t>
            </a:r>
            <a:endParaRPr lang="en-US" sz="860" dirty="0"/>
          </a:p>
        </p:txBody>
      </p:sp>
      <p:sp>
        <p:nvSpPr>
          <p:cNvPr id="15" name="Text 13"/>
          <p:cNvSpPr/>
          <p:nvPr/>
        </p:nvSpPr>
        <p:spPr>
          <a:xfrm>
            <a:off x="3678501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879669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8C4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71109" y="1691640"/>
            <a:ext cx="310896" cy="310896"/>
          </a:xfrm>
          <a:prstGeom prst="ellipse">
            <a:avLst/>
          </a:prstGeom>
          <a:solidFill>
            <a:srgbClr val="8C4FFF"/>
          </a:solidFill>
          <a:ln/>
        </p:spPr>
      </p:sp>
      <p:sp>
        <p:nvSpPr>
          <p:cNvPr id="18" name="Text 16"/>
          <p:cNvSpPr/>
          <p:nvPr/>
        </p:nvSpPr>
        <p:spPr>
          <a:xfrm>
            <a:off x="3971109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989397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Cognito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89397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federation → JWT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5206855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08023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9463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4" name="Text 22"/>
          <p:cNvSpPr/>
          <p:nvPr/>
        </p:nvSpPr>
        <p:spPr>
          <a:xfrm>
            <a:off x="5499463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517751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517751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authorizer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6735209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936377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27817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7027817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046105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 gateway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046105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· least privilege</a:t>
            </a:r>
            <a:endParaRPr lang="en-US" sz="860" dirty="0"/>
          </a:p>
        </p:txBody>
      </p:sp>
      <p:sp>
        <p:nvSpPr>
          <p:cNvPr id="33" name="Text 31"/>
          <p:cNvSpPr/>
          <p:nvPr/>
        </p:nvSpPr>
        <p:spPr>
          <a:xfrm>
            <a:off x="8263563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464731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01A88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56171" y="1691640"/>
            <a:ext cx="310896" cy="310896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36" name="Text 34"/>
          <p:cNvSpPr/>
          <p:nvPr/>
        </p:nvSpPr>
        <p:spPr>
          <a:xfrm>
            <a:off x="8556171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574459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— Bedrock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574459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Textract/Transcribe + Guardrails</a:t>
            </a:r>
            <a:endParaRPr lang="en-US" sz="860" dirty="0"/>
          </a:p>
        </p:txBody>
      </p:sp>
      <p:sp>
        <p:nvSpPr>
          <p:cNvPr id="39" name="Text 37"/>
          <p:cNvSpPr/>
          <p:nvPr/>
        </p:nvSpPr>
        <p:spPr>
          <a:xfrm>
            <a:off x="9791918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993086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7AA11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84526" y="1691640"/>
            <a:ext cx="310896" cy="310896"/>
          </a:xfrm>
          <a:prstGeom prst="ellipse">
            <a:avLst/>
          </a:prstGeom>
          <a:solidFill>
            <a:srgbClr val="7AA116"/>
          </a:solidFill>
          <a:ln/>
        </p:spPr>
      </p:sp>
      <p:sp>
        <p:nvSpPr>
          <p:cNvPr id="42" name="Text 40"/>
          <p:cNvSpPr/>
          <p:nvPr/>
        </p:nvSpPr>
        <p:spPr>
          <a:xfrm>
            <a:off x="10084526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102814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 → action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102814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then tools + data</a:t>
            </a:r>
            <a:endParaRPr lang="en-US" sz="860" dirty="0"/>
          </a:p>
        </p:txBody>
      </p:sp>
      <p:sp>
        <p:nvSpPr>
          <p:cNvPr id="45" name="Text 43"/>
          <p:cNvSpPr/>
          <p:nvPr/>
        </p:nvSpPr>
        <p:spPr>
          <a:xfrm>
            <a:off x="822960" y="3200400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7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flow:  </a:t>
            </a:r>
            <a:pPr indent="0" marL="0">
              <a:lnSpc>
                <a:spcPct val="105000"/>
              </a:lnSpc>
              <a:buNone/>
            </a:pPr>
            <a:r>
              <a:rPr lang="en-US" sz="107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authenticates to the agency IdP, which Amazon Cognito federates into a signed JWT. API Gateway validates the JWT; the MCP gateway re-validates the custom:slg_role claim and issues a scoped, time-boxed token so the agent can call only the tools that role is entitled to (agent grant ∩ user entitlement). Bedrock Guardrails filter every prompt and response; the consequential action is held at the human gate. Every step writes to CloudTrail and a WORM (S3 Object Lock) audit log.</a:t>
            </a:r>
            <a:endParaRPr lang="en-US" sz="1070" dirty="0"/>
          </a:p>
        </p:txBody>
      </p:sp>
      <p:sp>
        <p:nvSpPr>
          <p:cNvPr id="46" name="Text 44"/>
          <p:cNvSpPr/>
          <p:nvPr/>
        </p:nvSpPr>
        <p:spPr>
          <a:xfrm>
            <a:off x="822960" y="3886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REGULATED-ENVIRONMENT CONTROLS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22960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48" name="Text 46"/>
          <p:cNvSpPr/>
          <p:nvPr/>
        </p:nvSpPr>
        <p:spPr>
          <a:xfrm>
            <a:off x="950976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least privilege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950976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+ custom:slg_role; deny-by-default MCP gateway; effective scope = agent grant ∩ user entitlement.</a:t>
            </a:r>
            <a:endParaRPr lang="en-US" sz="860" dirty="0"/>
          </a:p>
        </p:txBody>
      </p:sp>
      <p:sp>
        <p:nvSpPr>
          <p:cNvPr id="50" name="Shape 48"/>
          <p:cNvSpPr/>
          <p:nvPr/>
        </p:nvSpPr>
        <p:spPr>
          <a:xfrm>
            <a:off x="3502152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1" name="Text 49"/>
          <p:cNvSpPr/>
          <p:nvPr/>
        </p:nvSpPr>
        <p:spPr>
          <a:xfrm>
            <a:off x="3630168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protection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3630168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masking before inference; KMS encryption; S3 Object Lock (WORM) audit; private VPC + Bedrock VPC endpoint.</a:t>
            </a:r>
            <a:endParaRPr lang="en-US" sz="860" dirty="0"/>
          </a:p>
        </p:txBody>
      </p:sp>
      <p:sp>
        <p:nvSpPr>
          <p:cNvPr id="53" name="Shape 51"/>
          <p:cNvSpPr/>
          <p:nvPr/>
        </p:nvSpPr>
        <p:spPr>
          <a:xfrm>
            <a:off x="6181344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4" name="Text 52"/>
          <p:cNvSpPr/>
          <p:nvPr/>
        </p:nvSpPr>
        <p:spPr>
          <a:xfrm>
            <a:off x="6309360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guardrails &amp; HITL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309360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Guardrails; grounded, cited answers; consequential action withheld in code until a human approves.</a:t>
            </a:r>
            <a:endParaRPr lang="en-US" sz="860" dirty="0"/>
          </a:p>
        </p:txBody>
      </p:sp>
      <p:sp>
        <p:nvSpPr>
          <p:cNvPr id="56" name="Shape 54"/>
          <p:cNvSpPr/>
          <p:nvPr/>
        </p:nvSpPr>
        <p:spPr>
          <a:xfrm>
            <a:off x="8860536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7" name="Text 55"/>
          <p:cNvSpPr/>
          <p:nvPr/>
        </p:nvSpPr>
        <p:spPr>
          <a:xfrm>
            <a:off x="8988552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posture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8988552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FedRAMP High + DoD IL-4/5 in GovCloud; CJIS / IRS-1075 alignment; CloudTrail; ADA WCAG 2.1 AA.</a:t>
            </a:r>
            <a:endParaRPr lang="en-US" sz="860" dirty="0"/>
          </a:p>
        </p:txBody>
      </p:sp>
      <p:sp>
        <p:nvSpPr>
          <p:cNvPr id="59" name="Shape 57"/>
          <p:cNvSpPr/>
          <p:nvPr/>
        </p:nvSpPr>
        <p:spPr>
          <a:xfrm>
            <a:off x="822960" y="5715000"/>
            <a:ext cx="10515600" cy="713232"/>
          </a:xfrm>
          <a:prstGeom prst="roundRect">
            <a:avLst>
              <a:gd name="adj" fmla="val 7692"/>
            </a:avLst>
          </a:prstGeom>
          <a:solidFill>
            <a:srgbClr val="2C3B4E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05840" y="5760720"/>
            <a:ext cx="10149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models:  </a:t>
            </a:r>
            <a:pPr indent="0" marL="0">
              <a:lnSpc>
                <a:spcPct val="102000"/>
              </a:lnSpc>
              <a:buNone/>
            </a:pPr>
            <a:r>
              <a:rPr lang="en-US" sz="103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 (standalone) — each agent ships its own VPC, edge, Cognito, data and WORM audit stack, deployable by one CloudFormation/Terraform quickstart. Model B (+ Whole-of-Government) — adds shared canonical data, saga orchestration and a compliance event bus. GovCloud (US) uses the portable gateway path.</a:t>
            </a:r>
            <a:endParaRPr lang="en-US" sz="10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77824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Hours of keying become seconds of review.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412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45 min → &lt;20s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4241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summarization time, Anne Arundel County 'GIST' on AWS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24128" y="3118104"/>
            <a:ext cx="2262226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VENDOR-REPORTED · NAMED GOV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1960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2076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Near-zero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63905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effort on tasks that once took close to an hour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20768" y="3118104"/>
            <a:ext cx="1362456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VENDOR-REPORTED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01624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740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Bedrock + Textract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23569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Transcribe + Guardrails + human-in-the-loop, in production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17408" y="3118104"/>
            <a:ext cx="1437437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ARCHITECTURE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822960" y="3730752"/>
            <a:ext cx="10515600" cy="841248"/>
          </a:xfrm>
          <a:prstGeom prst="roundRect">
            <a:avLst>
              <a:gd name="adj" fmla="val 6522"/>
            </a:avLst>
          </a:prstGeom>
          <a:solidFill>
            <a:srgbClr val="3A4B5F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776472"/>
            <a:ext cx="10149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executive case: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Reclaim the first hour of every case. Staff move from transcription to judgment, applications clear faster, and the ~1% manual-entry error tax — and the rework it causes downstream — largely disappears. The same pipeline feeds every other agent in this library.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documented outcomes from named deployments, labeled by evidence tier. Vendor-reported vs. government/peer-reviewed sourcing in DECK-SOURCES.md. Improvement applied to a reference agency — not a guarantee.</a:t>
            </a:r>
            <a:endParaRPr lang="en-US" sz="8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rebuchet M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2026-06-24T19:12:58Z</dcterms:created>
  <dcterms:modified xsi:type="dcterms:W3CDTF">2026-06-24T19:12:58Z</dcterms:modified>
</cp:coreProperties>
</file>