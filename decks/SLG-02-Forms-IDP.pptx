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~1.5 min. 'Government runs on forms. The same resident re-supplies the same data to four agencies, and staff re-key all of it.' Frame the agent as removing the typing, not the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~2.5 min. The hook is Anne Arundel County: a 45-minute manual intake task now completes in under 20 seconds (AWS, Feb 2026). Arizona's Textract portal auto-approved 49% of applications. Manual entry carries a 1–4% field error rate. The savings are labor AND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~3 min. Situation → need. The constraint is the whole pitch: the agent identifies a missing income statement; it never invents the income. That's the line between an accelerator and a liability in a regulated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~3.5 min. Walk extract→validate→assemble. Emphasize confidence scoring: low-confidence fields route to a human. The green gate is on the assembly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~4.5 min. Standard SLG architecture. Call out that documents are masked before LLM exposure and IDP runs in-account; FTI/PHI data classes are isolated.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~3.5 min. Results modeled from the cited benchmarks. ~98% faster intake, 49% straight-through on suitable apps. Honest limit: extraction accuracy needs per-form validation. Close: this agent is the intake foundation for permits, benefits, and FOIA.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C0"/>
                </a:solidFill>
              </a:rPr>
              <a:t>SLG AI AGENT SUITE  ·  BUILT ON AWS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&amp; Intelligent Document Processing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A governed agent that determines the right form, extracts and validates fields, and assembles the official form — collecting only what the applicant supplies, never inventing a legally significant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David Ryder   ·   AI Strategy &amp; Architecture Leader   ·   github.com/virtualryder/slg-ai-agents   ·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45 MINUTES TO 20 SECONDS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&amp; Intelligent Document Processing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</a:rPr>
              <a:t>Government runs on forms, and staff re-key data the government already holds. Intelligent document processing turns manual intake into seconds — with a human gate on the assembled result.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 → &lt;20s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058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manual case-intake summarization, automated (Anne Arundel County)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AWS Public Sector, Feb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634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of benefit applications auto-approved by document automation (Arizona)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AWS Public Sector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1–4%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3210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of fields contain manual data-entry errors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industry (Lido)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0"/>
                </a:solidFill>
              </a:rPr>
              <a:t>David Ryder   ·   AI Strategy &amp; Architecture Leader   ·   github.com/virtualryder/slg-ai-agents   · 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CUSTOMER &amp;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Re-keying, missing fields, and seasonal backlogs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3611880"/>
          </a:xfrm>
          <a:prstGeom prst="roundRect">
            <a:avLst>
              <a:gd name="adj" fmla="val 151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</a:rPr>
              <a:t>THE SITUATION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Benefits, permits, licenses, taxes, incident reports — each its own form and re-keying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Residents repeatedly submit information the government already holds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Staff manually identify missing fields, classify attachments, and chase applicants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Online forms see high abandonment; volume spikes overwhelm intake teams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</a:rPr>
              <a:t>WHAT THEY NEED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Business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cut data-entry labor and incomplete-application rework, shorten cycle time, and reduce abandonment.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Technical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extract fields from attachments, validate completeness, and assemble the official form into the system of record.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Regulatory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IRS Pub 1075 (FTI), HIPAA, DPPA — and a guarantee the agent never fabricates a legally significant fact.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The design constraint that shaped everything:  </a:t>
            </a:r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</a:rPr>
              <a:t>The agent identifies a missing income statement; it never estimates or invents the income.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C0"/>
                </a:solidFill>
              </a:rPr>
              <a:t>THE SOLUTION — GOVERNED WORKFLOW, HUMAN DECISIONS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→ validate → assemble, with a human gate on the official 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&amp; classify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identify the correct form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9174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462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1" name="Text 9"/>
          <p:cNvSpPr/>
          <p:nvPr/>
        </p:nvSpPr>
        <p:spPr>
          <a:xfrm>
            <a:off x="267462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633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5633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fields + attachments (IDP)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0799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0799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completeness + format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506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794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1" name="Text 19"/>
          <p:cNvSpPr/>
          <p:nvPr/>
        </p:nvSpPr>
        <p:spPr>
          <a:xfrm>
            <a:off x="63779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965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5965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grounding · WCAG · PII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2F8F5B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1131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GATE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1131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intake specialist approves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89838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8126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33" name="Text 31"/>
          <p:cNvSpPr/>
          <p:nvPr/>
        </p:nvSpPr>
        <p:spPr>
          <a:xfrm>
            <a:off x="100812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6297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 &amp; audit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6297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render official form · WORM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" y="32461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EVIDENCE ASSEMBLY — automated (Bedrock Claude + governed MCP tool calls)   ·   then a framework-enforced human gate (interrupt_before)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6868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fabricated facts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6868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Grounding flags any field not traceable to a source document before a human sees it.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4340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Confidence-scored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Low-confidence extractions are routed to human review, not silently accepted.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4672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7532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never decides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7532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Assembly into the system of record is a human-approved write, fully audited.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AWS ARCHITECTURE &amp; TRAFFIC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&amp; Intelligent Document Processing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50976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BF3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5097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6B12"/>
                </a:solidFill>
              </a:rPr>
              <a:t>DEPLOYMENT MODEL:  </a:t>
            </a:r>
            <a:pPr indent="0" marL="0">
              <a:buNone/>
            </a:pPr>
            <a:r>
              <a:rPr lang="en-US" sz="900" dirty="0">
                <a:solidFill>
                  <a:srgbClr val="5B4708"/>
                </a:solidFill>
              </a:rPr>
              <a:t>STANDALONE-DEPLOYABLE — own VPC · CloudFront + WAF edge · KMS · WORM audit · gateway · human gate. No WoG dependency; the Whole-of-Government platform is optional and additive.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1993392" cy="3310128"/>
          </a:xfrm>
          <a:prstGeom prst="roundRect">
            <a:avLst>
              <a:gd name="adj" fmla="val 2294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99616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EXTERNAL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36406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755648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Residents / agency staff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36406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340864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Agency IdP — SAML/OIDC · MFA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66928" y="3108960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4A5687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108960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Agency systems (on-prem)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66928" y="3694176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4A5687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694176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External data sources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66928" y="4334256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488"/>
                </a:solidFill>
              </a:rPr>
              <a:t>PrivateLink / Direct Connect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615184" y="1444752"/>
            <a:ext cx="9116568" cy="3310128"/>
          </a:xfrm>
          <a:prstGeom prst="roundRect">
            <a:avLst>
              <a:gd name="adj" fmla="val 1381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1499616"/>
            <a:ext cx="8897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AWS CLOUD — per-customer VPC / dedicated account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0" y="1773936"/>
            <a:ext cx="2505456" cy="2852928"/>
          </a:xfrm>
          <a:prstGeom prst="roundRect">
            <a:avLst>
              <a:gd name="adj" fmla="val 1825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1828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EDGE / PUBLIC SUBNET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52928" y="2066544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07792" y="2066544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CloudFront + WAF + Shield (TLS 1.2+)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761488" y="1993392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24" name="Text 22"/>
          <p:cNvSpPr/>
          <p:nvPr/>
        </p:nvSpPr>
        <p:spPr>
          <a:xfrm>
            <a:off x="2761488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52928" y="2724912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07792" y="2724912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API Gateway / ALB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852928" y="3383280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07792" y="3383280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Amazon Cognito — SAML → JWT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761488" y="3310128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30" name="Text 28"/>
          <p:cNvSpPr/>
          <p:nvPr/>
        </p:nvSpPr>
        <p:spPr>
          <a:xfrm>
            <a:off x="2761488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58384" y="1773936"/>
            <a:ext cx="2505456" cy="2852928"/>
          </a:xfrm>
          <a:prstGeom prst="roundRect">
            <a:avLst>
              <a:gd name="adj" fmla="val 1825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1828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PRIVATE SUBNET — COMPUTE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68112" y="2066544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22976" y="2066544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Agent runtime — Step Functions + Lambda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376672" y="1993392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36" name="Text 34"/>
          <p:cNvSpPr/>
          <p:nvPr/>
        </p:nvSpPr>
        <p:spPr>
          <a:xfrm>
            <a:off x="5376672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68112" y="2724912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22976" y="2724912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MCP authorization gateway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376672" y="2651760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40" name="Text 38"/>
          <p:cNvSpPr/>
          <p:nvPr/>
        </p:nvSpPr>
        <p:spPr>
          <a:xfrm>
            <a:off x="5376672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68112" y="3383280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22976" y="3383280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SQS queue + DLQ · HITL gate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376672" y="3310128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44" name="Text 42"/>
          <p:cNvSpPr/>
          <p:nvPr/>
        </p:nvSpPr>
        <p:spPr>
          <a:xfrm>
            <a:off x="5376672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973568" y="1773936"/>
            <a:ext cx="3657600" cy="2852928"/>
          </a:xfrm>
          <a:prstGeom prst="roundRect">
            <a:avLst>
              <a:gd name="adj" fmla="val 1603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83296" y="1819656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MODEL LAYER — VPC ENDPOINT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092440" y="2048256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147304" y="2048256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Amazon Bedrock — Claude Sonnet + Haiku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8001000" y="1975104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50" name="Text 48"/>
          <p:cNvSpPr/>
          <p:nvPr/>
        </p:nvSpPr>
        <p:spPr>
          <a:xfrm>
            <a:off x="8001000" y="1975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92440" y="2633472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147304" y="2633472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Bedrock Guardrails — PII &amp; content (mandatory)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8083296" y="3218688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DATA TIER — KMS CMK per data class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092440" y="3438144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147304" y="3438144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DynamoDB — append-only audit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001000" y="3364992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57" name="Text 55"/>
          <p:cNvSpPr/>
          <p:nvPr/>
        </p:nvSpPr>
        <p:spPr>
          <a:xfrm>
            <a:off x="800100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092440" y="4023360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147304" y="4023360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S3 Object Lock (WORM) · state · Secrets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8001000" y="3950208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61" name="Text 59"/>
          <p:cNvSpPr/>
          <p:nvPr/>
        </p:nvSpPr>
        <p:spPr>
          <a:xfrm>
            <a:off x="8001000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340864" y="3520440"/>
            <a:ext cx="402336" cy="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38928" y="2322576"/>
            <a:ext cx="329184" cy="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54112" y="2304288"/>
            <a:ext cx="338328" cy="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11112" y="3383280"/>
            <a:ext cx="0" cy="22860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4828032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/>
        </p:spPr>
      </p:sp>
      <p:sp>
        <p:nvSpPr>
          <p:cNvPr id="67" name="Text 65"/>
          <p:cNvSpPr/>
          <p:nvPr/>
        </p:nvSpPr>
        <p:spPr>
          <a:xfrm>
            <a:off x="640080" y="48280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</a:rPr>
              <a:t>SECURITY &amp; OPS:  </a:t>
            </a:r>
            <a:pPr indent="0" marL="0">
              <a:buNone/>
            </a:pPr>
            <a:r>
              <a:rPr lang="en-US" sz="930" dirty="0">
                <a:solidFill>
                  <a:srgbClr val="1B2440"/>
                </a:solidFill>
              </a:rPr>
              <a:t>KMS (CMK per data class) · IAM least-privilege · CloudWatch · CloudTrail · X-Ray · GuardDuty · Security Hub + Config · data-class isolation (CJI/FTI/PHI/EDU/public)</a:t>
            </a:r>
            <a:endParaRPr lang="en-US" sz="930" dirty="0"/>
          </a:p>
        </p:txBody>
      </p:sp>
      <p:sp>
        <p:nvSpPr>
          <p:cNvPr id="68" name="Text 66"/>
          <p:cNvSpPr/>
          <p:nvPr/>
        </p:nvSpPr>
        <p:spPr>
          <a:xfrm>
            <a:off x="457200" y="5303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C0"/>
                </a:solidFill>
              </a:rPr>
              <a:t>TRAFFIC FLOW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57200" y="5541264"/>
            <a:ext cx="5623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1  Resident/staff sign in at the agency IdP (SAML/OIDC, MFA). Amazon Cognito 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2  CloudFront + AWS WAF inspect, filter and rate-limit the request; API Gatew…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3  The MCP gateway re-validates the JWT and its custom:slg_role claim and aut…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4  For each authorized call the gateway mints a short-lived, tool-scoped toke…</a:t>
            </a:r>
            <a:endParaRPr lang="en-US" sz="930" dirty="0"/>
          </a:p>
        </p:txBody>
      </p:sp>
      <p:sp>
        <p:nvSpPr>
          <p:cNvPr id="70" name="Text 68"/>
          <p:cNvSpPr/>
          <p:nvPr/>
        </p:nvSpPr>
        <p:spPr>
          <a:xfrm>
            <a:off x="6172200" y="5541264"/>
            <a:ext cx="5577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5  Model calls stay inside AWS via a Bedrock VPC endpoint; Guardrails filter 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6  Workflow pauses at the human-review gate (Step Functions waitForTaskToken)…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7  On approval the action commits; case state, append-only audit and finalize…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8  Every step — node, timestamp, JWT subject/actor, data sources, model versi…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TRADEOFFS, RESULTS &amp; 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delivers — and what it honestly 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</a:rPr>
              <a:t>MEASURED OUTCOMES (illustrative for a reference agency; sources cited)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~98%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faster intake (45 min → &lt;20s)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38728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38728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straight-through on suitable apps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08776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rework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08776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fewer incomplete submissions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78824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backlog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878824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seasonal spikes absorbed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349240" cy="2057400"/>
          </a:xfrm>
          <a:prstGeom prst="roundRect">
            <a:avLst>
              <a:gd name="adj" fmla="val 266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</a:rPr>
              <a:t>DELIBERATE TRADEOFFS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Confidence threshold trades full automation for accuracy — uncertain fields go to a human.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Bedrock Data Automation over bespoke OCR pipelines for governed, in-account processing.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Human gate on assembly accepted by design — the official form is a legal artifact.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611880"/>
            <a:ext cx="53492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</a:rPr>
              <a:t>WHAT'S NEXT (V2)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114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Bedrock Knowledge Bases for form-rule RAG (which form, which fields)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Reuse-with-consent of data the government already holds (pre-fill)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Live system-of-record connectors replacing fixtures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The takeaway:  </a:t>
            </a:r>
            <a:pPr indent="0" marL="0">
              <a:buNone/>
            </a:pPr>
            <a:r>
              <a:rPr lang="en-US" sz="1250" i="1" dirty="0">
                <a:solidFill>
                  <a:srgbClr val="1B2440"/>
                </a:solidFill>
              </a:rPr>
              <a:t>automate the typing, not the judgment — the agent assembles evidence, a human owns the official record.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88"/>
                </a:solidFill>
              </a:rPr>
              <a:t>Sources: AWS Public Sector 2026 (Anne Arundel, Arizona Textract)  ·  industry data-entry error benchmarks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Forms &amp; Intelligent Document Processing</dc:title>
  <dc:subject>PptxGenJS Presentation</dc:subject>
  <dc:creator>David Ryder</dc:creator>
  <cp:lastModifiedBy>David Ryder</cp:lastModifiedBy>
  <cp:revision>1</cp:revision>
  <dcterms:created xsi:type="dcterms:W3CDTF">2026-06-23T21:11:25Z</dcterms:created>
  <dcterms:modified xsi:type="dcterms:W3CDTF">2026-06-23T21:11:25Z</dcterms:modified>
</cp:coreProperties>
</file>