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This is your opener for an executive briefing or the leave-behind that frames the whole library. Use it when you don't yet know which agent the room cares about. Establish the thesis: governed, deployable, regulated-by-design AI on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Anchor on NASCIO: AI is the #1 state-CIO priority for 2026. Then the portfolio: eight agents plus a platform, all on AWS, with Bedrock at FedRAMP High and DoD IL-4/5 in GovCloud — that last line preempts the security objection before it's raised. The narrative: the demand is settled; what's missing is governed, fundable production, and that's what this library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Tailor to the room: CIO hears the pilot trap and the legacy-budget squeeze; CISO hears 'security and audit are built in, not bolted on'; architect hears 'build the pattern once, reuse eight times.' The ADA deadline is a real, dated forcing function — April 2027 for governments over 50k — so accessibility isn't optional and we test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 Show the portfolio as one repeated pattern across three tiers - resident-facing, casework, operations - with a human gate everywhere and one platform underneath. The proof point for a skeptical engineer: each agent withholds its consequential action (issue, adjudicate, release, award) and that's enforced by tests, not promised in a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One governed backbone shared by all agents - that's the cost and security argument in a single diagram. Reuse the JWT / least-privilege / WORM walk-through. Stress full IaC parity: CloudFormation and Terraform, commercial and GovCloud. For the CISO, this is the slide that says a solution architect can deploy this and it will pass your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Close on deployability: every agent ships with code, infrastructure-as-code, containers, runbooks and its own customer deck; full CFN/Terraform parity; WCAG 2.1 AA tested with control mappings included. Then the sales-coaching line: lead with the agent that fits the room, sell the platform underneath. The executive takeaway: build governance once, inherit it forever - that's a fundable program, not another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Open here. This is the resident's front door — the agent most people will actually touch. Frame the whole library: governed, agentic AI on AWS, where every consequential action stays human, deterministic and audit-ready. Name-drop that this is one of eight agents plus a whole-of-government platform. For a CIO, this is the fastest, lowest-risk place to show citizen-facing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Lead with the Gartner economics: a live contact is $8.01 — cite it precisely, it's $8.01 not '$8' — versus about ten cents for self-service. Caveat to hold in your back pocket: that figure is 2019 and cross-industry, not government-specific, so use it as an order-of-magnitude truth, not a precise government number. Pair it with NYC311's 98,028 contacts a day so the scale is undeniable. The productivity stat is the peer-reviewed QJE 2025 version of the NBER paper — +14% average, +34% for novices — note that novices benefit most, which speaks to turnover.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For the CIO: this is repetitive, high-volume, low-risk work — the ideal first automation. For the CISO: nothing here exposes PII without the gateway brokering it. The cost stack on the right is the business case in three numbers. Ask the room: what share of your 311 volume is the same dozen questions? It's almost always a majority.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This is the trust story for the architect. Walk left to right. Note steps 1-3 are read-only and safe to automate fully. Step 4 — the teal gate — is the whole philosophy: the consequential action is withheld in code, not policy. Even if the model is wrong, it cannot commit the agency. Step 5 is why a CISO signs off: the decision, the citations and the inputs are written to a WORM trail they can subpoena-proof.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 This is the CISO/architect slide — slow down. Trace the JWT exchange: agency IdP → Cognito → signed JWT → API Gateway authorizer → MCP gateway re-validates the role claim and issues a scoped token. The key line: effective permission is the agent's grant intersected with the user's entitlement, deny-by-default. Hit the four control cards. End on compliance: Bedrock is FedRAMP High and DoD IL-4/5 in GovCloud — that's the sentence that ends the security objection. Mention Model A vs B so they know they don't need the whole platform to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Be honest about evidence tier — these are vendor-reported deployments (NC DES and Denver 'Sunny'), labeled as such on the slide; that candor is what makes a CISO trust the rest. Denver is your strongest quantified deflection story: ~20% of all interactions, 45% peak staffing relief, 85% approval. Close on the CIO math: each deflected contact converts an $8 interaction into a dime. Avoid overstating Virginia Beach's 1,300 queries — that's usage, not proven deflection, so I kept it off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Position IDP as the plumbing under everything else — benefits, permits, records all start with a document. If you fix intake once, every downstream agent gets cleaner inputs. Good second agent to show after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45-minutes-to-20-seconds number is real and recent: Anne Arundel County, Maryland, on AWS, February 2026 — Bedrock, Textract and Transcribe with Bedrock Guardrails and a human in the loop. Named CIO (Jack Martin). It's vendor-published but government-named and quote-rich, so label it that way. The ~1% error figure is the peer-reviewed JAMIA study on manual transcription — your strongest 'humans make keying errors' citation. The 30%-of-web-traffic stat is from the same county and sets up the permitting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CIO lens: this is pure operational drag — weeks of latency created by retyping. CISO lens: the win is that PII is masked before storage or display, and the source document is preserved in WORM. Architect lens: note we handle handwriting and voicemail, not just clean PDFs — that's Textract plus Transcribe.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 The gate here is subtle but important for a CISO: the AI extracts, but the official record of truth is human-confirmed before it enters the case system. So an extraction error can't silently become a benefits decision. Step 3 — validate and mask — is where governance lives: rules checks plus PII redaction happen before anything is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sec] Same governed backbone as every agent — reuse the JWT and deny-by-default story. The one change is box 6: the agent calls Textract and Transcribe under Guardrails. For the architect: this is the reference IDP pattern AWS publishes (Textract + Comprehend + A2I), wrapped in our gateway and audit. For the CISO: source documents and extracted records both land in Object-Lock WORM storage — immutable for retention and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Anne Arundel is the spine — name the county, it lands harder than an anonymized stat. Be precise: the 45-min-to-20-sec figure is specifically voicemail summarization; the broader claim is that hour-long manual steps now need almost no effort. The ROI sentence is the one CIOs remember: you reclaim the first hour of every case, and the same pipeline serves all eight agents — build once, reuse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The proof point here is bulletproof and government-issued: the Office of the Governor of California, April 30 2025, announcing an AI e-check plan-review tool — and Amazon is named as a contributing partner, which gives you the AWS thread. Lead with government, not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headline quote is verbatim from the California .gov release: AI brings permitting from 'weeks and months' to 'hours or days.' That's a government source — no caveat needed. Then make it matter to taxpayers and CIOs with the NAHB numbers: regulation is over a quarter of a new home's price and 94% of developers say it causes delays. So speed isn't a convenience metric — it's housing affordability. NAHB is the authoritative homebuilding trade body; label it industry/analyst.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CIO: this is a backlog and constituent-satisfaction problem with a hard economic tail. CISO: note that the agent pre-checks and advises — it does not issue. Architect: the code rules live in a knowledge base you control and version, so 'why was this flagged' is always answerable with a citation. Ask: how many of your review cycles are caused by incomplete or non-compliant submissions? That's exactly what pre-check removes.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 Emphasize the human gate for this regulated decision: a licensed reviewer issues the permit — issuance is withheld in code, the model never has that authority. That's the sentence that protects the agency legally. Steps 1-3 just make the human faster: applicants fix problems before submitting, and reviewers start from a structured first pass instead of a blank plan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sec] Standard governed backbone. For the architect, stress that the rules engine and code knowledge base are agency-owned and auditable. For the CISO: WORM audit means every issuance has an immutable record of what was checked and why — valuable in an appeal or a records request. Reuse the JWT/least-privilege walk-through.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Lead with the California government framing (weeks → hours/days), then the Austin ~50% zoning-review figure — be transparent that the 50% is Archistar's vendor number, though it carries a named City of Austin official's attribution, so present it as 'the City of Austin reports ~50%.' The 25+ municipalities line (Austin, Houston, Seattle, Colorado) is from the California release and shows this isn't experimental. Do NOT claim end-to-end issuance got faster by a fixed percent — the honest story is fewer correction cycles and faster valid submissions; reviewer judgment and legal authority are unchanged.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This is the most mission-sensitive agent — frame it around keeping eligible people covered, not 'processing faster.' That framing matters to program directors and to a CISO worried about fairness and due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Two government-grade numbers anchor this: SNAP's FY2024 error rate of 10.93% (USDA, June 2025) — your cleanest cite, with real federal consequences since 44 states had to file corrective plans — and KFF's finding that 69% of Medicaid unwinding disenrollments were procedural. Cite the KFF data as of September 2024 so it isn't mistaken for current enrollment. The Nevada 'hours to ~5 minutes' is real but say 'minutes instead of hours' — the baseline is reported loosely and I deliberately avoided the unverified '40,000' backlog figure; use 'over 10,000.' UNLV is an independent critic here, not a pilot partner — don't call it a UNLV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reframe is the whole pitch: most losses are paperwork, not eligibility. For a CIO that's a satisfaction and equity story; for a CISO it's due process. Stress that the copilot is read-only at prescreen — it cannot deny or approve anyone. The error-rate number is the one that gets a finance director's attention because of the federal penalty exposure.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Adjudication is the bright line — say it plainly: the agent prescreens and drafts, a caseworker decides, and that decision is withheld in code. For the CISO, add that the model is fairness-tested in our governance suite and every input and citation is logged, so an adverse decision is explainable and contestable. This is how you deploy AI in a due-process context without creating legal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sec] Same governed backbone; for this agent emphasize three things to the CISO: PII masking before inference (these are sensitive HHS records), fairness evaluation in the pipeline, and immutable WORM audit for appeals. Reuse the JWT/least-privilege flow. Note CJIS/IRS-1075 alignment matters here because benefits data crosses those boundaries.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Nevada DETR is your named-government anchor — minutes instead of hours, backlog triaged. Georgia's 'George' adds volume credibility (993,141 sessions, 97% routing) but it's state/vendor self-reported and from 2023, so label it and lead with Nevada. Land the ROI reframe: the highest-return move is helping eligible people finish paperwork, not tightening review — and a human still owns every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This agent sells itself to anyone who's been sued over a missed FOIA deadline. Frame it as deadline-risk reduction with control retained, not 'AI redaction' — the second framing scares records officers.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Every number on the hook is rock-solid DOJ government data from the FY2024 Summary of Annual FOIA Reports, April 2025: a 267,056 backlog up 33%, $723.4 million in cost, 1.5 million requests received up 25%. These are your most bulletproof figures in the whole library — cite them with confidence. The story: demand is compounding and you cannot hire your way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CIO: this is a capacity-versus-demand gap with legal teeth. CISO: the sensitive part is redaction — so make clear the agent proposes redactions with cited exemptions, and a human authorizes every release. Architect: unified search across siloed repositories is half the value; redaction is the other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 'The agent proposes; a records officer disposes' — say that line. For a CISO, the exemption log is the artifact that matters: every proposed redaction carries its statutory basis, and the officer's decision plus rationale is written to WORM. That's defensible in litigation. No record leaves the building until a human clicks approve — release is withheld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sec] Standard backbone. Emphasize to the architect that search spans repositories via the gateway with least-privilege scoping, so the agent can only reach records the requesting role may touch. For the CISO: immutable audit of what was searched, what was redacted and why, and who authorized release — the complete chain a court would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Both proof points are vendor-reported — label them. Kofile (hours-to-seconds, 3,000+ counties on AWS) is qualitative but credible and AWS-published; CaseGuard's 85%-faster redaction is the vendor's own marketing, so present it as a claim. Lead with the DOJ problem scale, which is gov, and let the vendor outcomes show the pattern. Close on deadline risk: a fixed team clears more, on time, with release still human-authorized.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Frame this as drafting assistance with award authority untouched — but you now have a strong NAMED proof point (Oklahoma) that AI is already delivering hard procurement value at the state level, so you no longer have to be apologetic. Lead with the named state, then bring it back to the drafting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problem scale is well-sourced: Euna's analysis of 6,000+ public-sector RFPs puts the average cycle at 57 days, with ~90 hours of staff effort per RFP from 2024 NCPP data, and a GAO finding that lead time on contracts over $50M grew by about 70 days. Caveat for your own awareness: the 57-day figure is originally ~2019 vintage (the page was refreshed in 2026), so pair it with the fresher 90-hour number. GAO is federal/DOD, so present it as 'government-wide acquisition lead times are long and growing,' not an SLG-specific stat.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CIO: slow cycles and thin competition both cost money — fewer bids means worse prices. CISO/compliance: procurement integrity is the concern, so stress that the agent never scores or awards. Architect: drafting from prior awards plus a clause knowledge base is the pattern; keep that KB agency-owned.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 The gate is non-negotiable here for procurement integrity: humans evaluate and award; award is withheld in code. For a CISO, the value is that every draft version, edit and the final award rationale are captured immutably — that's your bid-protest defense file. The completeness check (step 2) is where you prevent the ambiguous-RFP problem that causes re-solicitation.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Same governed backbone. For this agent, the audit story is the headline for compliance: WORM-logged versioning of every solicitation and award rationale. Reuse the JWT/least-privilege walk-through. Note that connectors reach the eProcurement system through the deny-by-default gateway, scoped to the user's role.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You now have a genuinely strong NAMED proof point — use it. Oklahoma's OMES (Celonis Process Copilot on the state's PeopleSoft data) flagged $6.8B in purchasing inefficiencies and, after a legislative report found $3B of purchases lacked oversight, reviewed ALL procurement for 100+ agencies in 60 days — versus up to 8 audits a year before, often on purchases 2-3 years old (GovTech, named official Janet Morrow, Feb 2025). One honesty caveat to keep in your pocket: Oklahoma is procurement OVERSIGHT / spend-analytics AI, not solicitation drafting — so present it as proof that AI returns hard dollars in state procurement, then bring it back to what THIS agent does (governed drafting). Pennsylvania's ChatGPT Enterprise pilot adds a second named state (~8 hrs/week per worker, Gov. Shapiro on the record, with procurement a named beneficiary). Dallas + Hazel AI is a named city doing solicitation drafting with AI but no hard metric yet — use as 'adoption is real, drafting outcomes still emerging.' And be straight that no named state/local GRANTS-AI deployment with a hard metric exists yet — keep grants framed as drafting/intake assistance.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This is the internal-operations agent — easy ROI because the 'customer' is your own staff and the data is less sensitive than citizen PII. Good early win for a CIO who wants a low-risk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IBM AskIT's 75% self-resolution is the headline — it's vendor-reported but at real scale (133,000+ users, trained on ~300,000 tickets), so label it and use it. The peer-reviewed productivity figure should be cited as the QJE 2025 paper (+14% avg, +34% novice) — the NBER working paper isn't itself peer-reviewed, so attribute the label correctly. The GAO legacy numbers set up why this matters: $100B+ a year, ~80% just to operate aging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CIO: this is the 'free up scarce engineers' story, and it ties directly to the legacy-modernization budget trap. CISO: internal tooling, lower data sensitivity, but privileged actions are the risk — flag that we handle that at the gate. Architect: note the desk integrates with your ITSM and identity, not rip-and-replace.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The governance highlight here is concrete and provable: in our implementation a high-risk runbook returns BLOCKED_NEEDS_APPROVER because the desk role isn't entitled to run it — the agent literally cannot self-authorize a privileged change. Tests enforce this. That's the demo that wins a CISO: least privilege isn't a setting, it's behavior. Low-risk reversible actions are automated; everything privileged waits for an entitled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Same backbone; for this agent stress least-privilege entitlements and the approver gate. Reuse the JWT walk-through and point out that the MCP gateway is exactly what enforces 'desk can answer, only an SRE can run the runbook.' WORM audit captures who approved each privileged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 sec] Lead with IBM's 75% (labeled vendor). Important correction baked into this slide: I reframed the ServiceNow number — there is no verifiable 'Now Assist MTTR' figure, so the slide cites ServiceNow ITSM AI/ML reducing MTTR &gt;10% from Microsoft's internal deployment. Don't say 'Now Assist' out loud. The +34% novice figure is your one peer-reviewed anchor here — use it to make the turnover/ramp argument. Close on the CIO line: deflecting routine tickets buys back the engineering hours that reduce the 80% legacy 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This is your credibility flagship — the one stat in the whole library that is both government and peer-reviewed. Lead the entire customer conversation from TowerScout, then generalize the pattern.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CDC TowerScout: cooling-tower identification from 4 hours to 5 minutes, a 98% reduction, used in 12+ outbreak investigations across 8 states since 2021. Important honesty for your notes: the 98%/4-hr-to-5-min figure is footnoted by CDC as based on 'unpublished CDC studies' — the peer-reviewed Lancet Digital Health 2024 paper validates the detection model's accuracy, not the time savings. Keep those two claims distinct: cite 98% as a CDC operational claim and Lancet as the model-validation study. Still the strongest evidence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sec] CIO: scarce specialist capacity versus surge demand — AI buys back expert hours when they're most valuable. CISO: this is detection and drafting support, never autonomous action; nothing is published without expert review. Architect: computer vision plus SageMaker for detection, Bedrock for triage and drafting.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 sec] The gate matters enormously in this domain: findings are never auto-published, an expert validates and approves. For public safety especially, stress that the agent drafts documentation but the officer or investigator owns and edits the final record — and every model output plus the human decision is logged to WORM, which matters for evidentiary and FOIA purposes.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Same governed backbone. For the CISO, emphasize audit immutability — in a public-safety context the chain of what the model produced versus what the human approved can become evidence. Reuse the JWT/least-privilege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sec] Per your direction, the counter-evidence lives here in the notes, not on the slide — but you MUST be ready to volunteer it, because a sharp CISO will ask. The honest picture on AI police report-writing: Axon's vendor trial in Leon County showed report time roughly halved (24.6 → 9.46 min), BUT a pre-registered randomized controlled trial in the Journal of Experimental Criminology (2024, n=85 officers, 755 reports, with a 6,084-report robustness check) found NO significant time savings, and Anchorage PD ran a 90-day Draft One trial and declined to keep it because review time ate the gains. So: lead with TowerScout (gov + peer-reviewed, unimpeachable); present document-drafting as promising but contested; and let that honesty make everything else you've said more believable. That intellectual integrity is exactly what earns a CISO's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sec] This is the strategic sale — the one a state CIO or chief enterprise architect cares about most. Everything before this was an agent; this is the platform that makes a hundred agents safe. Pitch it as the paved road out of pilot purgatory.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NASCIO 2025 data is your spine: AI is the #1 state-CIO priority for 2026, displacing cybersecurity after 12 years at the top. The killer stat is the gap — 90% are piloting GenAI but only 25% have dedicated funding. That's the pilot trap, and governance is the way out. Label NASCIO as the state-CIO association, not a government agency. Deloitte's 21-point satisfaction gap (note: 2023 survey) frames why this matters to residents.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insight to land: the agents are the easy part — governing what they're allowed to do, across agencies, with consent and audit, is the hard part, and it's exactly what blocks pilots from becoming production. For a CISO this is the whole conversation: one consistent governance layer beats fifty inconsistent ones. For a CIO it's how you fund and scale instead of perpetually piloting.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sec] Walk the five capabilities as the platform's spine. Govern-tool-access is the crown jewel — per-tool contracts binding agency, purpose, data class, residency and thresholds; deny-by-default. Canonical data means agents share one view instead of each integrating everything. The saga gives durable cross-agency workflows with compensation and rollback — critical when a life event touches five systems. Compliance events emit evidence retained by data class. The five declarative life-event templates are the demo: a resident moves, and it cascades across agencies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 sec] This is the enterprise-architect centerpiece. Note it's a runnable reference, not a diagram — gate, step and compensate Lambdas, generic Step Functions ASL, live AWS backends (DynamoDB consent store, EventBridge compliance bus, idempotency store), env-selectable. For the CISO: WORM evidence retained by data class, and Bedrock's FedRAMP High / IL-4/5 authorization in GovCloud is the line that makes this deployable in a regulated environment. Mention the GovCloud caveat honestly: some AgentCore features aren't in GovCloud yet, so we use the portable gateway path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 The framing line: the platform is the product, the agents are the proof. A CIO buys the paved road — build governance once and every future agent inherits identity, least privilege, canonical data, audit and human gates on day one. That's the escape from the 90%-piloting/25%-funded trap. Close on the resident: one government, one life event, handled once. This is the deck you leave behind with the 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Agentic AI for State &amp; Local Government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Eight governed agents and one platform — a reference library for regulated public-sector AI,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3800" b="1" dirty="0">
                <a:solidFill>
                  <a:srgbClr val="FF9900"/>
                </a:solidFill>
                <a:latin typeface="Trebuchet MS" pitchFamily="34" charset="0"/>
                <a:ea typeface="Trebuchet MS" pitchFamily="34" charset="-122"/>
                <a:cs typeface="Trebuchet MS" pitchFamily="34" charset="-120"/>
              </a:rPr>
              <a:t>FROM SCATTERED PILOTS TO A GOVERNED AI PLATFORM</a:t>
            </a:r>
            <a:endParaRPr lang="en-US" sz="38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Agentic AI for State &amp; Local Government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 complete, deployable reference library: eight production-shaped agents across the resident journey, all built on one governed platform where every consequential action stays human, every answer is cited, and every step is logged — designed for a regulated environment from day one.</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#1</a:t>
            </a:r>
            <a:endParaRPr lang="en-US" sz="36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AI is the top state-CIO priority for 2026 (NASCIO)</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8 + 1</a:t>
            </a:r>
            <a:endParaRPr lang="en-US" sz="32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governed agents plus a whole-of-government platform, all on AWS</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FedRAMP High</a:t>
            </a:r>
            <a:endParaRPr lang="en-US" sz="26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Bedrock authorized; DoD IL-4/5 in GovCloud (US)</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The demand is proven; the missing piece is governed, fundable production.</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State and local executives — CIOs, CISOs and directors of architecture — deciding where to place AI bets that will survive security review, an audit, and a budget cycle.</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Pilots are everywhere; few reach governed, funded production.</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Each agent rebuilt from scratch multiplies cost and risk.</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Security, accessibility and audit are bolted on late, if at all.</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Residents experience government as disconnected silos.</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90% vs 25%</a:t>
            </a:r>
            <a:endParaRPr lang="en-US" sz="26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piloting GenAI vs. funded to scale it (NASCIO 2025)</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$100B+</a:t>
            </a:r>
            <a:endParaRPr lang="en-US" sz="26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government IT spend, ~80% operating legacy systems (GAO)</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Apr 2027</a:t>
            </a:r>
            <a:endParaRPr lang="en-US" sz="26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ADA Title II WCAG 2.1 AA deadline for ≥50k-population governments</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NASCIO 2025–2026; GAO-25-107795; ADA.gov 2026 IFR. See DECK-SOURCES.md.</a:t>
            </a:r>
            <a:endParaRPr lang="en-US" sz="8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One pattern, eight agents: ground → act safely → human gate → audit — reused everywhere.</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Resident-facing</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311 services and forms/IDP — the front door and the intake.</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Agents 01–02</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Casework</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Permitting, benefits, records, procurement — governed decisions.</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Agents 03–06</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Operations</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IT service desk and public safety/health acceleration.</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Agents 07–08</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gates everywhere</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Every consequential action is withheld in code until approved.</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Across all agents</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One platform</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Shared governance, canonical data, audit and compliance events.</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WoG platform</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Each agent withholds its consequential action — issue, adjudicate, release, award — verified by tests.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One governed AWS backbone shared by all eight agents and the platform.</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Deployable, defensible, and built to scale.</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3000" b="1" dirty="0">
                <a:solidFill>
                  <a:srgbClr val="FF9900"/>
                </a:solidFill>
                <a:latin typeface="Trebuchet MS" pitchFamily="34" charset="0"/>
                <a:ea typeface="Trebuchet MS" pitchFamily="34" charset="-122"/>
                <a:cs typeface="Trebuchet MS" pitchFamily="34" charset="-120"/>
              </a:rPr>
              <a:t>8 agents</a:t>
            </a:r>
            <a:endParaRPr lang="en-US" sz="30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each with code, IaC, containers, runbooks and a customer deck</a:t>
            </a:r>
            <a:endParaRPr lang="en-US" sz="1100" dirty="0"/>
          </a:p>
        </p:txBody>
      </p:sp>
      <p:sp>
        <p:nvSpPr>
          <p:cNvPr id="7" name="Text 5"/>
          <p:cNvSpPr/>
          <p:nvPr/>
        </p:nvSpPr>
        <p:spPr>
          <a:xfrm>
            <a:off x="1024128" y="3118104"/>
            <a:ext cx="912571"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REFERENCE</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2800" b="1" dirty="0">
                <a:solidFill>
                  <a:srgbClr val="FF9900"/>
                </a:solidFill>
                <a:latin typeface="Trebuchet MS" pitchFamily="34" charset="0"/>
                <a:ea typeface="Trebuchet MS" pitchFamily="34" charset="-122"/>
                <a:cs typeface="Trebuchet MS" pitchFamily="34" charset="-120"/>
              </a:rPr>
              <a:t>CFN + Terraform</a:t>
            </a:r>
            <a:endParaRPr lang="en-US" sz="28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full IaC parity across commercial and GovCloud</a:t>
            </a:r>
            <a:endParaRPr lang="en-US" sz="1100" dirty="0"/>
          </a:p>
        </p:txBody>
      </p:sp>
      <p:sp>
        <p:nvSpPr>
          <p:cNvPr id="11" name="Text 9"/>
          <p:cNvSpPr/>
          <p:nvPr/>
        </p:nvSpPr>
        <p:spPr>
          <a:xfrm>
            <a:off x="4620768" y="3118104"/>
            <a:ext cx="1137514"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ARCHITECTURE</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2800" b="1" dirty="0">
                <a:solidFill>
                  <a:srgbClr val="FF9900"/>
                </a:solidFill>
                <a:latin typeface="Trebuchet MS" pitchFamily="34" charset="0"/>
                <a:ea typeface="Trebuchet MS" pitchFamily="34" charset="-122"/>
                <a:cs typeface="Trebuchet MS" pitchFamily="34" charset="-120"/>
              </a:rPr>
              <a:t>WCAG 2.1 AA</a:t>
            </a:r>
            <a:endParaRPr lang="en-US" sz="28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accessibility tested; control mappings included</a:t>
            </a:r>
            <a:endParaRPr lang="en-US" sz="1100" dirty="0"/>
          </a:p>
        </p:txBody>
      </p:sp>
      <p:sp>
        <p:nvSpPr>
          <p:cNvPr id="15" name="Text 13"/>
          <p:cNvSpPr/>
          <p:nvPr/>
        </p:nvSpPr>
        <p:spPr>
          <a:xfrm>
            <a:off x="8217408" y="3118104"/>
            <a:ext cx="987552" cy="256032"/>
          </a:xfrm>
          <a:prstGeom prst="rect">
            <a:avLst>
              <a:gd name="adj" fmla="val 14286"/>
            </a:avLst>
          </a:prstGeom>
          <a:solidFill>
            <a:srgbClr val="0E7C68"/>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COMPLIANCE</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Lead with the agent that fits the room — 311 for citizen value, benefits for mission, public safety for credibility — then sell the platform underneath. Build governance once and every future agent inherits it. That is the difference between another pilot and a fundable program.</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Resident Services &amp; 311 Virtual Agent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A governed, agentic AI front door for citizen requests —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4600" b="1" dirty="0">
                <a:solidFill>
                  <a:srgbClr val="FF9900"/>
                </a:solidFill>
                <a:latin typeface="Trebuchet MS" pitchFamily="34" charset="0"/>
                <a:ea typeface="Trebuchet MS" pitchFamily="34" charset="-122"/>
                <a:cs typeface="Trebuchet MS" pitchFamily="34" charset="-120"/>
              </a:rPr>
              <a:t>FROM $8 A CALL TO $0.10</a:t>
            </a:r>
            <a:endParaRPr lang="en-US" sz="46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Resident Services &amp; 311 Virtual Agent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An always-on, multilingual agent that answers resident questions, files and tracks 311 service requests, and routes only the exceptions to staff — grounded in your knowledge base, with every answer cited and every action logged.</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$8.01 → $0.10</a:t>
            </a:r>
            <a:endParaRPr lang="en-US" sz="28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cost of a live agent contact vs. self-service (Gartner)</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98,028</a:t>
            </a:r>
            <a:endParaRPr lang="en-US" sz="34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311 contacts handled per day at NYC311 alone (NYC OTI)</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+14 / +34%</a:t>
            </a:r>
            <a:endParaRPr lang="en-US" sz="30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support productivity, avg / for novice agents (Brynjolfsson et al., QJE 2025)</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Residents wait on hold for answers government already has.</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City/county 311 and constituent-services teams fielding repetitive questions across phone, web, email and walk-ins — often in many languages, with peak surges they can't staff for.</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The same FAQs — trash days, permits, potholes, payments — consume scarce agent time.</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Live channels cost roughly $8 a contact; self-service is about a dime.</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After-hours and language gaps push residents to call back, inflating volume.</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Staff copy-paste between systems instead of resolving the resident's actual issue.</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$8.01</a:t>
            </a:r>
            <a:endParaRPr lang="en-US" sz="30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per live-agent contact — ~80× the cost of self-service (Gartner, 2019)</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98,028 / day</a:t>
            </a:r>
            <a:endParaRPr lang="en-US" sz="26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contact volume at a single big-city 311 (NYC OTI, 2023)</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9%</a:t>
            </a:r>
            <a:endParaRPr lang="en-US" sz="30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of customers fully self-resolve today without help (Gartner)</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Gartner 2019; NYC Office of Technology &amp; Innovation 2023. See DECK-SOURCES.md.</a:t>
            </a:r>
            <a:endParaRPr lang="en-US" sz="83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Understand → ground → act → escalate — with a human gate on anything that commits the agency.</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Understand the request</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Detect intent and language across channels; classify the 311 service type.</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Guardrails</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Ground the answer</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Retrieve from the agency KB; answer only with cited, sourced facts.</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Knowledge Bases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Take the safe action</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Create/track a service request; check status; no PII exposed.</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MCP gateway + connectors</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gate</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Anything beyond read/file — refunds, dispatch commitments — pauses for staff approval.</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Log &amp; learn</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Write the transcript, citations and decision to a WORM audit trail.</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Read and file-a-request are automated; commitments are not. The agent drafts; a person commits.</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Multilingual front door with deny-by-default tool access and a full audit trail.</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Deflect the routine, elevate the human, prove it in the logs.</a:t>
            </a:r>
            <a:endParaRPr lang="en-US" sz="2500" dirty="0"/>
          </a:p>
        </p:txBody>
      </p:sp>
      <p:sp>
        <p:nvSpPr>
          <p:cNvPr id="4" name="Shape 2"/>
          <p:cNvSpPr/>
          <p:nvPr/>
        </p:nvSpPr>
        <p:spPr>
          <a:xfrm>
            <a:off x="822960" y="1828800"/>
            <a:ext cx="512064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475488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2,700</a:t>
            </a:r>
            <a:endParaRPr lang="en-US" sz="3200" dirty="0"/>
          </a:p>
        </p:txBody>
      </p:sp>
      <p:sp>
        <p:nvSpPr>
          <p:cNvPr id="6" name="Text 4"/>
          <p:cNvSpPr/>
          <p:nvPr/>
        </p:nvSpPr>
        <p:spPr>
          <a:xfrm>
            <a:off x="1042416" y="2596896"/>
            <a:ext cx="470001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inquiries handled in month one, North Carolina DES assistant</a:t>
            </a:r>
            <a:endParaRPr lang="en-US" sz="1100" dirty="0"/>
          </a:p>
        </p:txBody>
      </p:sp>
      <p:sp>
        <p:nvSpPr>
          <p:cNvPr id="7" name="Text 5"/>
          <p:cNvSpPr/>
          <p:nvPr/>
        </p:nvSpPr>
        <p:spPr>
          <a:xfrm>
            <a:off x="102412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8" name="Shape 6"/>
          <p:cNvSpPr/>
          <p:nvPr/>
        </p:nvSpPr>
        <p:spPr>
          <a:xfrm>
            <a:off x="6217920" y="1828800"/>
            <a:ext cx="512064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6419088" y="1975104"/>
            <a:ext cx="475488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~20%</a:t>
            </a:r>
            <a:endParaRPr lang="en-US" sz="3200" dirty="0"/>
          </a:p>
        </p:txBody>
      </p:sp>
      <p:sp>
        <p:nvSpPr>
          <p:cNvPr id="10" name="Text 8"/>
          <p:cNvSpPr/>
          <p:nvPr/>
        </p:nvSpPr>
        <p:spPr>
          <a:xfrm>
            <a:off x="6437376" y="2596896"/>
            <a:ext cx="470001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of all 311 interactions handled by Denver's 'Sunny' assistant</a:t>
            </a:r>
            <a:endParaRPr lang="en-US" sz="1100" dirty="0"/>
          </a:p>
        </p:txBody>
      </p:sp>
      <p:sp>
        <p:nvSpPr>
          <p:cNvPr id="11" name="Text 9"/>
          <p:cNvSpPr/>
          <p:nvPr/>
        </p:nvSpPr>
        <p:spPr>
          <a:xfrm>
            <a:off x="641908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12" name="Shape 10"/>
          <p:cNvSpPr/>
          <p:nvPr/>
        </p:nvSpPr>
        <p:spPr>
          <a:xfrm>
            <a:off x="822960" y="3685032"/>
            <a:ext cx="512064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1024128" y="3831336"/>
            <a:ext cx="475488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45%</a:t>
            </a:r>
            <a:endParaRPr lang="en-US" sz="3200" dirty="0"/>
          </a:p>
        </p:txBody>
      </p:sp>
      <p:sp>
        <p:nvSpPr>
          <p:cNvPr id="14" name="Text 12"/>
          <p:cNvSpPr/>
          <p:nvPr/>
        </p:nvSpPr>
        <p:spPr>
          <a:xfrm>
            <a:off x="1042416" y="4453128"/>
            <a:ext cx="470001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peak-season live-agent staffing reduction, Denver</a:t>
            </a:r>
            <a:endParaRPr lang="en-US" sz="1100" dirty="0"/>
          </a:p>
        </p:txBody>
      </p:sp>
      <p:sp>
        <p:nvSpPr>
          <p:cNvPr id="15" name="Text 13"/>
          <p:cNvSpPr/>
          <p:nvPr/>
        </p:nvSpPr>
        <p:spPr>
          <a:xfrm>
            <a:off x="1024128" y="4974336"/>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16" name="Shape 14"/>
          <p:cNvSpPr/>
          <p:nvPr/>
        </p:nvSpPr>
        <p:spPr>
          <a:xfrm>
            <a:off x="6217920" y="3685032"/>
            <a:ext cx="5120640" cy="1600200"/>
          </a:xfrm>
          <a:prstGeom prst="roundRect">
            <a:avLst>
              <a:gd name="adj" fmla="val 4571"/>
            </a:avLst>
          </a:prstGeom>
          <a:solidFill>
            <a:srgbClr val="2C3B4E"/>
          </a:solidFill>
          <a:ln w="12700">
            <a:solidFill>
              <a:srgbClr val="37475A"/>
            </a:solidFill>
            <a:prstDash val="solid"/>
          </a:ln>
        </p:spPr>
      </p:sp>
      <p:sp>
        <p:nvSpPr>
          <p:cNvPr id="17" name="Text 15"/>
          <p:cNvSpPr/>
          <p:nvPr/>
        </p:nvSpPr>
        <p:spPr>
          <a:xfrm>
            <a:off x="6419088" y="3831336"/>
            <a:ext cx="475488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85%</a:t>
            </a:r>
            <a:endParaRPr lang="en-US" sz="3200" dirty="0"/>
          </a:p>
        </p:txBody>
      </p:sp>
      <p:sp>
        <p:nvSpPr>
          <p:cNvPr id="18" name="Text 16"/>
          <p:cNvSpPr/>
          <p:nvPr/>
        </p:nvSpPr>
        <p:spPr>
          <a:xfrm>
            <a:off x="6437376" y="4453128"/>
            <a:ext cx="470001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resident approval rating, Denver 'Sunny'</a:t>
            </a:r>
            <a:endParaRPr lang="en-US" sz="1100" dirty="0"/>
          </a:p>
        </p:txBody>
      </p:sp>
      <p:sp>
        <p:nvSpPr>
          <p:cNvPr id="19" name="Text 17"/>
          <p:cNvSpPr/>
          <p:nvPr/>
        </p:nvSpPr>
        <p:spPr>
          <a:xfrm>
            <a:off x="6419088" y="4974336"/>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20" name="Shape 18"/>
          <p:cNvSpPr/>
          <p:nvPr/>
        </p:nvSpPr>
        <p:spPr>
          <a:xfrm>
            <a:off x="822960" y="5586984"/>
            <a:ext cx="10515600" cy="841248"/>
          </a:xfrm>
          <a:prstGeom prst="roundRect">
            <a:avLst>
              <a:gd name="adj" fmla="val 6522"/>
            </a:avLst>
          </a:prstGeom>
          <a:solidFill>
            <a:srgbClr val="3A4B5F"/>
          </a:solidFill>
          <a:ln/>
        </p:spPr>
      </p:sp>
      <p:sp>
        <p:nvSpPr>
          <p:cNvPr id="21" name="Text 19"/>
          <p:cNvSpPr/>
          <p:nvPr/>
        </p:nvSpPr>
        <p:spPr>
          <a:xfrm>
            <a:off x="1005840" y="5632704"/>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Every contact the agent resolves is roughly an $8 live interaction turned into a dime — at 311 volumes that is a budget line, not a rounding error. Productivity research shows the biggest lift goes to your newest agents, shortening ramp time and turnover cost.</a:t>
            </a:r>
            <a:endParaRPr lang="en-US" sz="1150" dirty="0"/>
          </a:p>
        </p:txBody>
      </p:sp>
      <p:sp>
        <p:nvSpPr>
          <p:cNvPr id="22" name="Text 20"/>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Forms &amp; Intelligent Document Processing</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Turn paper, PDFs and voicemail into structured, validated data — governed,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4600" b="1" dirty="0">
                <a:solidFill>
                  <a:srgbClr val="FF9900"/>
                </a:solidFill>
                <a:latin typeface="Trebuchet MS" pitchFamily="34" charset="0"/>
                <a:ea typeface="Trebuchet MS" pitchFamily="34" charset="-122"/>
                <a:cs typeface="Trebuchet MS" pitchFamily="34" charset="-120"/>
              </a:rPr>
              <a:t>FROM 45 MINUTES TO 20 SECONDS</a:t>
            </a:r>
            <a:endParaRPr lang="en-US" sz="46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Forms &amp; Intelligent Document Processing</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An IDP agent that ingests applications, letters, and voicemails, extracts and validates the fields, masks PII, and routes a clean record to staff — replacing manual keying that is slow and error-prone, with a human gate before anything is filed as official.</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45 min → &lt;20s</a:t>
            </a:r>
            <a:endParaRPr lang="en-US" sz="26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manual intake vs. AI summarization, Anne Arundel County (AWS)</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~1%</a:t>
            </a:r>
            <a:endParaRPr lang="en-US" sz="36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baseline error rate even for double-key manual data entry (JAMIA)</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30%</a:t>
            </a:r>
            <a:endParaRPr lang="en-US" sz="30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of one county's web traffic is a single document-heavy process: permitting</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Applications languish for weeks because a human has to read and retype them.</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Any agency that runs on intake forms — benefits, permits, licensing, records — where staff manually transcribe documents into case systems before work can even begin.</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Basic applications can wait weeks or months just to be entered.</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Manual keying introduces errors that cause rejected applications and rework.</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Documents arrive in every format — typed, handwritten, scanned, voicemail.</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Staff spend their first hour on a case transcribing, not deciding.</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~1%+</a:t>
            </a:r>
            <a:endParaRPr lang="en-US" sz="30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field error rate for manual entry — higher for single-key (JAMIA, 2019)</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45 min</a:t>
            </a:r>
            <a:endParaRPr lang="en-US" sz="28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manual intake per case before staff can begin (Anne Arundel County)</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Weeks–months</a:t>
            </a:r>
            <a:endParaRPr lang="en-US" sz="24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documents can languish unprocessed (AWS Public Sector)</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Mays &amp; Mathias, JAMIA 2019 (peer-reviewed); AWS Public Sector Blog 2025–2026. See DECK-SOURCES.md.</a:t>
            </a:r>
            <a:endParaRPr lang="en-US" sz="8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Ingest → extract → validate → mask → human-confirm — clean data, not a clean-up project.</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Ingest anything</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Documents, images, handwriting and voicemail across channels.</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Textract + Transcribe</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Extract &amp; summarize</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Pull fields and a structured summary; categorize and route.</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Guardrails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Validate &amp; mask</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Check against rules; redact PII before anything is stored or shown.</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PII masker + Comprehend</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confirm</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Staff verify the extracted record before it is filed as official.</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File &amp; audit</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Write the validated record and the source doc to a WORM trail.</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Extraction is automated; the official record of truth is human-confirmed before it enters the case system.</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Document-to-data pipeline with PII masking and human confirmation before filing.</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Textract/Transcribe + Guardrails</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Hours of keying become seconds of review.</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2400" b="1" dirty="0">
                <a:solidFill>
                  <a:srgbClr val="FF9900"/>
                </a:solidFill>
                <a:latin typeface="Trebuchet MS" pitchFamily="34" charset="0"/>
                <a:ea typeface="Trebuchet MS" pitchFamily="34" charset="-122"/>
                <a:cs typeface="Trebuchet MS" pitchFamily="34" charset="-120"/>
              </a:rPr>
              <a:t>45 min → &lt;20s</a:t>
            </a:r>
            <a:endParaRPr lang="en-US" sz="24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intake summarization time, Anne Arundel County 'GIST' on AWS</a:t>
            </a:r>
            <a:endParaRPr lang="en-US" sz="1100" dirty="0"/>
          </a:p>
        </p:txBody>
      </p:sp>
      <p:sp>
        <p:nvSpPr>
          <p:cNvPr id="7" name="Text 5"/>
          <p:cNvSpPr/>
          <p:nvPr/>
        </p:nvSpPr>
        <p:spPr>
          <a:xfrm>
            <a:off x="1024128" y="3118104"/>
            <a:ext cx="226222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 · NAMED GOV</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3000" b="1" dirty="0">
                <a:solidFill>
                  <a:srgbClr val="FF9900"/>
                </a:solidFill>
                <a:latin typeface="Trebuchet MS" pitchFamily="34" charset="0"/>
                <a:ea typeface="Trebuchet MS" pitchFamily="34" charset="-122"/>
                <a:cs typeface="Trebuchet MS" pitchFamily="34" charset="-120"/>
              </a:rPr>
              <a:t>Near-zero</a:t>
            </a:r>
            <a:endParaRPr lang="en-US" sz="30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manual effort on tasks that once took close to an hour</a:t>
            </a:r>
            <a:endParaRPr lang="en-US" sz="1100" dirty="0"/>
          </a:p>
        </p:txBody>
      </p:sp>
      <p:sp>
        <p:nvSpPr>
          <p:cNvPr id="11" name="Text 9"/>
          <p:cNvSpPr/>
          <p:nvPr/>
        </p:nvSpPr>
        <p:spPr>
          <a:xfrm>
            <a:off x="462076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2200" b="1" dirty="0">
                <a:solidFill>
                  <a:srgbClr val="FF9900"/>
                </a:solidFill>
                <a:latin typeface="Trebuchet MS" pitchFamily="34" charset="0"/>
                <a:ea typeface="Trebuchet MS" pitchFamily="34" charset="-122"/>
                <a:cs typeface="Trebuchet MS" pitchFamily="34" charset="-120"/>
              </a:rPr>
              <a:t>Bedrock + Textract</a:t>
            </a:r>
            <a:endParaRPr lang="en-US" sz="22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 Transcribe + Guardrails + human-in-the-loop, in production</a:t>
            </a:r>
            <a:endParaRPr lang="en-US" sz="1100" dirty="0"/>
          </a:p>
        </p:txBody>
      </p:sp>
      <p:sp>
        <p:nvSpPr>
          <p:cNvPr id="15" name="Text 13"/>
          <p:cNvSpPr/>
          <p:nvPr/>
        </p:nvSpPr>
        <p:spPr>
          <a:xfrm>
            <a:off x="8217408" y="3118104"/>
            <a:ext cx="1437437"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AWS ARCHITECTURE</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Reclaim the first hour of every case. Staff move from transcription to judgment, applications clear faster, and the ~1% manual-entry error tax — and the rework it causes downstream — largely disappears. The same pipeline feeds every other agent in this library.</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Permitting &amp; Licensing Plan-Review Agent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AI pre-check that catches code issues before submission — governed,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4000" b="1" dirty="0">
                <a:solidFill>
                  <a:srgbClr val="FF9900"/>
                </a:solidFill>
                <a:latin typeface="Trebuchet MS" pitchFamily="34" charset="0"/>
                <a:ea typeface="Trebuchet MS" pitchFamily="34" charset="-122"/>
                <a:cs typeface="Trebuchet MS" pitchFamily="34" charset="-120"/>
              </a:rPr>
              <a:t>FROM WEEKS AND MONTHS TO HOURS AND DAYS</a:t>
            </a:r>
            <a:endParaRPr lang="en-US" sz="40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Permitting &amp; Licensing Plan-Review Agent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An AI plan-review assistant that checks designs against local zoning and building codes before submission, flags issues for applicants to fix up front, and gives reviewers a structured first pass — so staff approve, not chase corrections. The issuance decision stays with a licensed human.</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Weeks → hours</a:t>
            </a:r>
            <a:endParaRPr lang="en-US" sz="28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permit timeline with AI e-check, per the State of California</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&gt;26%</a:t>
            </a:r>
            <a:endParaRPr lang="en-US" sz="34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of a new home's price is government regulation (NAHB, 2025)</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94.2%</a:t>
            </a:r>
            <a:endParaRPr lang="en-US" sz="28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of developers say regulations routinely cause project delays (NAHB)</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Plan review is slow, iterative, and expensive — and the delay is a housing cost.</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City and county building, planning and licensing departments where every submission triggers manual code checks, correction cycles, and resubmittals before anything is issued.</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Reviewers manually check each plan against zoning and building codes.</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Incomplete submissions bounce back, adding correction cycles and weeks.</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Applicants wait without visibility; staff field status calls.</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Permitting delay shows up directly in the price of housing and development.</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400" b="1" dirty="0">
                <a:solidFill>
                  <a:srgbClr val="FFFFFF"/>
                </a:solidFill>
                <a:latin typeface="Trebuchet MS" pitchFamily="34" charset="0"/>
                <a:ea typeface="Trebuchet MS" pitchFamily="34" charset="-122"/>
                <a:cs typeface="Trebuchet MS" pitchFamily="34" charset="-120"/>
              </a:rPr>
              <a:t>Weeks–months</a:t>
            </a:r>
            <a:endParaRPr lang="en-US" sz="24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to issue rebuilding permits at the local pace California flagged as too slow</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&gt;26%</a:t>
            </a:r>
            <a:endParaRPr lang="en-US" sz="28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share of a new single-family home's price driven by regulation (NAHB)</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94.2%</a:t>
            </a:r>
            <a:endParaRPr lang="en-US" sz="28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of developers report regulation-driven project delays (NAHB)</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Office of the Governor of California, Apr 30 2025; NAHB 2025. See DECK-SOURCES.md.</a:t>
            </a:r>
            <a:endParaRPr lang="en-US" sz="83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Pre-check → flag → structure → human-issue — fewer correction cycles, faster valid submissions.</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Pre-check the plan</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Computer vision + rules check designs against local codes before submittal.</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rules engine</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Flag for the applicant</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Return specific, cited code issues so plans are fixed up front.</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Knowledge Bases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Structure the review</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Give staff a first-pass summary and a checklist, not a blank slate.</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MCP gateway + connectors</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issues the permit</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A licensed reviewer makes the issuance decision — never the model.</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Record &amp; audit</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Capture the review, citations and decision to a WORM trail.</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The agent accelerates the review; a licensed human issues the permit. Issuance is withheld in code.</a:t>
            </a:r>
            <a:endParaRPr lang="en-US" sz="11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Code-aware pre-check that shortens review while keeping issuance a licensed human decision.</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Valid plans the first time; reviewers freed to decide.</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2200" b="1" dirty="0">
                <a:solidFill>
                  <a:srgbClr val="FF9900"/>
                </a:solidFill>
                <a:latin typeface="Trebuchet MS" pitchFamily="34" charset="0"/>
                <a:ea typeface="Trebuchet MS" pitchFamily="34" charset="-122"/>
                <a:cs typeface="Trebuchet MS" pitchFamily="34" charset="-120"/>
              </a:rPr>
              <a:t>Weeks → hours/days</a:t>
            </a:r>
            <a:endParaRPr lang="en-US" sz="22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permit process with AI e-check, per the Governor of California</a:t>
            </a:r>
            <a:endParaRPr lang="en-US" sz="1100" dirty="0"/>
          </a:p>
        </p:txBody>
      </p:sp>
      <p:sp>
        <p:nvSpPr>
          <p:cNvPr id="7" name="Text 5"/>
          <p:cNvSpPr/>
          <p:nvPr/>
        </p:nvSpPr>
        <p:spPr>
          <a:xfrm>
            <a:off x="1024128" y="3118104"/>
            <a:ext cx="987552" cy="256032"/>
          </a:xfrm>
          <a:prstGeom prst="rect">
            <a:avLst>
              <a:gd name="adj" fmla="val 14286"/>
            </a:avLst>
          </a:prstGeom>
          <a:solidFill>
            <a:srgbClr val="0E7C68"/>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GOVERNMENT</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~50%</a:t>
            </a:r>
            <a:endParaRPr lang="en-US" sz="32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zoning-review time saved with AI pre-check, City of Austin</a:t>
            </a:r>
            <a:endParaRPr lang="en-US" sz="1100" dirty="0"/>
          </a:p>
        </p:txBody>
      </p:sp>
      <p:sp>
        <p:nvSpPr>
          <p:cNvPr id="11" name="Text 9"/>
          <p:cNvSpPr/>
          <p:nvPr/>
        </p:nvSpPr>
        <p:spPr>
          <a:xfrm>
            <a:off x="4620768" y="3118104"/>
            <a:ext cx="226222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 · NAMED GOV</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25+</a:t>
            </a:r>
            <a:endParaRPr lang="en-US" sz="32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municipalities already using AI plan-review (Austin, Houston, Seattle, CO…)</a:t>
            </a:r>
            <a:endParaRPr lang="en-US" sz="1100" dirty="0"/>
          </a:p>
        </p:txBody>
      </p:sp>
      <p:sp>
        <p:nvSpPr>
          <p:cNvPr id="15" name="Text 13"/>
          <p:cNvSpPr/>
          <p:nvPr/>
        </p:nvSpPr>
        <p:spPr>
          <a:xfrm>
            <a:off x="8217408" y="3118104"/>
            <a:ext cx="987552" cy="256032"/>
          </a:xfrm>
          <a:prstGeom prst="rect">
            <a:avLst>
              <a:gd name="adj" fmla="val 14286"/>
            </a:avLst>
          </a:prstGeom>
          <a:solidFill>
            <a:srgbClr val="0E7C68"/>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GOVERNMENT</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Every correction cycle removed is days off the clock for a resident or a builder — and permitting delay is a measurable housing cost. The agency keeps the same legal authority and reviewer judgment, but spends it on decisions instead of chasing incomplete paperwork.</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Benefits &amp; HHS Caseworker Copilot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Cut procedural churn and speed eligibility — governed, with adjudication kept human,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4600" b="1" dirty="0">
                <a:solidFill>
                  <a:srgbClr val="FF9900"/>
                </a:solidFill>
                <a:latin typeface="Trebuchet MS" pitchFamily="34" charset="0"/>
                <a:ea typeface="Trebuchet MS" pitchFamily="34" charset="-122"/>
                <a:cs typeface="Trebuchet MS" pitchFamily="34" charset="-120"/>
              </a:rPr>
              <a:t>FROM HOURS TO MINUTES</a:t>
            </a:r>
            <a:endParaRPr lang="en-US" sz="46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Benefits &amp; HHS Caseworker Copilot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 caseworker copilot that prescreens eligibility, drafts notices, explains requirements to applicants, and surfaces the documents a case is missing — so fewer people lose coverage over paperwork. Every adjudication stays a human decision.</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10.93%</a:t>
            </a:r>
            <a:endParaRPr lang="en-US" sz="34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SNAP FY2024 national payment error rate (USDA FNS)</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69%</a:t>
            </a:r>
            <a:endParaRPr lang="en-US" sz="34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of Medicaid 'unwinding' disenrollments were procedural (KFF)</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Hours → ~5 min</a:t>
            </a:r>
            <a:endParaRPr lang="en-US" sz="26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unemployment-appeal ruling drafting, Nevada DETR</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People lose benefits they qualify for — over paperwork, not eligibility.</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State and county benefits and HHS agencies running Medicaid, SNAP and unemployment, where caseworkers carry high loads and applicants navigate confusing requirements.</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Most coverage losses are procedural — missed forms, not actual ineligibility.</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Payment error rates carry federal corrective-action consequences.</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Call centers back up; applicants give up before reaching a human.</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Caseworkers spend time chasing documents instead of adjudicating.</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10.93%</a:t>
            </a:r>
            <a:endParaRPr lang="en-US" sz="28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SNAP FY2024 payment error rate; 44 states required to file corrective plans (USDA)</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69%</a:t>
            </a:r>
            <a:endParaRPr lang="en-US" sz="28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of unwinding disenrollments procedural, not eligibility (KFF, Sept 2024)</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&gt;10,000</a:t>
            </a:r>
            <a:endParaRPr lang="en-US" sz="26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unemployment appeals backlogged in one state before AI triage (Nevada)</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USDA FNS Jun 2025 (gov); KFF Sept 2024; Nevada DETR via tech press. See DECK-SOURCES.md.</a:t>
            </a:r>
            <a:endParaRPr lang="en-US" sz="83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Prescreen → explain → draft → human-adjudicate — keep eligible people covered.</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Prescreen eligibility</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Read-only check of likely eligibility and missing documents.</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Guardrails</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Explain to the applicant</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Plain-language, cited guidance on what's needed and why.</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Knowledge Bases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Draft the work product</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Prepare a notice or recommendation for the caseworker to review.</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MCP gateway + connectors</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adjudicates</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A caseworker makes every eligibility and benefit decision.</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Record &amp; audit</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Capture inputs, citations and the human decision to a WORM trail.</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Prescreen and draft are automated; adjudication is withheld in code until a caseworker decides.</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Eligibility copilot with adjudication held at the human gate and a fairness-tested model.</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Faster help for applicants; judgment reserved for humans.</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2400" b="1" dirty="0">
                <a:solidFill>
                  <a:srgbClr val="FF9900"/>
                </a:solidFill>
                <a:latin typeface="Trebuchet MS" pitchFamily="34" charset="0"/>
                <a:ea typeface="Trebuchet MS" pitchFamily="34" charset="-122"/>
                <a:cs typeface="Trebuchet MS" pitchFamily="34" charset="-120"/>
              </a:rPr>
              <a:t>Hours → ~5 min</a:t>
            </a:r>
            <a:endParaRPr lang="en-US" sz="24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to draft an unemployment-appeal ruling, Nevada DETR</a:t>
            </a:r>
            <a:endParaRPr lang="en-US" sz="1100" dirty="0"/>
          </a:p>
        </p:txBody>
      </p:sp>
      <p:sp>
        <p:nvSpPr>
          <p:cNvPr id="7" name="Text 5"/>
          <p:cNvSpPr/>
          <p:nvPr/>
        </p:nvSpPr>
        <p:spPr>
          <a:xfrm>
            <a:off x="1024128" y="3118104"/>
            <a:ext cx="912571"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NAMED GOV</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2400" b="1" dirty="0">
                <a:solidFill>
                  <a:srgbClr val="FF9900"/>
                </a:solidFill>
                <a:latin typeface="Trebuchet MS" pitchFamily="34" charset="0"/>
                <a:ea typeface="Trebuchet MS" pitchFamily="34" charset="-122"/>
                <a:cs typeface="Trebuchet MS" pitchFamily="34" charset="-120"/>
              </a:rPr>
              <a:t>&gt;10,000 → cleared</a:t>
            </a:r>
            <a:endParaRPr lang="en-US" sz="24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appeals backlog targeted by AI triage, Nevada</a:t>
            </a:r>
            <a:endParaRPr lang="en-US" sz="1100" dirty="0"/>
          </a:p>
        </p:txBody>
      </p:sp>
      <p:sp>
        <p:nvSpPr>
          <p:cNvPr id="11" name="Text 9"/>
          <p:cNvSpPr/>
          <p:nvPr/>
        </p:nvSpPr>
        <p:spPr>
          <a:xfrm>
            <a:off x="4620768" y="3118104"/>
            <a:ext cx="912571"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NAMED GOV</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2200" b="1" dirty="0">
                <a:solidFill>
                  <a:srgbClr val="FF9900"/>
                </a:solidFill>
                <a:latin typeface="Trebuchet MS" pitchFamily="34" charset="0"/>
                <a:ea typeface="Trebuchet MS" pitchFamily="34" charset="-122"/>
                <a:cs typeface="Trebuchet MS" pitchFamily="34" charset="-120"/>
              </a:rPr>
              <a:t>993,141</a:t>
            </a:r>
            <a:endParaRPr lang="en-US" sz="22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sessions handled by Georgia DOL's 'George' assistant, 97% routed accurately</a:t>
            </a:r>
            <a:endParaRPr lang="en-US" sz="1100" dirty="0"/>
          </a:p>
        </p:txBody>
      </p:sp>
      <p:sp>
        <p:nvSpPr>
          <p:cNvPr id="15" name="Text 13"/>
          <p:cNvSpPr/>
          <p:nvPr/>
        </p:nvSpPr>
        <p:spPr>
          <a:xfrm>
            <a:off x="8217408" y="3118104"/>
            <a:ext cx="1812341"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VENDOR/STATE-REPORTED</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If most coverage losses are procedural, the highest-ROI move isn't stricter review — it's helping eligible people complete their paperwork. Faster prescreening and drafting clear backlogs and reduce error-driven federal penalties, while a human still owns every benefit decision.</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Public Records &amp; FOIA Response Agent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Find, redact, and assemble records fast — governed, with release kept human,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3400" b="1" dirty="0">
                <a:solidFill>
                  <a:srgbClr val="FF9900"/>
                </a:solidFill>
                <a:latin typeface="Trebuchet MS" pitchFamily="34" charset="0"/>
                <a:ea typeface="Trebuchet MS" pitchFamily="34" charset="-122"/>
                <a:cs typeface="Trebuchet MS" pitchFamily="34" charset="-120"/>
              </a:rPr>
              <a:t>FROM A 267,056-REQUEST BACKLOG TO SECONDS OF SEARCH</a:t>
            </a:r>
            <a:endParaRPr lang="en-US" sz="34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Public Records &amp; FOIA Response Agent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An agent that searches records, proposes redactions with cited exemptions, and assembles response packages — turning hours of manual review into seconds — while a records officer reviews and authorizes every release.</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267,056</a:t>
            </a:r>
            <a:endParaRPr lang="en-US" sz="34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government-wide FOIA backlog, +33% year over year (DOJ OIP)</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$723.4M</a:t>
            </a:r>
            <a:endParaRPr lang="en-US" sz="32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government-wide cost of FOIA compliance (DOJ OIP, FY2024)</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1.5M</a:t>
            </a:r>
            <a:endParaRPr lang="en-US" sz="34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FOIA requests received in FY2024, a record high, +25% (DOJ OIP)</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Records requests are rising faster than teams can answer them.</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Public-records and FOIA offices across agencies that must search disparate systems, redact exempt material by hand, and meet statutory deadlines under growing volume.</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Backlogs grow as requests outpace staff capacity.</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Redaction is slow, manual, and unforgiving of error.</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Records sit across systems with no unified search.</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Statutory clocks run while reviewers work line by line.</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267,056</a:t>
            </a:r>
            <a:endParaRPr lang="en-US" sz="28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backlogged requests, up 33% over the prior year (DOJ OIP, FY2024)</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$723.4M</a:t>
            </a:r>
            <a:endParaRPr lang="en-US" sz="28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total government-wide FOIA cost in FY2024 (DOJ OIP)</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44 days</a:t>
            </a:r>
            <a:endParaRPr lang="en-US" sz="28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average to process even a simple-track request (DOJ OIP)</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DOJ Office of Information Policy, FY2024 Summary of Annual FOIA Reports, Apr 28 2025 (gov). See DECK-SOURCES.md.</a:t>
            </a:r>
            <a:endParaRPr lang="en-US" sz="83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Search → propose redactions → assemble → human-release — speed without surrendering control.</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Search the records</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Unified search across repositories; surface responsive documents.</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Kendra/KB</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Propose redactions</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Suggest redactions with the specific exemption cited for each.</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Comprehend</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Assemble the package</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Draft the response set and the exemption log for review.</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MCP gateway + connectors</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authorizes release</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A records officer reviews redactions and approves the release.</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Record &amp; audit</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Capture the search, redaction rationale and release to a WORM trail.</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The agent proposes; a records officer disposes. No record is released until a human authorizes it.</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Records search and redaction with every release authorized by a human and logged immutably.</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Hours of review become seconds of search — under human control.</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2400" b="1" dirty="0">
                <a:solidFill>
                  <a:srgbClr val="FF9900"/>
                </a:solidFill>
                <a:latin typeface="Trebuchet MS" pitchFamily="34" charset="0"/>
                <a:ea typeface="Trebuchet MS" pitchFamily="34" charset="-122"/>
                <a:cs typeface="Trebuchet MS" pitchFamily="34" charset="-120"/>
              </a:rPr>
              <a:t>Hours → seconds</a:t>
            </a:r>
            <a:endParaRPr lang="en-US" sz="24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county records search with Kofile on AWS, 3,000+ counties served</a:t>
            </a:r>
            <a:endParaRPr lang="en-US" sz="1100" dirty="0"/>
          </a:p>
        </p:txBody>
      </p:sp>
      <p:sp>
        <p:nvSpPr>
          <p:cNvPr id="7" name="Text 5"/>
          <p:cNvSpPr/>
          <p:nvPr/>
        </p:nvSpPr>
        <p:spPr>
          <a:xfrm>
            <a:off x="102412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3000" b="1" dirty="0">
                <a:solidFill>
                  <a:srgbClr val="FF9900"/>
                </a:solidFill>
                <a:latin typeface="Trebuchet MS" pitchFamily="34" charset="0"/>
                <a:ea typeface="Trebuchet MS" pitchFamily="34" charset="-122"/>
                <a:cs typeface="Trebuchet MS" pitchFamily="34" charset="-120"/>
              </a:rPr>
              <a:t>85% faster</a:t>
            </a:r>
            <a:endParaRPr lang="en-US" sz="30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redaction automation, CaseGuard (vendor claim)</a:t>
            </a:r>
            <a:endParaRPr lang="en-US" sz="1100" dirty="0"/>
          </a:p>
        </p:txBody>
      </p:sp>
      <p:sp>
        <p:nvSpPr>
          <p:cNvPr id="11" name="Text 9"/>
          <p:cNvSpPr/>
          <p:nvPr/>
        </p:nvSpPr>
        <p:spPr>
          <a:xfrm>
            <a:off x="462076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3000" b="1" dirty="0">
                <a:solidFill>
                  <a:srgbClr val="FF9900"/>
                </a:solidFill>
                <a:latin typeface="Trebuchet MS" pitchFamily="34" charset="0"/>
                <a:ea typeface="Trebuchet MS" pitchFamily="34" charset="-122"/>
                <a:cs typeface="Trebuchet MS" pitchFamily="34" charset="-120"/>
              </a:rPr>
              <a:t>3,000+</a:t>
            </a:r>
            <a:endParaRPr lang="en-US" sz="30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county governments already modernizing records search on AWS</a:t>
            </a:r>
            <a:endParaRPr lang="en-US" sz="1100" dirty="0"/>
          </a:p>
        </p:txBody>
      </p:sp>
      <p:sp>
        <p:nvSpPr>
          <p:cNvPr id="15" name="Text 13"/>
          <p:cNvSpPr/>
          <p:nvPr/>
        </p:nvSpPr>
        <p:spPr>
          <a:xfrm>
            <a:off x="821740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Backlogs and statutory-deadline risk are the exposure. Compressing search and first-pass redaction from hours to seconds lets a fixed team clear far more requests on time — while a records officer still authorizes every release, so speed never becomes an unauthorized disclosure.</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Procurement &amp; Grants Drafting Agent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Draft solicitations and grant materials faster — governed, with award kept human,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FROM 57-DAY RFP CYCLES TO FASTER, BETTER-WRITTEN AWARDS</a:t>
            </a:r>
            <a:endParaRPr lang="en-US" sz="32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Procurement &amp; Grants Drafting Agent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An agent that drafts solicitations, checks them for completeness before they post, and assembles evaluation materials — compressing the writing burden — while award decisions stay with human evaluators and the audit trail stays intact.</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3200" b="1" dirty="0">
                <a:solidFill>
                  <a:srgbClr val="FFFFFF"/>
                </a:solidFill>
                <a:latin typeface="Trebuchet MS" pitchFamily="34" charset="0"/>
                <a:ea typeface="Trebuchet MS" pitchFamily="34" charset="-122"/>
                <a:cs typeface="Trebuchet MS" pitchFamily="34" charset="-120"/>
              </a:rPr>
              <a:t>57 days</a:t>
            </a:r>
            <a:endParaRPr lang="en-US" sz="32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average public-sector RFP cycle, posting to award (Euna, 6,000+ RFPs)</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400" b="1" dirty="0">
                <a:solidFill>
                  <a:srgbClr val="FFFFFF"/>
                </a:solidFill>
                <a:latin typeface="Trebuchet MS" pitchFamily="34" charset="0"/>
                <a:ea typeface="Trebuchet MS" pitchFamily="34" charset="-122"/>
                <a:cs typeface="Trebuchet MS" pitchFamily="34" charset="-120"/>
              </a:rPr>
              <a:t>~90 hrs</a:t>
            </a:r>
            <a:endParaRPr lang="en-US" sz="34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staff effort per RFP project (Euna / NCPP, 2024)</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+70 days</a:t>
            </a:r>
            <a:endParaRPr lang="en-US" sz="30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growth in acquisition lead time on contracts over $50M (GAO)</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Procurement is slow to write, slow to award, and thin on competition.</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State and local procurement and grants offices that draft solicitations by hand, manage long evaluation cycles, and often receive only a handful of bids per RFP.</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Drafting a solicitation consumes dozens of staff hours.</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Cycles stretch to two months from posting to award.</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Most RFPs draw only a few bids, weakening competition.</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Manual evaluation is hard to keep consistent and auditable.</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57 days</a:t>
            </a:r>
            <a:endParaRPr lang="en-US" sz="28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average RFP cycle, posting to award (Euna analysis of 6,000+ RFPs)</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~90 hrs</a:t>
            </a:r>
            <a:endParaRPr lang="en-US" sz="28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average staff effort per RFP project (Euna / NCPP 2024 data)</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2–5 bids</a:t>
            </a:r>
            <a:endParaRPr lang="en-US" sz="28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typical response count for most public agencies (Euna)</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Euna 2025 State of Public Procurement (NASPO/NCPP data); GAO-24-106528. See DECK-SOURCES.md.</a:t>
            </a:r>
            <a:endParaRPr lang="en-US" sz="83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Draft → completeness-check → assemble → human-award — faster writing, unchanged authority.</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Draft the solicitation</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Generate an RFP draft from requirements and prior awards.</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Guardrails</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Check before posting</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Flag gaps, ambiguities and missing clauses pre-publication.</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Knowledge Bases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Assemble evaluation aids</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Structure scoring sheets and summaries for evaluators.</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MCP gateway + connectors</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awards</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Evaluators score and the authority makes the award decision.</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Record &amp; audit</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Capture drafts, edits and the award rationale to a WORM trail.</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The agent drafts and organizes; humans evaluate and award. Award is withheld in code.</a:t>
            </a:r>
            <a:endParaRPr lang="en-US" sz="11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Drafting and evaluation support with award authority and audit trail kept fully human.</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States are already getting hard, named value from procurement AI.</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3400" b="1" dirty="0">
                <a:solidFill>
                  <a:srgbClr val="FF9900"/>
                </a:solidFill>
                <a:latin typeface="Trebuchet MS" pitchFamily="34" charset="0"/>
                <a:ea typeface="Trebuchet MS" pitchFamily="34" charset="-122"/>
                <a:cs typeface="Trebuchet MS" pitchFamily="34" charset="-120"/>
              </a:rPr>
              <a:t>$6.8B</a:t>
            </a:r>
            <a:endParaRPr lang="en-US" sz="34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purchasing inefficiencies flagged by Oklahoma OMES procurement AI</a:t>
            </a:r>
            <a:endParaRPr lang="en-US" sz="1100" dirty="0"/>
          </a:p>
        </p:txBody>
      </p:sp>
      <p:sp>
        <p:nvSpPr>
          <p:cNvPr id="7" name="Text 5"/>
          <p:cNvSpPr/>
          <p:nvPr/>
        </p:nvSpPr>
        <p:spPr>
          <a:xfrm>
            <a:off x="1024128" y="3118104"/>
            <a:ext cx="1062533"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NAMED STATE</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2200" b="1" dirty="0">
                <a:solidFill>
                  <a:srgbClr val="FF9900"/>
                </a:solidFill>
                <a:latin typeface="Trebuchet MS" pitchFamily="34" charset="0"/>
                <a:ea typeface="Trebuchet MS" pitchFamily="34" charset="-122"/>
                <a:cs typeface="Trebuchet MS" pitchFamily="34" charset="-120"/>
              </a:rPr>
              <a:t>All spend, 60 days</a:t>
            </a:r>
            <a:endParaRPr lang="en-US" sz="22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Oklahoma reviewed all state procurement vs. ~8 audits/year before</a:t>
            </a:r>
            <a:endParaRPr lang="en-US" sz="1100" dirty="0"/>
          </a:p>
        </p:txBody>
      </p:sp>
      <p:sp>
        <p:nvSpPr>
          <p:cNvPr id="11" name="Text 9"/>
          <p:cNvSpPr/>
          <p:nvPr/>
        </p:nvSpPr>
        <p:spPr>
          <a:xfrm>
            <a:off x="4620768" y="3118104"/>
            <a:ext cx="1062533"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NAMED STATE</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2600" b="1" dirty="0">
                <a:solidFill>
                  <a:srgbClr val="FF9900"/>
                </a:solidFill>
                <a:latin typeface="Trebuchet MS" pitchFamily="34" charset="0"/>
                <a:ea typeface="Trebuchet MS" pitchFamily="34" charset="-122"/>
                <a:cs typeface="Trebuchet MS" pitchFamily="34" charset="-120"/>
              </a:rPr>
              <a:t>8 hrs / week</a:t>
            </a:r>
            <a:endParaRPr lang="en-US" sz="26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saved per worker in Pennsylvania's AI pilot (procurement a named use case)</a:t>
            </a:r>
            <a:endParaRPr lang="en-US" sz="1100" dirty="0"/>
          </a:p>
        </p:txBody>
      </p:sp>
      <p:sp>
        <p:nvSpPr>
          <p:cNvPr id="15" name="Text 13"/>
          <p:cNvSpPr/>
          <p:nvPr/>
        </p:nvSpPr>
        <p:spPr>
          <a:xfrm>
            <a:off x="8217408" y="3118104"/>
            <a:ext cx="1062533"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NAMED STATE</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Named states are turning AI on procurement into hard dollars: Oklahoma flagged $6.8B in inefficiencies and reviewed all state spend in 60 days. This agent applies the same governed pattern to the writing burden — faster, more complete solicitations and more competition — while evaluation and award stay human and every version is logged for protest defense.</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GovOps IT Service Desk Agent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Deflect routine IT tickets and speed resolution — governed,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4600" b="1" dirty="0">
                <a:solidFill>
                  <a:srgbClr val="FF9900"/>
                </a:solidFill>
                <a:latin typeface="Trebuchet MS" pitchFamily="34" charset="0"/>
                <a:ea typeface="Trebuchet MS" pitchFamily="34" charset="-122"/>
                <a:cs typeface="Trebuchet MS" pitchFamily="34" charset="-120"/>
              </a:rPr>
              <a:t>FROM TICKET QUEUES TO 75% SELF-RESOLVED</a:t>
            </a:r>
            <a:endParaRPr lang="en-US" sz="46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GovOps IT Service Desk Agent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An internal IT agent that answers common employee questions, resets and unblocks the routine cases, and prepares higher-risk runbooks for an engineer to execute — so staff get help instantly and engineers focus on real incidents. High-risk actions require an approver.</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75%</a:t>
            </a:r>
            <a:endParaRPr lang="en-US" sz="36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of IT queries self-resolved by the assistant (IBM AskIT)</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+14 / +34%</a:t>
            </a:r>
            <a:endParaRPr lang="en-US" sz="28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support productivity, avg / novice agents (Brynjolfsson et al., QJE 2025)</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$100B+</a:t>
            </a:r>
            <a:endParaRPr lang="en-US" sz="30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annual federal IT spend; ~80% just to operate legacy systems (GAO)</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Engineers spend their day on password resets while real incidents wait.</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Government IT and GovOps teams running internal service desks on top of aging systems, where ticket volume is high and skilled staff are scarce.</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A large share of tickets are routine, repetitive, and self-resolvable.</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Legacy systems consume the budget just to keep running.</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Mean time to resolution drags as queues build.</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Skilled engineers are pulled onto tier-1 work.</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$100B+</a:t>
            </a:r>
            <a:endParaRPr lang="en-US" sz="26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annual federal IT spend; ~80% on operations &amp; maintenance (GAO, 2025)</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11</a:t>
            </a:r>
            <a:endParaRPr lang="en-US" sz="30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critical legacy systems flagged; most on outdated languages (GAO)</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3 of 10</a:t>
            </a:r>
            <a:endParaRPr lang="en-US" sz="28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systems flagged in 2019 actually modernized by 2025 (GAO)</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GAO-25-107795, Jul 2025 (gov). See DECK-SOURCES.md.</a:t>
            </a:r>
            <a:endParaRPr lang="en-US" sz="83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Answer → resolve safe cases → prepare runbook → human-approve high-risk → log.</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Answer the question</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Resolve common how-do-I and status questions instantly.</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Guardrails</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Resolve safe cases</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Handle low-risk, reversible actions automatically.</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MCP gateway + connectors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Prepare the runbook</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Assemble the steps for a higher-risk change, ready to run.</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Knowledge Bases</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Approver runs high-risk</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Privileged actions require an entitled human — the desk agent can't.</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Record &amp; audit</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Capture the request, action and approver to a WORM trail.</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Low-risk is automated; privileged change requires an entitled approver. The desk role can't self-authorize.</a:t>
            </a:r>
            <a:endParaRPr lang="en-US" sz="11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Internal service desk where high-risk runbooks return BLOCKED until an entitled human approves.</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Instant help for staff; engineers back on the hard problems.</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3400" b="1" dirty="0">
                <a:solidFill>
                  <a:srgbClr val="FF9900"/>
                </a:solidFill>
                <a:latin typeface="Trebuchet MS" pitchFamily="34" charset="0"/>
                <a:ea typeface="Trebuchet MS" pitchFamily="34" charset="-122"/>
                <a:cs typeface="Trebuchet MS" pitchFamily="34" charset="-120"/>
              </a:rPr>
              <a:t>75%</a:t>
            </a:r>
            <a:endParaRPr lang="en-US" sz="34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of queries resolved by the assistant itself, IBM AskIT (133k+ users)</a:t>
            </a:r>
            <a:endParaRPr lang="en-US" sz="1100" dirty="0"/>
          </a:p>
        </p:txBody>
      </p:sp>
      <p:sp>
        <p:nvSpPr>
          <p:cNvPr id="7" name="Text 5"/>
          <p:cNvSpPr/>
          <p:nvPr/>
        </p:nvSpPr>
        <p:spPr>
          <a:xfrm>
            <a:off x="102412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&gt;10%</a:t>
            </a:r>
            <a:endParaRPr lang="en-US" sz="32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MTTR reduction with ServiceNow ITSM AI/ML (Microsoft internal)</a:t>
            </a:r>
            <a:endParaRPr lang="en-US" sz="1100" dirty="0"/>
          </a:p>
        </p:txBody>
      </p:sp>
      <p:sp>
        <p:nvSpPr>
          <p:cNvPr id="11" name="Text 9"/>
          <p:cNvSpPr/>
          <p:nvPr/>
        </p:nvSpPr>
        <p:spPr>
          <a:xfrm>
            <a:off x="462076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+34%</a:t>
            </a:r>
            <a:endParaRPr lang="en-US" sz="32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productivity for novice agents with a gen-AI copilot (QJE 2025)</a:t>
            </a:r>
            <a:endParaRPr lang="en-US" sz="1100" dirty="0"/>
          </a:p>
        </p:txBody>
      </p:sp>
      <p:sp>
        <p:nvSpPr>
          <p:cNvPr id="15" name="Text 13"/>
          <p:cNvSpPr/>
          <p:nvPr/>
        </p:nvSpPr>
        <p:spPr>
          <a:xfrm>
            <a:off x="8217408" y="3118104"/>
            <a:ext cx="1212494" cy="256032"/>
          </a:xfrm>
          <a:prstGeom prst="rect">
            <a:avLst>
              <a:gd name="adj" fmla="val 14286"/>
            </a:avLst>
          </a:prstGeom>
          <a:solidFill>
            <a:srgbClr val="0E7C68"/>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PEER-REVIEWED</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Deflecting the routine three-quarters of tickets returns skilled engineering hours to incidents and modernization — the work that actually reduces the 80% legacy-operations tax. The newest staff get the biggest boost, shortening ramp and cutting turnover cost.</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Public Safety &amp; Public Health Agent</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Accelerate investigation and response — governed, with human judgment intact,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4600" b="1" dirty="0">
                <a:solidFill>
                  <a:srgbClr val="FF9900"/>
                </a:solidFill>
                <a:latin typeface="Trebuchet MS" pitchFamily="34" charset="0"/>
                <a:ea typeface="Trebuchet MS" pitchFamily="34" charset="-122"/>
                <a:cs typeface="Trebuchet MS" pitchFamily="34" charset="-120"/>
              </a:rPr>
              <a:t>FROM 4 HOURS TO 5 MINUTES</a:t>
            </a:r>
            <a:endParaRPr lang="en-US" sz="46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Public Safety &amp; Public Health Agent</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An agent that accelerates the labor-intensive front end of public-health and public-safety work — identifying sites, triaging data, and drafting documentation — so experts spend their time deciding, not searching. Findings and reports are always human-reviewed.</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4 hrs → 5 min</a:t>
            </a:r>
            <a:endParaRPr lang="en-US" sz="28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cooling-tower identification with CDC's TowerScout (−98%)</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12+ / 8</a:t>
            </a:r>
            <a:endParaRPr lang="en-US" sz="30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outbreak investigations across states aided by TowerScout since 2021</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2200" b="1" dirty="0">
                <a:solidFill>
                  <a:srgbClr val="FFFFFF"/>
                </a:solidFill>
                <a:latin typeface="Trebuchet MS" pitchFamily="34" charset="0"/>
                <a:ea typeface="Trebuchet MS" pitchFamily="34" charset="-122"/>
                <a:cs typeface="Trebuchet MS" pitchFamily="34" charset="-120"/>
              </a:rPr>
              <a:t>Gov + peer-reviewed</a:t>
            </a:r>
            <a:endParaRPr lang="en-US" sz="22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validated in The Lancet Digital Health (2024)</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Experts burn hours on manual search before the real work begins.</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Public-health departments investigating outbreaks and public-safety agencies producing high volumes of documentation under time pressure and scarce specialist capacity.</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Identifying sites of interest is slow, manual, and image-heavy.</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Investigations race a clock while staff comb through data.</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Documentation burden pulls specialists off the field.</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Surge events overwhelm fixed expert capacity.</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4 hours</a:t>
            </a:r>
            <a:endParaRPr lang="en-US" sz="28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to manually identify cooling towers per area before AI (CDC)</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12+</a:t>
            </a:r>
            <a:endParaRPr lang="en-US" sz="28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outbreak investigations across 8 states needing faster triage (CDC)</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Surge-bound</a:t>
            </a:r>
            <a:endParaRPr lang="en-US" sz="26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fixed expert capacity vs. spiking investigation demand</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 CDC, Using AI to Improve Public Health Efficiency, 2025 (gov). See DECK-SOURCES.md.</a:t>
            </a:r>
            <a:endParaRPr lang="en-US" sz="83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Detect → triage → draft → human-review → log — speed at the front, judgment at the end.</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Detect sites of interest</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Computer vision surfaces candidate locations from imagery.</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SageMaker</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Triage the data</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Rank and cluster signals so experts start with the strongest leads.</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 Guardrails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Draft documentation</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Prepare a draft report or summary for expert review.</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Bedrock Knowledge Bases</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reviews</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An expert validates findings and approves any report.</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Step Functions 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Record &amp; audit</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Capture inputs, model outputs and the human decision to WORM.</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S3 Object Lock + CloudTrail</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The agent accelerates detection and drafting; an expert validates and approves. Findings are never auto-published.</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Detection and drafting acceleration with expert review on every finding and report.</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Resident / Staff channel</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Web · mobile · phone · kiosk</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DD344C"/>
            </a:solidFill>
            <a:prstDash val="solid"/>
          </a:ln>
        </p:spPr>
      </p:sp>
      <p:sp>
        <p:nvSpPr>
          <p:cNvPr id="11" name="Shape 9"/>
          <p:cNvSpPr/>
          <p:nvPr/>
        </p:nvSpPr>
        <p:spPr>
          <a:xfrm>
            <a:off x="2442754" y="1691640"/>
            <a:ext cx="310896" cy="310896"/>
          </a:xfrm>
          <a:prstGeom prst="ellipse">
            <a:avLst/>
          </a:prstGeom>
          <a:solidFill>
            <a:srgbClr val="DD344C"/>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Edge protection</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CloudFront + WAF + Shield</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8C4FFF"/>
            </a:solidFill>
            <a:prstDash val="solid"/>
          </a:ln>
        </p:spPr>
      </p:sp>
      <p:sp>
        <p:nvSpPr>
          <p:cNvPr id="17" name="Shape 15"/>
          <p:cNvSpPr/>
          <p:nvPr/>
        </p:nvSpPr>
        <p:spPr>
          <a:xfrm>
            <a:off x="3971109" y="1691640"/>
            <a:ext cx="310896" cy="310896"/>
          </a:xfrm>
          <a:prstGeom prst="ellipse">
            <a:avLst/>
          </a:prstGeom>
          <a:solidFill>
            <a:srgbClr val="8C4FFF"/>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IdP federation → JWT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API Gateway</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JWT authorizer</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FF9900"/>
            </a:solidFill>
            <a:prstDash val="solid"/>
          </a:ln>
        </p:spPr>
      </p:sp>
      <p:sp>
        <p:nvSpPr>
          <p:cNvPr id="29" name="Shape 27"/>
          <p:cNvSpPr/>
          <p:nvPr/>
        </p:nvSpPr>
        <p:spPr>
          <a:xfrm>
            <a:off x="7027817" y="1691640"/>
            <a:ext cx="310896" cy="310896"/>
          </a:xfrm>
          <a:prstGeom prst="ellipse">
            <a:avLst/>
          </a:prstGeom>
          <a:solidFill>
            <a:srgbClr val="FF9900"/>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MCP tool gateway</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Deny-by-default · least privilege</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01A88D"/>
            </a:solidFill>
            <a:prstDash val="solid"/>
          </a:ln>
        </p:spPr>
      </p:sp>
      <p:sp>
        <p:nvSpPr>
          <p:cNvPr id="35" name="Shape 33"/>
          <p:cNvSpPr/>
          <p:nvPr/>
        </p:nvSpPr>
        <p:spPr>
          <a:xfrm>
            <a:off x="8556171" y="1691640"/>
            <a:ext cx="310896" cy="310896"/>
          </a:xfrm>
          <a:prstGeom prst="ellipse">
            <a:avLst/>
          </a:prstGeom>
          <a:solidFill>
            <a:srgbClr val="01A88D"/>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Agent — Bedrock</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Guardrails + Strands/LangGraph</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7AA116"/>
            </a:solidFill>
            <a:prstDash val="solid"/>
          </a:ln>
        </p:spPr>
      </p:sp>
      <p:sp>
        <p:nvSpPr>
          <p:cNvPr id="41" name="Shape 39"/>
          <p:cNvSpPr/>
          <p:nvPr/>
        </p:nvSpPr>
        <p:spPr>
          <a:xfrm>
            <a:off x="10084526" y="1691640"/>
            <a:ext cx="310896" cy="310896"/>
          </a:xfrm>
          <a:prstGeom prst="ellipse">
            <a:avLst/>
          </a:prstGeom>
          <a:solidFill>
            <a:srgbClr val="7AA116"/>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 → action</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 then tools + data</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Compress the search; protect the judgment.</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−98%</a:t>
            </a:r>
            <a:endParaRPr lang="en-US" sz="32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cooling-tower identification time, CDC TowerScout (4 hr → 5 min)</a:t>
            </a:r>
            <a:endParaRPr lang="en-US" sz="1100" dirty="0"/>
          </a:p>
        </p:txBody>
      </p:sp>
      <p:sp>
        <p:nvSpPr>
          <p:cNvPr id="7" name="Text 5"/>
          <p:cNvSpPr/>
          <p:nvPr/>
        </p:nvSpPr>
        <p:spPr>
          <a:xfrm>
            <a:off x="1024128" y="3118104"/>
            <a:ext cx="1662379" cy="256032"/>
          </a:xfrm>
          <a:prstGeom prst="rect">
            <a:avLst>
              <a:gd name="adj" fmla="val 14286"/>
            </a:avLst>
          </a:prstGeom>
          <a:solidFill>
            <a:srgbClr val="0E7C68"/>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GOV + PEER-REVIEWED</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3200" b="1" dirty="0">
                <a:solidFill>
                  <a:srgbClr val="FF9900"/>
                </a:solidFill>
                <a:latin typeface="Trebuchet MS" pitchFamily="34" charset="0"/>
                <a:ea typeface="Trebuchet MS" pitchFamily="34" charset="-122"/>
                <a:cs typeface="Trebuchet MS" pitchFamily="34" charset="-120"/>
              </a:rPr>
              <a:t>~600×</a:t>
            </a:r>
            <a:endParaRPr lang="en-US" sz="32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faster site identification per area, CDC TowerScout</a:t>
            </a:r>
            <a:endParaRPr lang="en-US" sz="1100" dirty="0"/>
          </a:p>
        </p:txBody>
      </p:sp>
      <p:sp>
        <p:nvSpPr>
          <p:cNvPr id="11" name="Text 9"/>
          <p:cNvSpPr/>
          <p:nvPr/>
        </p:nvSpPr>
        <p:spPr>
          <a:xfrm>
            <a:off x="4620768" y="3118104"/>
            <a:ext cx="987552" cy="256032"/>
          </a:xfrm>
          <a:prstGeom prst="rect">
            <a:avLst>
              <a:gd name="adj" fmla="val 14286"/>
            </a:avLst>
          </a:prstGeom>
          <a:solidFill>
            <a:srgbClr val="0E7C68"/>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GOVERNMENT</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3000" b="1" dirty="0">
                <a:solidFill>
                  <a:srgbClr val="FF9900"/>
                </a:solidFill>
                <a:latin typeface="Trebuchet MS" pitchFamily="34" charset="0"/>
                <a:ea typeface="Trebuchet MS" pitchFamily="34" charset="-122"/>
                <a:cs typeface="Trebuchet MS" pitchFamily="34" charset="-120"/>
              </a:rPr>
              <a:t>Half</a:t>
            </a:r>
            <a:endParaRPr lang="en-US" sz="30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report-writing time in a vendor police trial (evidence is mixed — see notes)</a:t>
            </a:r>
            <a:endParaRPr lang="en-US" sz="1100" dirty="0"/>
          </a:p>
        </p:txBody>
      </p:sp>
      <p:sp>
        <p:nvSpPr>
          <p:cNvPr id="15" name="Text 13"/>
          <p:cNvSpPr/>
          <p:nvPr/>
        </p:nvSpPr>
        <p:spPr>
          <a:xfrm>
            <a:off x="8217408" y="3118104"/>
            <a:ext cx="1362456"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VENDOR-REPORTED</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When the front-end search collapses from hours to minutes, scarce experts investigate more, faster, during the window that matters most in an outbreak — without ceding a single judgment to the model. Lead with the government, peer-reviewed proof point; treat document-drafting claims as promising but contested.</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822960" y="1463040"/>
            <a:ext cx="859536" cy="457200"/>
          </a:xfrm>
          <a:prstGeom prst="roundRect">
            <a:avLst>
              <a:gd name="adj" fmla="val 8000"/>
            </a:avLst>
          </a:prstGeom>
          <a:solidFill>
            <a:srgbClr val="FF9900"/>
          </a:solidFill>
          <a:ln/>
        </p:spPr>
      </p:sp>
      <p:sp>
        <p:nvSpPr>
          <p:cNvPr id="3" name="Text 1"/>
          <p:cNvSpPr/>
          <p:nvPr/>
        </p:nvSpPr>
        <p:spPr>
          <a:xfrm>
            <a:off x="822960" y="1463040"/>
            <a:ext cx="859536" cy="457200"/>
          </a:xfrm>
          <a:prstGeom prst="rect">
            <a:avLst/>
          </a:prstGeom>
          <a:noFill/>
          <a:ln/>
        </p:spPr>
        <p:txBody>
          <a:bodyPr wrap="square" rtlCol="0" anchor="ctr"/>
          <a:lstStyle/>
          <a:p>
            <a:pPr algn="ctr" indent="0" marL="0">
              <a:buNone/>
            </a:pPr>
            <a:r>
              <a:rPr lang="en-US" sz="1900" b="1" dirty="0">
                <a:solidFill>
                  <a:srgbClr val="232F3E"/>
                </a:solidFill>
                <a:latin typeface="Trebuchet MS" pitchFamily="34" charset="0"/>
                <a:ea typeface="Trebuchet MS" pitchFamily="34" charset="-122"/>
                <a:cs typeface="Trebuchet MS" pitchFamily="34" charset="-120"/>
              </a:rPr>
              <a:t>AWS</a:t>
            </a:r>
            <a:endParaRPr lang="en-US" sz="1900" dirty="0"/>
          </a:p>
        </p:txBody>
      </p:sp>
      <p:sp>
        <p:nvSpPr>
          <p:cNvPr id="4" name="Text 2"/>
          <p:cNvSpPr/>
          <p:nvPr/>
        </p:nvSpPr>
        <p:spPr>
          <a:xfrm>
            <a:off x="1828800" y="1463040"/>
            <a:ext cx="8229600" cy="457200"/>
          </a:xfrm>
          <a:prstGeom prst="rect">
            <a:avLst/>
          </a:prstGeom>
          <a:noFill/>
          <a:ln/>
        </p:spPr>
        <p:txBody>
          <a:bodyPr wrap="square" rtlCol="0" anchor="ctr"/>
          <a:lstStyle/>
          <a:p>
            <a:pPr indent="0" marL="0">
              <a:buNone/>
            </a:pPr>
            <a:r>
              <a:rPr lang="en-US" sz="1300" b="1" spc="250" kern="0" dirty="0">
                <a:solidFill>
                  <a:srgbClr val="FF9900"/>
                </a:solidFill>
                <a:latin typeface="Calibri" pitchFamily="34" charset="0"/>
                <a:ea typeface="Calibri" pitchFamily="34" charset="-122"/>
                <a:cs typeface="Calibri" pitchFamily="34" charset="-120"/>
              </a:rPr>
              <a:t>SLG AGENTIC AI REFERENCE LIBRARY</a:t>
            </a:r>
            <a:endParaRPr lang="en-US" sz="1300" dirty="0"/>
          </a:p>
        </p:txBody>
      </p:sp>
      <p:sp>
        <p:nvSpPr>
          <p:cNvPr id="5" name="Text 3"/>
          <p:cNvSpPr/>
          <p:nvPr/>
        </p:nvSpPr>
        <p:spPr>
          <a:xfrm>
            <a:off x="822960" y="2148840"/>
            <a:ext cx="10515600" cy="1737360"/>
          </a:xfrm>
          <a:prstGeom prst="rect">
            <a:avLst/>
          </a:prstGeom>
          <a:noFill/>
          <a:ln/>
        </p:spPr>
        <p:txBody>
          <a:bodyPr wrap="square" rtlCol="0" anchor="t"/>
          <a:lstStyle/>
          <a:p>
            <a:pPr indent="0" marL="0">
              <a:lnSpc>
                <a:spcPct val="100000"/>
              </a:lnSpc>
              <a:buNone/>
            </a:pPr>
            <a:r>
              <a:rPr lang="en-US" sz="4000" b="1" dirty="0">
                <a:solidFill>
                  <a:srgbClr val="FFFFFF"/>
                </a:solidFill>
                <a:latin typeface="Trebuchet MS" pitchFamily="34" charset="0"/>
                <a:ea typeface="Trebuchet MS" pitchFamily="34" charset="-122"/>
                <a:cs typeface="Trebuchet MS" pitchFamily="34" charset="-120"/>
              </a:rPr>
              <a:t>Whole-of-Government Orchestration Platform</a:t>
            </a:r>
            <a:endParaRPr lang="en-US" sz="4000" dirty="0"/>
          </a:p>
        </p:txBody>
      </p:sp>
      <p:sp>
        <p:nvSpPr>
          <p:cNvPr id="6" name="Text 4"/>
          <p:cNvSpPr/>
          <p:nvPr/>
        </p:nvSpPr>
        <p:spPr>
          <a:xfrm>
            <a:off x="841248" y="3977640"/>
            <a:ext cx="10058400" cy="548640"/>
          </a:xfrm>
          <a:prstGeom prst="rect">
            <a:avLst/>
          </a:prstGeom>
          <a:noFill/>
          <a:ln/>
        </p:spPr>
        <p:txBody>
          <a:bodyPr wrap="square" rtlCol="0" anchor="ctr"/>
          <a:lstStyle/>
          <a:p>
            <a:pPr indent="0" marL="0">
              <a:buNone/>
            </a:pPr>
            <a:r>
              <a:rPr lang="en-US" sz="1800" i="1" dirty="0">
                <a:solidFill>
                  <a:srgbClr val="8FA1B3"/>
                </a:solidFill>
                <a:latin typeface="Calibri" pitchFamily="34" charset="0"/>
                <a:ea typeface="Calibri" pitchFamily="34" charset="-122"/>
                <a:cs typeface="Calibri" pitchFamily="34" charset="-120"/>
              </a:rPr>
              <a:t>The governed layer that lets many agents act across agencies — safely, on AWS</a:t>
            </a:r>
            <a:endParaRPr lang="en-US" sz="1800" dirty="0"/>
          </a:p>
        </p:txBody>
      </p:sp>
      <p:sp>
        <p:nvSpPr>
          <p:cNvPr id="7" name="Shape 5"/>
          <p:cNvSpPr/>
          <p:nvPr/>
        </p:nvSpPr>
        <p:spPr>
          <a:xfrm>
            <a:off x="822960" y="5806440"/>
            <a:ext cx="292608" cy="54864"/>
          </a:xfrm>
          <a:prstGeom prst="rect">
            <a:avLst/>
          </a:prstGeom>
          <a:solidFill>
            <a:srgbClr val="FF9900"/>
          </a:solidFill>
          <a:ln/>
        </p:spPr>
      </p:sp>
      <p:sp>
        <p:nvSpPr>
          <p:cNvPr id="8" name="Text 6"/>
          <p:cNvSpPr/>
          <p:nvPr/>
        </p:nvSpPr>
        <p:spPr>
          <a:xfrm>
            <a:off x="822960" y="5943600"/>
            <a:ext cx="10515600" cy="640080"/>
          </a:xfrm>
          <a:prstGeom prst="rect">
            <a:avLst/>
          </a:prstGeom>
          <a:noFill/>
          <a:ln/>
        </p:spPr>
        <p:txBody>
          <a:bodyPr wrap="square" rtlCol="0" anchor="ctr"/>
          <a:lstStyle/>
          <a:p>
            <a:pPr indent="0" marL="0">
              <a:lnSpc>
                <a:spcPct val="110000"/>
              </a:lnSpc>
              <a:buNone/>
            </a:pPr>
            <a:r>
              <a:rPr lang="en-US" sz="1500" b="1" dirty="0">
                <a:solidFill>
                  <a:srgbClr val="FFFFFF"/>
                </a:solidFill>
                <a:latin typeface="Calibri" pitchFamily="34" charset="0"/>
                <a:ea typeface="Calibri" pitchFamily="34" charset="-122"/>
                <a:cs typeface="Calibri" pitchFamily="34" charset="-120"/>
              </a:rPr>
              <a:t>David Ryder</a:t>
            </a:r>
            <a:pPr indent="0" marL="0">
              <a:lnSpc>
                <a:spcPct val="110000"/>
              </a:lnSpc>
              <a:buNone/>
            </a:pPr>
            <a:endParaRPr lang="en-US" sz="1500" dirty="0"/>
          </a:p>
          <a:p>
            <a:pPr indent="0" marL="0">
              <a:lnSpc>
                <a:spcPct val="110000"/>
              </a:lnSpc>
              <a:buNone/>
            </a:pPr>
            <a:r>
              <a:rPr lang="en-US" sz="1200" dirty="0">
                <a:solidFill>
                  <a:srgbClr val="8FA1B3"/>
                </a:solidFill>
                <a:latin typeface="Calibri" pitchFamily="34" charset="0"/>
                <a:ea typeface="Calibri" pitchFamily="34" charset="-122"/>
                <a:cs typeface="Calibri" pitchFamily="34" charset="-120"/>
              </a:rPr>
              <a:t>AI Strategy &amp; Architecture Leader   ·   github.com/virtualryder/slg-ai-agents   ·   June 2026</a:t>
            </a:r>
            <a:endParaRPr lang="en-US" sz="15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640080"/>
            <a:ext cx="10515600" cy="1051560"/>
          </a:xfrm>
          <a:prstGeom prst="rect">
            <a:avLst/>
          </a:prstGeom>
          <a:noFill/>
          <a:ln/>
        </p:spPr>
        <p:txBody>
          <a:bodyPr wrap="square" rtlCol="0" anchor="ctr"/>
          <a:lstStyle/>
          <a:p>
            <a:pPr indent="0" marL="0">
              <a:buNone/>
            </a:pPr>
            <a:r>
              <a:rPr lang="en-US" sz="4600" b="1" dirty="0">
                <a:solidFill>
                  <a:srgbClr val="FF9900"/>
                </a:solidFill>
                <a:latin typeface="Trebuchet MS" pitchFamily="34" charset="0"/>
                <a:ea typeface="Trebuchet MS" pitchFamily="34" charset="-122"/>
                <a:cs typeface="Trebuchet MS" pitchFamily="34" charset="-120"/>
              </a:rPr>
              <a:t>FROM 50 SILOS TO ONE GOVERNED LAYER</a:t>
            </a:r>
            <a:endParaRPr lang="en-US" sz="4600" dirty="0"/>
          </a:p>
        </p:txBody>
      </p:sp>
      <p:sp>
        <p:nvSpPr>
          <p:cNvPr id="3" name="Text 1"/>
          <p:cNvSpPr/>
          <p:nvPr/>
        </p:nvSpPr>
        <p:spPr>
          <a:xfrm>
            <a:off x="841248" y="1755648"/>
            <a:ext cx="105156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Whole-of-Government Orchestration Platform</a:t>
            </a:r>
            <a:endParaRPr lang="en-US" sz="1700" dirty="0"/>
          </a:p>
        </p:txBody>
      </p:sp>
      <p:sp>
        <p:nvSpPr>
          <p:cNvPr id="4" name="Text 2"/>
          <p:cNvSpPr/>
          <p:nvPr/>
        </p:nvSpPr>
        <p:spPr>
          <a:xfrm>
            <a:off x="841248" y="2286000"/>
            <a:ext cx="10424160" cy="914400"/>
          </a:xfrm>
          <a:prstGeom prst="rect">
            <a:avLst/>
          </a:prstGeom>
          <a:noFill/>
          <a:ln/>
        </p:spPr>
        <p:txBody>
          <a:bodyPr wrap="square" rtlCol="0" anchor="t"/>
          <a:lstStyle/>
          <a:p>
            <a:pPr indent="0" marL="0">
              <a:lnSpc>
                <a:spcPct val="115000"/>
              </a:lnSpc>
              <a:buNone/>
            </a:pPr>
            <a:r>
              <a:rPr lang="en-US" sz="1550" dirty="0">
                <a:solidFill>
                  <a:srgbClr val="C9D3DC"/>
                </a:solidFill>
                <a:latin typeface="Calibri" pitchFamily="34" charset="0"/>
                <a:ea typeface="Calibri" pitchFamily="34" charset="-122"/>
                <a:cs typeface="Calibri" pitchFamily="34" charset="-120"/>
              </a:rPr>
              <a:t>A shared platform that gives every agent governed tool access, canonical data, durable cross-agency workflow coordination, and a compliance event trail — so a resident's life event is handled once, across agencies, with consent and audit built in. The hard part isn't the agents; it's governing what they're allowed to do.</a:t>
            </a:r>
            <a:endParaRPr lang="en-US" sz="1550" dirty="0"/>
          </a:p>
        </p:txBody>
      </p:sp>
      <p:sp>
        <p:nvSpPr>
          <p:cNvPr id="5" name="Shape 3"/>
          <p:cNvSpPr/>
          <p:nvPr/>
        </p:nvSpPr>
        <p:spPr>
          <a:xfrm>
            <a:off x="822960" y="3611880"/>
            <a:ext cx="3291840" cy="1874520"/>
          </a:xfrm>
          <a:prstGeom prst="roundRect">
            <a:avLst>
              <a:gd name="adj" fmla="val 3902"/>
            </a:avLst>
          </a:prstGeom>
          <a:solidFill>
            <a:srgbClr val="2C3B4E"/>
          </a:solidFill>
          <a:ln w="12700">
            <a:solidFill>
              <a:srgbClr val="37475A"/>
            </a:solidFill>
            <a:prstDash val="solid"/>
          </a:ln>
        </p:spPr>
      </p:sp>
      <p:sp>
        <p:nvSpPr>
          <p:cNvPr id="6" name="Shape 4"/>
          <p:cNvSpPr/>
          <p:nvPr/>
        </p:nvSpPr>
        <p:spPr>
          <a:xfrm>
            <a:off x="822960" y="3611880"/>
            <a:ext cx="109728" cy="1874520"/>
          </a:xfrm>
          <a:prstGeom prst="rect">
            <a:avLst/>
          </a:prstGeom>
          <a:solidFill>
            <a:srgbClr val="FF9900"/>
          </a:solidFill>
          <a:ln/>
        </p:spPr>
      </p:sp>
      <p:sp>
        <p:nvSpPr>
          <p:cNvPr id="7" name="Text 5"/>
          <p:cNvSpPr/>
          <p:nvPr/>
        </p:nvSpPr>
        <p:spPr>
          <a:xfrm>
            <a:off x="1051560" y="3813048"/>
            <a:ext cx="2880360" cy="868680"/>
          </a:xfrm>
          <a:prstGeom prst="rect">
            <a:avLst/>
          </a:prstGeom>
          <a:noFill/>
          <a:ln/>
        </p:spPr>
        <p:txBody>
          <a:bodyPr wrap="square" rtlCol="0" anchor="ctr"/>
          <a:lstStyle/>
          <a:p>
            <a:pPr indent="0" marL="0">
              <a:buNone/>
            </a:pPr>
            <a:r>
              <a:rPr lang="en-US" sz="3600" b="1" dirty="0">
                <a:solidFill>
                  <a:srgbClr val="FFFFFF"/>
                </a:solidFill>
                <a:latin typeface="Trebuchet MS" pitchFamily="34" charset="0"/>
                <a:ea typeface="Trebuchet MS" pitchFamily="34" charset="-122"/>
                <a:cs typeface="Trebuchet MS" pitchFamily="34" charset="-120"/>
              </a:rPr>
              <a:t>#1</a:t>
            </a:r>
            <a:endParaRPr lang="en-US" sz="3600" dirty="0"/>
          </a:p>
        </p:txBody>
      </p:sp>
      <p:sp>
        <p:nvSpPr>
          <p:cNvPr id="8" name="Text 6"/>
          <p:cNvSpPr/>
          <p:nvPr/>
        </p:nvSpPr>
        <p:spPr>
          <a:xfrm>
            <a:off x="107899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AI is the top state-CIO priority for 2026 — first time ever (NASCIO)</a:t>
            </a:r>
            <a:endParaRPr lang="en-US" sz="1200" dirty="0"/>
          </a:p>
        </p:txBody>
      </p:sp>
      <p:sp>
        <p:nvSpPr>
          <p:cNvPr id="9" name="Shape 7"/>
          <p:cNvSpPr/>
          <p:nvPr/>
        </p:nvSpPr>
        <p:spPr>
          <a:xfrm>
            <a:off x="4434840" y="3611880"/>
            <a:ext cx="3291840" cy="1874520"/>
          </a:xfrm>
          <a:prstGeom prst="roundRect">
            <a:avLst>
              <a:gd name="adj" fmla="val 3902"/>
            </a:avLst>
          </a:prstGeom>
          <a:solidFill>
            <a:srgbClr val="2C3B4E"/>
          </a:solidFill>
          <a:ln w="12700">
            <a:solidFill>
              <a:srgbClr val="37475A"/>
            </a:solidFill>
            <a:prstDash val="solid"/>
          </a:ln>
        </p:spPr>
      </p:sp>
      <p:sp>
        <p:nvSpPr>
          <p:cNvPr id="10" name="Shape 8"/>
          <p:cNvSpPr/>
          <p:nvPr/>
        </p:nvSpPr>
        <p:spPr>
          <a:xfrm>
            <a:off x="4434840" y="3611880"/>
            <a:ext cx="109728" cy="1874520"/>
          </a:xfrm>
          <a:prstGeom prst="rect">
            <a:avLst/>
          </a:prstGeom>
          <a:solidFill>
            <a:srgbClr val="FF9900"/>
          </a:solidFill>
          <a:ln/>
        </p:spPr>
      </p:sp>
      <p:sp>
        <p:nvSpPr>
          <p:cNvPr id="11" name="Text 9"/>
          <p:cNvSpPr/>
          <p:nvPr/>
        </p:nvSpPr>
        <p:spPr>
          <a:xfrm>
            <a:off x="4663440" y="3813048"/>
            <a:ext cx="2880360" cy="8686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90% / 25%</a:t>
            </a:r>
            <a:endParaRPr lang="en-US" sz="3000" dirty="0"/>
          </a:p>
        </p:txBody>
      </p:sp>
      <p:sp>
        <p:nvSpPr>
          <p:cNvPr id="12" name="Text 10"/>
          <p:cNvSpPr/>
          <p:nvPr/>
        </p:nvSpPr>
        <p:spPr>
          <a:xfrm>
            <a:off x="469087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of state CIOs piloting GenAI vs. those with dedicated funding (NASCIO)</a:t>
            </a:r>
            <a:endParaRPr lang="en-US" sz="1200" dirty="0"/>
          </a:p>
        </p:txBody>
      </p:sp>
      <p:sp>
        <p:nvSpPr>
          <p:cNvPr id="13" name="Shape 11"/>
          <p:cNvSpPr/>
          <p:nvPr/>
        </p:nvSpPr>
        <p:spPr>
          <a:xfrm>
            <a:off x="8046720" y="3611880"/>
            <a:ext cx="3291840" cy="1874520"/>
          </a:xfrm>
          <a:prstGeom prst="roundRect">
            <a:avLst>
              <a:gd name="adj" fmla="val 3902"/>
            </a:avLst>
          </a:prstGeom>
          <a:solidFill>
            <a:srgbClr val="2C3B4E"/>
          </a:solidFill>
          <a:ln w="12700">
            <a:solidFill>
              <a:srgbClr val="37475A"/>
            </a:solidFill>
            <a:prstDash val="solid"/>
          </a:ln>
        </p:spPr>
      </p:sp>
      <p:sp>
        <p:nvSpPr>
          <p:cNvPr id="14" name="Shape 12"/>
          <p:cNvSpPr/>
          <p:nvPr/>
        </p:nvSpPr>
        <p:spPr>
          <a:xfrm>
            <a:off x="8046720" y="3611880"/>
            <a:ext cx="109728" cy="1874520"/>
          </a:xfrm>
          <a:prstGeom prst="rect">
            <a:avLst/>
          </a:prstGeom>
          <a:solidFill>
            <a:srgbClr val="FF9900"/>
          </a:solidFill>
          <a:ln/>
        </p:spPr>
      </p:sp>
      <p:sp>
        <p:nvSpPr>
          <p:cNvPr id="15" name="Text 13"/>
          <p:cNvSpPr/>
          <p:nvPr/>
        </p:nvSpPr>
        <p:spPr>
          <a:xfrm>
            <a:off x="8275320" y="3813048"/>
            <a:ext cx="2880360" cy="868680"/>
          </a:xfrm>
          <a:prstGeom prst="rect">
            <a:avLst/>
          </a:prstGeom>
          <a:noFill/>
          <a:ln/>
        </p:spPr>
        <p:txBody>
          <a:bodyPr wrap="square" rtlCol="0" anchor="ctr"/>
          <a:lstStyle/>
          <a:p>
            <a:pPr indent="0" marL="0">
              <a:buNone/>
            </a:pPr>
            <a:r>
              <a:rPr lang="en-US" sz="3000" b="1" dirty="0">
                <a:solidFill>
                  <a:srgbClr val="FFFFFF"/>
                </a:solidFill>
                <a:latin typeface="Trebuchet MS" pitchFamily="34" charset="0"/>
                <a:ea typeface="Trebuchet MS" pitchFamily="34" charset="-122"/>
                <a:cs typeface="Trebuchet MS" pitchFamily="34" charset="-120"/>
              </a:rPr>
              <a:t>21 pts</a:t>
            </a:r>
            <a:endParaRPr lang="en-US" sz="3000" dirty="0"/>
          </a:p>
        </p:txBody>
      </p:sp>
      <p:sp>
        <p:nvSpPr>
          <p:cNvPr id="16" name="Text 14"/>
          <p:cNvSpPr/>
          <p:nvPr/>
        </p:nvSpPr>
        <p:spPr>
          <a:xfrm>
            <a:off x="8302752" y="4690872"/>
            <a:ext cx="2834640" cy="713232"/>
          </a:xfrm>
          <a:prstGeom prst="rect">
            <a:avLst/>
          </a:prstGeom>
          <a:noFill/>
          <a:ln/>
        </p:spPr>
        <p:txBody>
          <a:bodyPr wrap="square" rtlCol="0" anchor="t"/>
          <a:lstStyle/>
          <a:p>
            <a:pPr indent="0" marL="0">
              <a:lnSpc>
                <a:spcPct val="105000"/>
              </a:lnSpc>
              <a:buNone/>
            </a:pPr>
            <a:r>
              <a:rPr lang="en-US" sz="1200" dirty="0">
                <a:solidFill>
                  <a:srgbClr val="8FA1B3"/>
                </a:solidFill>
                <a:latin typeface="Calibri" pitchFamily="34" charset="0"/>
                <a:ea typeface="Calibri" pitchFamily="34" charset="-122"/>
                <a:cs typeface="Calibri" pitchFamily="34" charset="-120"/>
              </a:rPr>
              <a:t>government trails the private sector on digital-service satisfaction (Deloitte)</a:t>
            </a:r>
            <a:endParaRPr lang="en-US" sz="1200" dirty="0"/>
          </a:p>
        </p:txBody>
      </p:sp>
      <p:sp>
        <p:nvSpPr>
          <p:cNvPr id="17" name="Text 15"/>
          <p:cNvSpPr/>
          <p:nvPr/>
        </p:nvSpPr>
        <p:spPr>
          <a:xfrm>
            <a:off x="822960" y="6327648"/>
            <a:ext cx="10515600" cy="274320"/>
          </a:xfrm>
          <a:prstGeom prst="rect">
            <a:avLst/>
          </a:prstGeom>
          <a:noFill/>
          <a:ln/>
        </p:spPr>
        <p:txBody>
          <a:bodyPr wrap="square" rtlCol="0" anchor="ctr"/>
          <a:lstStyle/>
          <a:p>
            <a:pPr indent="0" marL="0">
              <a:buNone/>
            </a:pPr>
            <a:r>
              <a:rPr lang="en-US" sz="1000" dirty="0">
                <a:solidFill>
                  <a:srgbClr val="5A6B7B"/>
                </a:solidFill>
                <a:latin typeface="Calibri" pitchFamily="34" charset="0"/>
                <a:ea typeface="Calibri" pitchFamily="34" charset="-122"/>
                <a:cs typeface="Calibri" pitchFamily="34" charset="-120"/>
              </a:rPr>
              <a:t>David Ryder   ·   AI Strategy &amp; Architecture Leader   ·   github.com/virtualryder/slg-ai-agents</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CUSTOMER &amp; THE PROBLEM TODAY</a:t>
            </a:r>
            <a:endParaRPr lang="en-US" sz="1200" dirty="0"/>
          </a:p>
        </p:txBody>
      </p:sp>
      <p:sp>
        <p:nvSpPr>
          <p:cNvPr id="3" name="Text 1"/>
          <p:cNvSpPr/>
          <p:nvPr/>
        </p:nvSpPr>
        <p:spPr>
          <a:xfrm>
            <a:off x="822960" y="960120"/>
            <a:ext cx="10515600" cy="777240"/>
          </a:xfrm>
          <a:prstGeom prst="rect">
            <a:avLst/>
          </a:prstGeom>
          <a:noFill/>
          <a:ln/>
        </p:spPr>
        <p:txBody>
          <a:bodyPr wrap="square" rtlCol="0" anchor="t"/>
          <a:lstStyle/>
          <a:p>
            <a:pPr indent="0" marL="0">
              <a:lnSpc>
                <a:spcPct val="100000"/>
              </a:lnSpc>
              <a:buNone/>
            </a:pPr>
            <a:r>
              <a:rPr lang="en-US" sz="2600" b="1" dirty="0">
                <a:solidFill>
                  <a:srgbClr val="232F3E"/>
                </a:solidFill>
                <a:latin typeface="Trebuchet MS" pitchFamily="34" charset="0"/>
                <a:ea typeface="Trebuchet MS" pitchFamily="34" charset="-122"/>
                <a:cs typeface="Trebuchet MS" pitchFamily="34" charset="-120"/>
              </a:rPr>
              <a:t>Everyone is piloting agents; almost no one can govern them at scale.</a:t>
            </a:r>
            <a:endParaRPr lang="en-US" sz="2600" dirty="0"/>
          </a:p>
        </p:txBody>
      </p:sp>
      <p:sp>
        <p:nvSpPr>
          <p:cNvPr id="4" name="Text 2"/>
          <p:cNvSpPr/>
          <p:nvPr/>
        </p:nvSpPr>
        <p:spPr>
          <a:xfrm>
            <a:off x="822960" y="196596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Who they are</a:t>
            </a:r>
            <a:endParaRPr lang="en-US" sz="1250" dirty="0"/>
          </a:p>
        </p:txBody>
      </p:sp>
      <p:sp>
        <p:nvSpPr>
          <p:cNvPr id="5" name="Text 3"/>
          <p:cNvSpPr/>
          <p:nvPr/>
        </p:nvSpPr>
        <p:spPr>
          <a:xfrm>
            <a:off x="822960" y="2249424"/>
            <a:ext cx="5852160" cy="822960"/>
          </a:xfrm>
          <a:prstGeom prst="rect">
            <a:avLst/>
          </a:prstGeom>
          <a:noFill/>
          <a:ln/>
        </p:spPr>
        <p:txBody>
          <a:bodyPr wrap="square" rtlCol="0" anchor="t"/>
          <a:lstStyle/>
          <a:p>
            <a:pPr indent="0" marL="0">
              <a:lnSpc>
                <a:spcPct val="112000"/>
              </a:lnSpc>
              <a:buNone/>
            </a:pPr>
            <a:r>
              <a:rPr lang="en-US" sz="1400" dirty="0">
                <a:solidFill>
                  <a:srgbClr val="232F3E"/>
                </a:solidFill>
                <a:latin typeface="Calibri" pitchFamily="34" charset="0"/>
                <a:ea typeface="Calibri" pitchFamily="34" charset="-122"/>
                <a:cs typeface="Calibri" pitchFamily="34" charset="-120"/>
              </a:rPr>
              <a:t>State and large-county CIOs and enterprise architects who need many AI agents to act across agency boundaries without creating an ungoverned, unauditable sprawl of tool access.</a:t>
            </a:r>
            <a:endParaRPr lang="en-US" sz="1400" dirty="0"/>
          </a:p>
        </p:txBody>
      </p:sp>
      <p:sp>
        <p:nvSpPr>
          <p:cNvPr id="6" name="Text 4"/>
          <p:cNvSpPr/>
          <p:nvPr/>
        </p:nvSpPr>
        <p:spPr>
          <a:xfrm>
            <a:off x="822960" y="3200400"/>
            <a:ext cx="5852160" cy="274320"/>
          </a:xfrm>
          <a:prstGeom prst="rect">
            <a:avLst/>
          </a:prstGeom>
          <a:noFill/>
          <a:ln/>
        </p:spPr>
        <p:txBody>
          <a:bodyPr wrap="square" rtlCol="0" anchor="ctr"/>
          <a:lstStyle/>
          <a:p>
            <a:pPr indent="0" marL="0">
              <a:buNone/>
            </a:pPr>
            <a:r>
              <a:rPr lang="en-US" sz="1250" b="1" dirty="0">
                <a:solidFill>
                  <a:srgbClr val="ED7100"/>
                </a:solidFill>
                <a:latin typeface="Calibri" pitchFamily="34" charset="0"/>
                <a:ea typeface="Calibri" pitchFamily="34" charset="-122"/>
                <a:cs typeface="Calibri" pitchFamily="34" charset="-120"/>
              </a:rPr>
              <a:t>What they live with today</a:t>
            </a:r>
            <a:endParaRPr lang="en-US" sz="1250" dirty="0"/>
          </a:p>
        </p:txBody>
      </p:sp>
      <p:sp>
        <p:nvSpPr>
          <p:cNvPr id="7" name="Text 5"/>
          <p:cNvSpPr/>
          <p:nvPr/>
        </p:nvSpPr>
        <p:spPr>
          <a:xfrm>
            <a:off x="868680" y="3493008"/>
            <a:ext cx="5852160" cy="2468880"/>
          </a:xfrm>
          <a:prstGeom prst="rect">
            <a:avLst/>
          </a:prstGeom>
          <a:noFill/>
          <a:ln/>
        </p:spPr>
        <p:txBody>
          <a:bodyPr wrap="square" rtlCol="0" anchor="t"/>
          <a:lstStyle/>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GenAI pilots are everywhere; funded, governed production is rare.</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Each agency builds its own tool access, identity and audit — inconsistently.</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Legacy systems and siloed data block cross-agency service.</a:t>
            </a:r>
            <a:endParaRPr lang="en-US" sz="1350" dirty="0"/>
          </a:p>
          <a:p>
            <a:pPr marL="177800" indent="-177800">
              <a:lnSpc>
                <a:spcPct val="105000"/>
              </a:lnSpc>
              <a:spcAft>
                <a:spcPts val="700"/>
              </a:spcAft>
              <a:buSzPct val="100000"/>
              <a:buChar char="•"/>
            </a:pPr>
            <a:r>
              <a:rPr lang="en-US" sz="1350" dirty="0">
                <a:solidFill>
                  <a:srgbClr val="232F3E"/>
                </a:solidFill>
                <a:latin typeface="Calibri" pitchFamily="34" charset="0"/>
                <a:ea typeface="Calibri" pitchFamily="34" charset="-122"/>
                <a:cs typeface="Calibri" pitchFamily="34" charset="-120"/>
              </a:rPr>
              <a:t>Residents repeat themselves to every agency for one life event.</a:t>
            </a:r>
            <a:endParaRPr lang="en-US" sz="1350" dirty="0"/>
          </a:p>
        </p:txBody>
      </p:sp>
      <p:sp>
        <p:nvSpPr>
          <p:cNvPr id="8" name="Shape 6"/>
          <p:cNvSpPr/>
          <p:nvPr/>
        </p:nvSpPr>
        <p:spPr>
          <a:xfrm>
            <a:off x="7040880" y="1965960"/>
            <a:ext cx="4325112" cy="3977640"/>
          </a:xfrm>
          <a:prstGeom prst="roundRect">
            <a:avLst>
              <a:gd name="adj" fmla="val 1839"/>
            </a:avLst>
          </a:prstGeom>
          <a:solidFill>
            <a:srgbClr val="232F3E"/>
          </a:solidFill>
          <a:ln/>
        </p:spPr>
      </p:sp>
      <p:sp>
        <p:nvSpPr>
          <p:cNvPr id="9" name="Text 7"/>
          <p:cNvSpPr/>
          <p:nvPr/>
        </p:nvSpPr>
        <p:spPr>
          <a:xfrm>
            <a:off x="7269480" y="2148840"/>
            <a:ext cx="393192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THE COST OF THE STATUS QUO</a:t>
            </a:r>
            <a:endParaRPr lang="en-US" sz="1100" dirty="0"/>
          </a:p>
        </p:txBody>
      </p:sp>
      <p:sp>
        <p:nvSpPr>
          <p:cNvPr id="10" name="Text 8"/>
          <p:cNvSpPr/>
          <p:nvPr/>
        </p:nvSpPr>
        <p:spPr>
          <a:xfrm>
            <a:off x="7269480" y="257860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90% vs 25%</a:t>
            </a:r>
            <a:endParaRPr lang="en-US" sz="2600" dirty="0"/>
          </a:p>
        </p:txBody>
      </p:sp>
      <p:sp>
        <p:nvSpPr>
          <p:cNvPr id="11" name="Text 9"/>
          <p:cNvSpPr/>
          <p:nvPr/>
        </p:nvSpPr>
        <p:spPr>
          <a:xfrm>
            <a:off x="7287768" y="309067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piloting GenAI vs. funded to scale it — the pilot trap (NASCIO 2025)</a:t>
            </a:r>
            <a:endParaRPr lang="en-US" sz="1100" dirty="0"/>
          </a:p>
        </p:txBody>
      </p:sp>
      <p:sp>
        <p:nvSpPr>
          <p:cNvPr id="12" name="Shape 10"/>
          <p:cNvSpPr/>
          <p:nvPr/>
        </p:nvSpPr>
        <p:spPr>
          <a:xfrm>
            <a:off x="7269480" y="3621024"/>
            <a:ext cx="3886200" cy="0"/>
          </a:xfrm>
          <a:prstGeom prst="line">
            <a:avLst/>
          </a:prstGeom>
          <a:noFill/>
          <a:ln w="12700">
            <a:solidFill>
              <a:srgbClr val="37475A"/>
            </a:solidFill>
            <a:prstDash val="solid"/>
          </a:ln>
        </p:spPr>
      </p:sp>
      <p:sp>
        <p:nvSpPr>
          <p:cNvPr id="13" name="Text 11"/>
          <p:cNvSpPr/>
          <p:nvPr/>
        </p:nvSpPr>
        <p:spPr>
          <a:xfrm>
            <a:off x="7269480" y="3675888"/>
            <a:ext cx="3840480" cy="570586"/>
          </a:xfrm>
          <a:prstGeom prst="rect">
            <a:avLst/>
          </a:prstGeom>
          <a:noFill/>
          <a:ln/>
        </p:spPr>
        <p:txBody>
          <a:bodyPr wrap="square" rtlCol="0" anchor="ctr"/>
          <a:lstStyle/>
          <a:p>
            <a:pPr indent="0" marL="0">
              <a:buNone/>
            </a:pPr>
            <a:r>
              <a:rPr lang="en-US" sz="2600" b="1" dirty="0">
                <a:solidFill>
                  <a:srgbClr val="FFFFFF"/>
                </a:solidFill>
                <a:latin typeface="Trebuchet MS" pitchFamily="34" charset="0"/>
                <a:ea typeface="Trebuchet MS" pitchFamily="34" charset="-122"/>
                <a:cs typeface="Trebuchet MS" pitchFamily="34" charset="-120"/>
              </a:rPr>
              <a:t>$100B+</a:t>
            </a:r>
            <a:endParaRPr lang="en-US" sz="2600" dirty="0"/>
          </a:p>
        </p:txBody>
      </p:sp>
      <p:sp>
        <p:nvSpPr>
          <p:cNvPr id="14" name="Text 12"/>
          <p:cNvSpPr/>
          <p:nvPr/>
        </p:nvSpPr>
        <p:spPr>
          <a:xfrm>
            <a:off x="7287768" y="418795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annual government IT spend, ~80% operating legacy systems (GAO)</a:t>
            </a:r>
            <a:endParaRPr lang="en-US" sz="1100" dirty="0"/>
          </a:p>
        </p:txBody>
      </p:sp>
      <p:sp>
        <p:nvSpPr>
          <p:cNvPr id="15" name="Shape 13"/>
          <p:cNvSpPr/>
          <p:nvPr/>
        </p:nvSpPr>
        <p:spPr>
          <a:xfrm>
            <a:off x="7269480" y="4718304"/>
            <a:ext cx="3886200" cy="0"/>
          </a:xfrm>
          <a:prstGeom prst="line">
            <a:avLst/>
          </a:prstGeom>
          <a:noFill/>
          <a:ln w="12700">
            <a:solidFill>
              <a:srgbClr val="37475A"/>
            </a:solidFill>
            <a:prstDash val="solid"/>
          </a:ln>
        </p:spPr>
      </p:sp>
      <p:sp>
        <p:nvSpPr>
          <p:cNvPr id="16" name="Text 14"/>
          <p:cNvSpPr/>
          <p:nvPr/>
        </p:nvSpPr>
        <p:spPr>
          <a:xfrm>
            <a:off x="7269480" y="4773168"/>
            <a:ext cx="3840480" cy="570586"/>
          </a:xfrm>
          <a:prstGeom prst="rect">
            <a:avLst/>
          </a:prstGeom>
          <a:noFill/>
          <a:ln/>
        </p:spPr>
        <p:txBody>
          <a:bodyPr wrap="square" rtlCol="0" anchor="ctr"/>
          <a:lstStyle/>
          <a:p>
            <a:pPr indent="0" marL="0">
              <a:buNone/>
            </a:pPr>
            <a:r>
              <a:rPr lang="en-US" sz="2800" b="1" dirty="0">
                <a:solidFill>
                  <a:srgbClr val="FFFFFF"/>
                </a:solidFill>
                <a:latin typeface="Trebuchet MS" pitchFamily="34" charset="0"/>
                <a:ea typeface="Trebuchet MS" pitchFamily="34" charset="-122"/>
                <a:cs typeface="Trebuchet MS" pitchFamily="34" charset="-120"/>
              </a:rPr>
              <a:t>21 pts</a:t>
            </a:r>
            <a:endParaRPr lang="en-US" sz="2800" dirty="0"/>
          </a:p>
        </p:txBody>
      </p:sp>
      <p:sp>
        <p:nvSpPr>
          <p:cNvPr id="17" name="Text 15"/>
          <p:cNvSpPr/>
          <p:nvPr/>
        </p:nvSpPr>
        <p:spPr>
          <a:xfrm>
            <a:off x="7287768" y="5285232"/>
            <a:ext cx="3886200" cy="504749"/>
          </a:xfrm>
          <a:prstGeom prst="rect">
            <a:avLst/>
          </a:prstGeom>
          <a:noFill/>
          <a:ln/>
        </p:spPr>
        <p:txBody>
          <a:bodyPr wrap="square" rtlCol="0" anchor="t"/>
          <a:lstStyle/>
          <a:p>
            <a:pPr indent="0" marL="0">
              <a:lnSpc>
                <a:spcPct val="100000"/>
              </a:lnSpc>
              <a:buNone/>
            </a:pPr>
            <a:r>
              <a:rPr lang="en-US" sz="1100" dirty="0">
                <a:solidFill>
                  <a:srgbClr val="8FA1B3"/>
                </a:solidFill>
                <a:latin typeface="Calibri" pitchFamily="34" charset="0"/>
                <a:ea typeface="Calibri" pitchFamily="34" charset="-122"/>
                <a:cs typeface="Calibri" pitchFamily="34" charset="-120"/>
              </a:rPr>
              <a:t>digital-satisfaction gap behind the private sector (Deloitte)</a:t>
            </a:r>
            <a:endParaRPr lang="en-US" sz="1100" dirty="0"/>
          </a:p>
        </p:txBody>
      </p:sp>
      <p:sp>
        <p:nvSpPr>
          <p:cNvPr id="18" name="Text 16"/>
          <p:cNvSpPr/>
          <p:nvPr/>
        </p:nvSpPr>
        <p:spPr>
          <a:xfrm>
            <a:off x="822960" y="6437376"/>
            <a:ext cx="10515600" cy="329184"/>
          </a:xfrm>
          <a:prstGeom prst="rect">
            <a:avLst/>
          </a:prstGeom>
          <a:noFill/>
          <a:ln/>
        </p:spPr>
        <p:txBody>
          <a:bodyPr wrap="square" rtlCol="0" anchor="ctr"/>
          <a:lstStyle/>
          <a:p>
            <a:pPr indent="0" marL="0">
              <a:buNone/>
            </a:pPr>
            <a:r>
              <a:rPr lang="en-US" sz="830" i="1" dirty="0">
                <a:solidFill>
                  <a:srgbClr val="5A6B7B"/>
                </a:solidFill>
                <a:latin typeface="Calibri" pitchFamily="34" charset="0"/>
                <a:ea typeface="Calibri" pitchFamily="34" charset="-122"/>
                <a:cs typeface="Calibri" pitchFamily="34" charset="-120"/>
              </a:rPr>
              <a:t>Sources: NASCIO 2025–2026; GAO-25-107795; Deloitte digital-government survey. See DECK-SOURCES.md.</a:t>
            </a:r>
            <a:endParaRPr lang="en-US" sz="83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4F5F7"/>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ED7100"/>
                </a:solidFill>
                <a:latin typeface="Calibri" pitchFamily="34" charset="0"/>
                <a:ea typeface="Calibri" pitchFamily="34" charset="-122"/>
                <a:cs typeface="Calibri" pitchFamily="34" charset="-120"/>
              </a:rPr>
              <a:t>THE AGENT WORKFLOW — GOVERNED, STEP BY STEP</a:t>
            </a:r>
            <a:endParaRPr lang="en-US" sz="1200" dirty="0"/>
          </a:p>
        </p:txBody>
      </p:sp>
      <p:sp>
        <p:nvSpPr>
          <p:cNvPr id="3" name="Text 1"/>
          <p:cNvSpPr/>
          <p:nvPr/>
        </p:nvSpPr>
        <p:spPr>
          <a:xfrm>
            <a:off x="822960" y="960120"/>
            <a:ext cx="10515600" cy="548640"/>
          </a:xfrm>
          <a:prstGeom prst="rect">
            <a:avLst/>
          </a:prstGeom>
          <a:noFill/>
          <a:ln/>
        </p:spPr>
        <p:txBody>
          <a:bodyPr wrap="square" rtlCol="0" anchor="ctr"/>
          <a:lstStyle/>
          <a:p>
            <a:pPr indent="0" marL="0">
              <a:buNone/>
            </a:pPr>
            <a:r>
              <a:rPr lang="en-US" sz="2400" b="1" dirty="0">
                <a:solidFill>
                  <a:srgbClr val="232F3E"/>
                </a:solidFill>
                <a:latin typeface="Trebuchet MS" pitchFamily="34" charset="0"/>
                <a:ea typeface="Trebuchet MS" pitchFamily="34" charset="-122"/>
                <a:cs typeface="Trebuchet MS" pitchFamily="34" charset="-120"/>
              </a:rPr>
              <a:t>Govern tool access → canonical data → coordinate the saga → emit compliance events → human gates.</a:t>
            </a:r>
            <a:endParaRPr lang="en-US" sz="2400" dirty="0"/>
          </a:p>
        </p:txBody>
      </p:sp>
      <p:sp>
        <p:nvSpPr>
          <p:cNvPr id="4" name="Shape 2"/>
          <p:cNvSpPr/>
          <p:nvPr/>
        </p:nvSpPr>
        <p:spPr>
          <a:xfrm>
            <a:off x="822960" y="1920240"/>
            <a:ext cx="1898294" cy="3017520"/>
          </a:xfrm>
          <a:prstGeom prst="roundRect">
            <a:avLst>
              <a:gd name="adj" fmla="val 3854"/>
            </a:avLst>
          </a:prstGeom>
          <a:solidFill>
            <a:srgbClr val="FFFFFF"/>
          </a:solidFill>
          <a:ln w="12700">
            <a:solidFill>
              <a:srgbClr val="C9D3DC"/>
            </a:solidFill>
            <a:prstDash val="solid"/>
          </a:ln>
        </p:spPr>
      </p:sp>
      <p:sp>
        <p:nvSpPr>
          <p:cNvPr id="5" name="Shape 3"/>
          <p:cNvSpPr/>
          <p:nvPr/>
        </p:nvSpPr>
        <p:spPr>
          <a:xfrm>
            <a:off x="987552" y="2103120"/>
            <a:ext cx="457200" cy="457200"/>
          </a:xfrm>
          <a:prstGeom prst="ellipse">
            <a:avLst/>
          </a:prstGeom>
          <a:solidFill>
            <a:srgbClr val="232F3E"/>
          </a:solidFill>
          <a:ln/>
        </p:spPr>
      </p:sp>
      <p:sp>
        <p:nvSpPr>
          <p:cNvPr id="6" name="Text 4"/>
          <p:cNvSpPr/>
          <p:nvPr/>
        </p:nvSpPr>
        <p:spPr>
          <a:xfrm>
            <a:off x="987552"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1</a:t>
            </a:r>
            <a:endParaRPr lang="en-US" sz="1800" dirty="0"/>
          </a:p>
        </p:txBody>
      </p:sp>
      <p:sp>
        <p:nvSpPr>
          <p:cNvPr id="7" name="Text 5"/>
          <p:cNvSpPr/>
          <p:nvPr/>
        </p:nvSpPr>
        <p:spPr>
          <a:xfrm>
            <a:off x="987552"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Govern tool access</a:t>
            </a:r>
            <a:endParaRPr lang="en-US" sz="1350" dirty="0"/>
          </a:p>
        </p:txBody>
      </p:sp>
      <p:sp>
        <p:nvSpPr>
          <p:cNvPr id="8" name="Text 6"/>
          <p:cNvSpPr/>
          <p:nvPr/>
        </p:nvSpPr>
        <p:spPr>
          <a:xfrm>
            <a:off x="987552"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Per-tool contracts: agency, purpose, data class, residency, thresholds.</a:t>
            </a:r>
            <a:endParaRPr lang="en-US" sz="1050" dirty="0"/>
          </a:p>
        </p:txBody>
      </p:sp>
      <p:sp>
        <p:nvSpPr>
          <p:cNvPr id="9" name="Text 7"/>
          <p:cNvSpPr/>
          <p:nvPr/>
        </p:nvSpPr>
        <p:spPr>
          <a:xfrm>
            <a:off x="987552"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MCP gateway (deny-by-default)</a:t>
            </a:r>
            <a:endParaRPr lang="en-US" sz="870" dirty="0"/>
          </a:p>
        </p:txBody>
      </p:sp>
      <p:sp>
        <p:nvSpPr>
          <p:cNvPr id="10" name="Text 8"/>
          <p:cNvSpPr/>
          <p:nvPr/>
        </p:nvSpPr>
        <p:spPr>
          <a:xfrm>
            <a:off x="270296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1" name="Shape 9"/>
          <p:cNvSpPr/>
          <p:nvPr/>
        </p:nvSpPr>
        <p:spPr>
          <a:xfrm>
            <a:off x="2977286" y="1920240"/>
            <a:ext cx="1898294" cy="3017520"/>
          </a:xfrm>
          <a:prstGeom prst="roundRect">
            <a:avLst>
              <a:gd name="adj" fmla="val 3854"/>
            </a:avLst>
          </a:prstGeom>
          <a:solidFill>
            <a:srgbClr val="FFFFFF"/>
          </a:solidFill>
          <a:ln w="12700">
            <a:solidFill>
              <a:srgbClr val="C9D3DC"/>
            </a:solidFill>
            <a:prstDash val="solid"/>
          </a:ln>
        </p:spPr>
      </p:sp>
      <p:sp>
        <p:nvSpPr>
          <p:cNvPr id="12" name="Shape 10"/>
          <p:cNvSpPr/>
          <p:nvPr/>
        </p:nvSpPr>
        <p:spPr>
          <a:xfrm>
            <a:off x="3141878" y="2103120"/>
            <a:ext cx="457200" cy="457200"/>
          </a:xfrm>
          <a:prstGeom prst="ellipse">
            <a:avLst/>
          </a:prstGeom>
          <a:solidFill>
            <a:srgbClr val="232F3E"/>
          </a:solidFill>
          <a:ln/>
        </p:spPr>
      </p:sp>
      <p:sp>
        <p:nvSpPr>
          <p:cNvPr id="13" name="Text 11"/>
          <p:cNvSpPr/>
          <p:nvPr/>
        </p:nvSpPr>
        <p:spPr>
          <a:xfrm>
            <a:off x="314187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2</a:t>
            </a:r>
            <a:endParaRPr lang="en-US" sz="1800" dirty="0"/>
          </a:p>
        </p:txBody>
      </p:sp>
      <p:sp>
        <p:nvSpPr>
          <p:cNvPr id="14" name="Text 12"/>
          <p:cNvSpPr/>
          <p:nvPr/>
        </p:nvSpPr>
        <p:spPr>
          <a:xfrm>
            <a:off x="314187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Canonical data</a:t>
            </a:r>
            <a:endParaRPr lang="en-US" sz="1350" dirty="0"/>
          </a:p>
        </p:txBody>
      </p:sp>
      <p:sp>
        <p:nvSpPr>
          <p:cNvPr id="15" name="Text 13"/>
          <p:cNvSpPr/>
          <p:nvPr/>
        </p:nvSpPr>
        <p:spPr>
          <a:xfrm>
            <a:off x="314187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Adapters + registry give agents one consistent view across systems.</a:t>
            </a:r>
            <a:endParaRPr lang="en-US" sz="1050" dirty="0"/>
          </a:p>
        </p:txBody>
      </p:sp>
      <p:sp>
        <p:nvSpPr>
          <p:cNvPr id="16" name="Text 14"/>
          <p:cNvSpPr/>
          <p:nvPr/>
        </p:nvSpPr>
        <p:spPr>
          <a:xfrm>
            <a:off x="314187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Canonical adapters</a:t>
            </a:r>
            <a:endParaRPr lang="en-US" sz="870" dirty="0"/>
          </a:p>
        </p:txBody>
      </p:sp>
      <p:sp>
        <p:nvSpPr>
          <p:cNvPr id="17" name="Text 15"/>
          <p:cNvSpPr/>
          <p:nvPr/>
        </p:nvSpPr>
        <p:spPr>
          <a:xfrm>
            <a:off x="4857293"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5131613" y="1920240"/>
            <a:ext cx="1898294" cy="3017520"/>
          </a:xfrm>
          <a:prstGeom prst="roundRect">
            <a:avLst>
              <a:gd name="adj" fmla="val 3854"/>
            </a:avLst>
          </a:prstGeom>
          <a:solidFill>
            <a:srgbClr val="FFFFFF"/>
          </a:solidFill>
          <a:ln w="12700">
            <a:solidFill>
              <a:srgbClr val="C9D3DC"/>
            </a:solidFill>
            <a:prstDash val="solid"/>
          </a:ln>
        </p:spPr>
      </p:sp>
      <p:sp>
        <p:nvSpPr>
          <p:cNvPr id="19" name="Shape 17"/>
          <p:cNvSpPr/>
          <p:nvPr/>
        </p:nvSpPr>
        <p:spPr>
          <a:xfrm>
            <a:off x="5296205" y="2103120"/>
            <a:ext cx="457200" cy="457200"/>
          </a:xfrm>
          <a:prstGeom prst="ellipse">
            <a:avLst/>
          </a:prstGeom>
          <a:solidFill>
            <a:srgbClr val="232F3E"/>
          </a:solidFill>
          <a:ln/>
        </p:spPr>
      </p:sp>
      <p:sp>
        <p:nvSpPr>
          <p:cNvPr id="20" name="Text 18"/>
          <p:cNvSpPr/>
          <p:nvPr/>
        </p:nvSpPr>
        <p:spPr>
          <a:xfrm>
            <a:off x="5296205"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3</a:t>
            </a:r>
            <a:endParaRPr lang="en-US" sz="1800" dirty="0"/>
          </a:p>
        </p:txBody>
      </p:sp>
      <p:sp>
        <p:nvSpPr>
          <p:cNvPr id="21" name="Text 19"/>
          <p:cNvSpPr/>
          <p:nvPr/>
        </p:nvSpPr>
        <p:spPr>
          <a:xfrm>
            <a:off x="5296205"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Coordinate the saga</a:t>
            </a:r>
            <a:endParaRPr lang="en-US" sz="1350" dirty="0"/>
          </a:p>
        </p:txBody>
      </p:sp>
      <p:sp>
        <p:nvSpPr>
          <p:cNvPr id="22" name="Text 20"/>
          <p:cNvSpPr/>
          <p:nvPr/>
        </p:nvSpPr>
        <p:spPr>
          <a:xfrm>
            <a:off x="5296205"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Durable cross-agency workflow with compensation and rollback.</a:t>
            </a:r>
            <a:endParaRPr lang="en-US" sz="1050" dirty="0"/>
          </a:p>
        </p:txBody>
      </p:sp>
      <p:sp>
        <p:nvSpPr>
          <p:cNvPr id="23" name="Text 21"/>
          <p:cNvSpPr/>
          <p:nvPr/>
        </p:nvSpPr>
        <p:spPr>
          <a:xfrm>
            <a:off x="5296205"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Step Functions saga</a:t>
            </a:r>
            <a:endParaRPr lang="en-US" sz="870" dirty="0"/>
          </a:p>
        </p:txBody>
      </p:sp>
      <p:sp>
        <p:nvSpPr>
          <p:cNvPr id="24" name="Text 22"/>
          <p:cNvSpPr/>
          <p:nvPr/>
        </p:nvSpPr>
        <p:spPr>
          <a:xfrm>
            <a:off x="7011619"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25" name="Shape 23"/>
          <p:cNvSpPr/>
          <p:nvPr/>
        </p:nvSpPr>
        <p:spPr>
          <a:xfrm>
            <a:off x="7285939" y="1920240"/>
            <a:ext cx="1898294" cy="3017520"/>
          </a:xfrm>
          <a:prstGeom prst="roundRect">
            <a:avLst>
              <a:gd name="adj" fmla="val 3854"/>
            </a:avLst>
          </a:prstGeom>
          <a:solidFill>
            <a:srgbClr val="01A88D"/>
          </a:solidFill>
          <a:ln w="12700">
            <a:solidFill>
              <a:srgbClr val="0E7C68"/>
            </a:solidFill>
            <a:prstDash val="solid"/>
          </a:ln>
        </p:spPr>
      </p:sp>
      <p:sp>
        <p:nvSpPr>
          <p:cNvPr id="26" name="Shape 24"/>
          <p:cNvSpPr/>
          <p:nvPr/>
        </p:nvSpPr>
        <p:spPr>
          <a:xfrm>
            <a:off x="7450531" y="2103120"/>
            <a:ext cx="457200" cy="457200"/>
          </a:xfrm>
          <a:prstGeom prst="ellipse">
            <a:avLst/>
          </a:prstGeom>
          <a:solidFill>
            <a:srgbClr val="FFFFFF"/>
          </a:solidFill>
          <a:ln/>
        </p:spPr>
      </p:sp>
      <p:sp>
        <p:nvSpPr>
          <p:cNvPr id="27" name="Text 25"/>
          <p:cNvSpPr/>
          <p:nvPr/>
        </p:nvSpPr>
        <p:spPr>
          <a:xfrm>
            <a:off x="7450531" y="2103120"/>
            <a:ext cx="457200" cy="457200"/>
          </a:xfrm>
          <a:prstGeom prst="rect">
            <a:avLst/>
          </a:prstGeom>
          <a:noFill/>
          <a:ln/>
        </p:spPr>
        <p:txBody>
          <a:bodyPr wrap="square" rtlCol="0" anchor="ctr"/>
          <a:lstStyle/>
          <a:p>
            <a:pPr algn="ctr" indent="0" marL="0">
              <a:buNone/>
            </a:pPr>
            <a:r>
              <a:rPr lang="en-US" sz="1800" b="1" dirty="0">
                <a:solidFill>
                  <a:srgbClr val="01A88D"/>
                </a:solidFill>
                <a:latin typeface="Trebuchet MS" pitchFamily="34" charset="0"/>
                <a:ea typeface="Trebuchet MS" pitchFamily="34" charset="-122"/>
                <a:cs typeface="Trebuchet MS" pitchFamily="34" charset="-120"/>
              </a:rPr>
              <a:t>4</a:t>
            </a:r>
            <a:endParaRPr lang="en-US" sz="1800" dirty="0"/>
          </a:p>
        </p:txBody>
      </p:sp>
      <p:sp>
        <p:nvSpPr>
          <p:cNvPr id="28" name="Text 26"/>
          <p:cNvSpPr/>
          <p:nvPr/>
        </p:nvSpPr>
        <p:spPr>
          <a:xfrm>
            <a:off x="7971739" y="2167128"/>
            <a:ext cx="1121054" cy="329184"/>
          </a:xfrm>
          <a:prstGeom prst="rect">
            <a:avLst/>
          </a:prstGeom>
          <a:noFill/>
          <a:ln/>
        </p:spPr>
        <p:txBody>
          <a:bodyPr wrap="square"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HUMAN</a:t>
            </a:r>
            <a:endParaRPr lang="en-US" sz="950" dirty="0"/>
          </a:p>
        </p:txBody>
      </p:sp>
      <p:sp>
        <p:nvSpPr>
          <p:cNvPr id="29" name="Text 27"/>
          <p:cNvSpPr/>
          <p:nvPr/>
        </p:nvSpPr>
        <p:spPr>
          <a:xfrm>
            <a:off x="7450531" y="2670048"/>
            <a:ext cx="1569110" cy="640080"/>
          </a:xfrm>
          <a:prstGeom prst="rect">
            <a:avLst/>
          </a:prstGeom>
          <a:noFill/>
          <a:ln/>
        </p:spPr>
        <p:txBody>
          <a:bodyPr wrap="square" rtlCol="0" anchor="t"/>
          <a:lstStyle/>
          <a:p>
            <a:pPr indent="0" marL="0">
              <a:lnSpc>
                <a:spcPct val="98000"/>
              </a:lnSpc>
              <a:buNone/>
            </a:pPr>
            <a:r>
              <a:rPr lang="en-US" sz="1350" b="1" dirty="0">
                <a:solidFill>
                  <a:srgbClr val="FFFFFF"/>
                </a:solidFill>
                <a:latin typeface="Calibri" pitchFamily="34" charset="0"/>
                <a:ea typeface="Calibri" pitchFamily="34" charset="-122"/>
                <a:cs typeface="Calibri" pitchFamily="34" charset="-120"/>
              </a:rPr>
              <a:t>Human gates</a:t>
            </a:r>
            <a:endParaRPr lang="en-US" sz="1350" dirty="0"/>
          </a:p>
        </p:txBody>
      </p:sp>
      <p:sp>
        <p:nvSpPr>
          <p:cNvPr id="30" name="Text 28"/>
          <p:cNvSpPr/>
          <p:nvPr/>
        </p:nvSpPr>
        <p:spPr>
          <a:xfrm>
            <a:off x="7450531" y="3310128"/>
            <a:ext cx="1569110" cy="1280160"/>
          </a:xfrm>
          <a:prstGeom prst="rect">
            <a:avLst/>
          </a:prstGeom>
          <a:noFill/>
          <a:ln/>
        </p:spPr>
        <p:txBody>
          <a:bodyPr wrap="square" rtlCol="0" anchor="t"/>
          <a:lstStyle/>
          <a:p>
            <a:pPr indent="0" marL="0">
              <a:lnSpc>
                <a:spcPct val="104000"/>
              </a:lnSpc>
              <a:buNone/>
            </a:pPr>
            <a:r>
              <a:rPr lang="en-US" sz="1050" dirty="0">
                <a:solidFill>
                  <a:srgbClr val="E6FBF6"/>
                </a:solidFill>
                <a:latin typeface="Calibri" pitchFamily="34" charset="0"/>
                <a:ea typeface="Calibri" pitchFamily="34" charset="-122"/>
                <a:cs typeface="Calibri" pitchFamily="34" charset="-120"/>
              </a:rPr>
              <a:t>Consequential cross-agency actions pause for the right approver.</a:t>
            </a:r>
            <a:endParaRPr lang="en-US" sz="1050" dirty="0"/>
          </a:p>
        </p:txBody>
      </p:sp>
      <p:sp>
        <p:nvSpPr>
          <p:cNvPr id="31" name="Text 29"/>
          <p:cNvSpPr/>
          <p:nvPr/>
        </p:nvSpPr>
        <p:spPr>
          <a:xfrm>
            <a:off x="7450531" y="4553712"/>
            <a:ext cx="1569110" cy="310896"/>
          </a:xfrm>
          <a:prstGeom prst="rect">
            <a:avLst/>
          </a:prstGeom>
          <a:noFill/>
          <a:ln/>
        </p:spPr>
        <p:txBody>
          <a:bodyPr wrap="square" rtlCol="0" anchor="ctr"/>
          <a:lstStyle/>
          <a:p>
            <a:pPr indent="0" marL="0">
              <a:buNone/>
            </a:pPr>
            <a:r>
              <a:rPr lang="en-US" sz="870" b="1" i="1" dirty="0">
                <a:solidFill>
                  <a:srgbClr val="E6FBF6"/>
                </a:solidFill>
                <a:latin typeface="Calibri" pitchFamily="34" charset="0"/>
                <a:ea typeface="Calibri" pitchFamily="34" charset="-122"/>
                <a:cs typeface="Calibri" pitchFamily="34" charset="-120"/>
              </a:rPr>
              <a:t>waitForTaskToken</a:t>
            </a:r>
            <a:endParaRPr lang="en-US" sz="870" dirty="0"/>
          </a:p>
        </p:txBody>
      </p:sp>
      <p:sp>
        <p:nvSpPr>
          <p:cNvPr id="32" name="Text 30"/>
          <p:cNvSpPr/>
          <p:nvPr/>
        </p:nvSpPr>
        <p:spPr>
          <a:xfrm>
            <a:off x="9165946" y="3246120"/>
            <a:ext cx="292608" cy="365760"/>
          </a:xfrm>
          <a:prstGeom prst="rect">
            <a:avLst/>
          </a:prstGeom>
          <a:noFill/>
          <a:ln/>
        </p:spPr>
        <p:txBody>
          <a:bodyPr wrap="square" rtlCol="0" anchor="ctr"/>
          <a:lstStyle/>
          <a:p>
            <a:pPr algn="ctr" indent="0" marL="0">
              <a:buNone/>
            </a:pPr>
            <a:r>
              <a:rPr lang="en-US" sz="1600" b="1" dirty="0">
                <a:solidFill>
                  <a:srgbClr val="FF9900"/>
                </a:solidFill>
                <a:latin typeface="Calibri" pitchFamily="34" charset="0"/>
                <a:ea typeface="Calibri" pitchFamily="34" charset="-122"/>
                <a:cs typeface="Calibri" pitchFamily="34" charset="-120"/>
              </a:rPr>
              <a:t>▸</a:t>
            </a:r>
            <a:endParaRPr lang="en-US" sz="1600" dirty="0"/>
          </a:p>
        </p:txBody>
      </p:sp>
      <p:sp>
        <p:nvSpPr>
          <p:cNvPr id="33" name="Shape 31"/>
          <p:cNvSpPr/>
          <p:nvPr/>
        </p:nvSpPr>
        <p:spPr>
          <a:xfrm>
            <a:off x="9440266" y="1920240"/>
            <a:ext cx="1898294" cy="3017520"/>
          </a:xfrm>
          <a:prstGeom prst="roundRect">
            <a:avLst>
              <a:gd name="adj" fmla="val 3854"/>
            </a:avLst>
          </a:prstGeom>
          <a:solidFill>
            <a:srgbClr val="FFFFFF"/>
          </a:solidFill>
          <a:ln w="12700">
            <a:solidFill>
              <a:srgbClr val="C9D3DC"/>
            </a:solidFill>
            <a:prstDash val="solid"/>
          </a:ln>
        </p:spPr>
      </p:sp>
      <p:sp>
        <p:nvSpPr>
          <p:cNvPr id="34" name="Shape 32"/>
          <p:cNvSpPr/>
          <p:nvPr/>
        </p:nvSpPr>
        <p:spPr>
          <a:xfrm>
            <a:off x="9604858" y="2103120"/>
            <a:ext cx="457200" cy="457200"/>
          </a:xfrm>
          <a:prstGeom prst="ellipse">
            <a:avLst/>
          </a:prstGeom>
          <a:solidFill>
            <a:srgbClr val="232F3E"/>
          </a:solidFill>
          <a:ln/>
        </p:spPr>
      </p:sp>
      <p:sp>
        <p:nvSpPr>
          <p:cNvPr id="35" name="Text 33"/>
          <p:cNvSpPr/>
          <p:nvPr/>
        </p:nvSpPr>
        <p:spPr>
          <a:xfrm>
            <a:off x="9604858" y="2103120"/>
            <a:ext cx="457200" cy="457200"/>
          </a:xfrm>
          <a:prstGeom prst="rect">
            <a:avLst/>
          </a:prstGeom>
          <a:noFill/>
          <a:ln/>
        </p:spPr>
        <p:txBody>
          <a:bodyPr wrap="square" rtlCol="0" anchor="ctr"/>
          <a:lstStyle/>
          <a:p>
            <a:pPr algn="ctr" indent="0" marL="0">
              <a:buNone/>
            </a:pPr>
            <a:r>
              <a:rPr lang="en-US" sz="1800" b="1" dirty="0">
                <a:solidFill>
                  <a:srgbClr val="FF9900"/>
                </a:solidFill>
                <a:latin typeface="Trebuchet MS" pitchFamily="34" charset="0"/>
                <a:ea typeface="Trebuchet MS" pitchFamily="34" charset="-122"/>
                <a:cs typeface="Trebuchet MS" pitchFamily="34" charset="-120"/>
              </a:rPr>
              <a:t>5</a:t>
            </a:r>
            <a:endParaRPr lang="en-US" sz="1800" dirty="0"/>
          </a:p>
        </p:txBody>
      </p:sp>
      <p:sp>
        <p:nvSpPr>
          <p:cNvPr id="36" name="Text 34"/>
          <p:cNvSpPr/>
          <p:nvPr/>
        </p:nvSpPr>
        <p:spPr>
          <a:xfrm>
            <a:off x="9604858" y="2670048"/>
            <a:ext cx="1569110" cy="640080"/>
          </a:xfrm>
          <a:prstGeom prst="rect">
            <a:avLst/>
          </a:prstGeom>
          <a:noFill/>
          <a:ln/>
        </p:spPr>
        <p:txBody>
          <a:bodyPr wrap="square" rtlCol="0" anchor="t"/>
          <a:lstStyle/>
          <a:p>
            <a:pPr indent="0" marL="0">
              <a:lnSpc>
                <a:spcPct val="98000"/>
              </a:lnSpc>
              <a:buNone/>
            </a:pPr>
            <a:r>
              <a:rPr lang="en-US" sz="1350" b="1" dirty="0">
                <a:solidFill>
                  <a:srgbClr val="232F3E"/>
                </a:solidFill>
                <a:latin typeface="Calibri" pitchFamily="34" charset="0"/>
                <a:ea typeface="Calibri" pitchFamily="34" charset="-122"/>
                <a:cs typeface="Calibri" pitchFamily="34" charset="-120"/>
              </a:rPr>
              <a:t>Compliance events</a:t>
            </a:r>
            <a:endParaRPr lang="en-US" sz="1350" dirty="0"/>
          </a:p>
        </p:txBody>
      </p:sp>
      <p:sp>
        <p:nvSpPr>
          <p:cNvPr id="37" name="Text 35"/>
          <p:cNvSpPr/>
          <p:nvPr/>
        </p:nvSpPr>
        <p:spPr>
          <a:xfrm>
            <a:off x="9604858" y="3310128"/>
            <a:ext cx="1569110" cy="1280160"/>
          </a:xfrm>
          <a:prstGeom prst="rect">
            <a:avLst/>
          </a:prstGeom>
          <a:noFill/>
          <a:ln/>
        </p:spPr>
        <p:txBody>
          <a:bodyPr wrap="square" rtlCol="0" anchor="t"/>
          <a:lstStyle/>
          <a:p>
            <a:pPr indent="0" marL="0">
              <a:lnSpc>
                <a:spcPct val="104000"/>
              </a:lnSpc>
              <a:buNone/>
            </a:pPr>
            <a:r>
              <a:rPr lang="en-US" sz="1050" dirty="0">
                <a:solidFill>
                  <a:srgbClr val="5A6B7B"/>
                </a:solidFill>
                <a:latin typeface="Calibri" pitchFamily="34" charset="0"/>
                <a:ea typeface="Calibri" pitchFamily="34" charset="-122"/>
                <a:cs typeface="Calibri" pitchFamily="34" charset="-120"/>
              </a:rPr>
              <a:t>Every step emits an evidence event, retained by data class.</a:t>
            </a:r>
            <a:endParaRPr lang="en-US" sz="1050" dirty="0"/>
          </a:p>
        </p:txBody>
      </p:sp>
      <p:sp>
        <p:nvSpPr>
          <p:cNvPr id="38" name="Text 36"/>
          <p:cNvSpPr/>
          <p:nvPr/>
        </p:nvSpPr>
        <p:spPr>
          <a:xfrm>
            <a:off x="9604858" y="4553712"/>
            <a:ext cx="1569110" cy="310896"/>
          </a:xfrm>
          <a:prstGeom prst="rect">
            <a:avLst/>
          </a:prstGeom>
          <a:noFill/>
          <a:ln/>
        </p:spPr>
        <p:txBody>
          <a:bodyPr wrap="square" rtlCol="0" anchor="ctr"/>
          <a:lstStyle/>
          <a:p>
            <a:pPr indent="0" marL="0">
              <a:buNone/>
            </a:pPr>
            <a:r>
              <a:rPr lang="en-US" sz="870" b="1" i="1" dirty="0">
                <a:solidFill>
                  <a:srgbClr val="ED7100"/>
                </a:solidFill>
                <a:latin typeface="Calibri" pitchFamily="34" charset="0"/>
                <a:ea typeface="Calibri" pitchFamily="34" charset="-122"/>
                <a:cs typeface="Calibri" pitchFamily="34" charset="-120"/>
              </a:rPr>
              <a:t>EventBridge + WORM evidence</a:t>
            </a:r>
            <a:endParaRPr lang="en-US" sz="870" dirty="0"/>
          </a:p>
        </p:txBody>
      </p:sp>
      <p:sp>
        <p:nvSpPr>
          <p:cNvPr id="39" name="Shape 37"/>
          <p:cNvSpPr/>
          <p:nvPr/>
        </p:nvSpPr>
        <p:spPr>
          <a:xfrm>
            <a:off x="822960" y="5166360"/>
            <a:ext cx="10515600" cy="868680"/>
          </a:xfrm>
          <a:prstGeom prst="roundRect">
            <a:avLst>
              <a:gd name="adj" fmla="val 6316"/>
            </a:avLst>
          </a:prstGeom>
          <a:solidFill>
            <a:srgbClr val="EAEFF4"/>
          </a:solidFill>
          <a:ln w="12700">
            <a:solidFill>
              <a:srgbClr val="C9D3DC"/>
            </a:solidFill>
            <a:prstDash val="solid"/>
          </a:ln>
        </p:spPr>
      </p:sp>
      <p:sp>
        <p:nvSpPr>
          <p:cNvPr id="40" name="Shape 38"/>
          <p:cNvSpPr/>
          <p:nvPr/>
        </p:nvSpPr>
        <p:spPr>
          <a:xfrm>
            <a:off x="1005840" y="5358384"/>
            <a:ext cx="457200" cy="457200"/>
          </a:xfrm>
          <a:prstGeom prst="ellipse">
            <a:avLst/>
          </a:prstGeom>
          <a:solidFill>
            <a:srgbClr val="01A88D"/>
          </a:solidFill>
          <a:ln/>
        </p:spPr>
      </p:sp>
      <p:sp>
        <p:nvSpPr>
          <p:cNvPr id="41" name="Text 39"/>
          <p:cNvSpPr/>
          <p:nvPr/>
        </p:nvSpPr>
        <p:spPr>
          <a:xfrm>
            <a:off x="1005840" y="5358384"/>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2" name="Text 40"/>
          <p:cNvSpPr/>
          <p:nvPr/>
        </p:nvSpPr>
        <p:spPr>
          <a:xfrm>
            <a:off x="1600200" y="5230368"/>
            <a:ext cx="9601200" cy="749808"/>
          </a:xfrm>
          <a:prstGeom prst="rect">
            <a:avLst/>
          </a:prstGeom>
          <a:noFill/>
          <a:ln/>
        </p:spPr>
        <p:txBody>
          <a:bodyPr wrap="square" rtlCol="0" anchor="ctr"/>
          <a:lstStyle/>
          <a:p>
            <a:pPr indent="0" marL="0">
              <a:lnSpc>
                <a:spcPct val="102000"/>
              </a:lnSpc>
              <a:buNone/>
            </a:pPr>
            <a:r>
              <a:rPr lang="en-US" sz="1150" b="1" dirty="0">
                <a:solidFill>
                  <a:srgbClr val="232F3E"/>
                </a:solidFill>
                <a:latin typeface="Calibri" pitchFamily="34" charset="0"/>
                <a:ea typeface="Calibri" pitchFamily="34" charset="-122"/>
                <a:cs typeface="Calibri" pitchFamily="34" charset="-120"/>
              </a:rPr>
              <a:t>The consequential action is withheld in code until a human approves.  </a:t>
            </a:r>
            <a:pPr indent="0" marL="0">
              <a:lnSpc>
                <a:spcPct val="102000"/>
              </a:lnSpc>
              <a:buNone/>
            </a:pPr>
            <a:r>
              <a:rPr lang="en-US" sz="1150" dirty="0">
                <a:solidFill>
                  <a:srgbClr val="5A6B7B"/>
                </a:solidFill>
                <a:latin typeface="Calibri" pitchFamily="34" charset="0"/>
                <a:ea typeface="Calibri" pitchFamily="34" charset="-122"/>
                <a:cs typeface="Calibri" pitchFamily="34" charset="-120"/>
              </a:rPr>
              <a:t>Five declarative life-event templates (moving, job loss, new business, disaster, bereavement) run on this layer.</a:t>
            </a:r>
            <a:endParaRPr lang="en-US" sz="11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A232E"/>
        </a:solidFill>
      </p:bgPr>
    </p:bg>
    <p:spTree>
      <p:nvGrpSpPr>
        <p:cNvPr id="1" name=""/>
        <p:cNvGrpSpPr/>
        <p:nvPr/>
      </p:nvGrpSpPr>
      <p:grpSpPr>
        <a:xfrm>
          <a:off x="0" y="0"/>
          <a:ext cx="0" cy="0"/>
          <a:chOff x="0" y="0"/>
          <a:chExt cx="0" cy="0"/>
        </a:xfrm>
      </p:grpSpPr>
      <p:sp>
        <p:nvSpPr>
          <p:cNvPr id="2" name="Text 0"/>
          <p:cNvSpPr/>
          <p:nvPr/>
        </p:nvSpPr>
        <p:spPr>
          <a:xfrm>
            <a:off x="822960" y="502920"/>
            <a:ext cx="10515600" cy="310896"/>
          </a:xfrm>
          <a:prstGeom prst="rect">
            <a:avLst/>
          </a:prstGeom>
          <a:noFill/>
          <a:ln/>
        </p:spPr>
        <p:txBody>
          <a:bodyPr wrap="square" rtlCol="0" anchor="ctr"/>
          <a:lstStyle/>
          <a:p>
            <a:pPr indent="0" marL="0">
              <a:buNone/>
            </a:pPr>
            <a:r>
              <a:rPr lang="en-US" sz="1200" b="1" spc="200" kern="0" dirty="0">
                <a:solidFill>
                  <a:srgbClr val="FF9900"/>
                </a:solidFill>
                <a:latin typeface="Calibri" pitchFamily="34" charset="0"/>
                <a:ea typeface="Calibri" pitchFamily="34" charset="-122"/>
                <a:cs typeface="Calibri" pitchFamily="34" charset="-120"/>
              </a:rPr>
              <a:t>AWS REFERENCE ARCHITECTURE — BUILT FOR A REGULATED ENVIRONMENT</a:t>
            </a:r>
            <a:endParaRPr lang="en-US" sz="1200" dirty="0"/>
          </a:p>
        </p:txBody>
      </p:sp>
      <p:sp>
        <p:nvSpPr>
          <p:cNvPr id="3" name="Text 1"/>
          <p:cNvSpPr/>
          <p:nvPr/>
        </p:nvSpPr>
        <p:spPr>
          <a:xfrm>
            <a:off x="822960" y="914400"/>
            <a:ext cx="10515600" cy="457200"/>
          </a:xfrm>
          <a:prstGeom prst="rect">
            <a:avLst/>
          </a:prstGeom>
          <a:noFill/>
          <a:ln/>
        </p:spPr>
        <p:txBody>
          <a:bodyPr wrap="square" rtlCol="0" anchor="ctr"/>
          <a:lstStyle/>
          <a:p>
            <a:pPr indent="0" marL="0">
              <a:buNone/>
            </a:pPr>
            <a:r>
              <a:rPr lang="en-US" sz="2100" b="1" dirty="0">
                <a:solidFill>
                  <a:srgbClr val="FFFFFF"/>
                </a:solidFill>
                <a:latin typeface="Trebuchet MS" pitchFamily="34" charset="0"/>
                <a:ea typeface="Trebuchet MS" pitchFamily="34" charset="-122"/>
                <a:cs typeface="Trebuchet MS" pitchFamily="34" charset="-120"/>
              </a:rPr>
              <a:t>Shared governance, canonical data, durable saga orchestration and a compliance event bus.</a:t>
            </a:r>
            <a:endParaRPr lang="en-US" sz="2100" dirty="0"/>
          </a:p>
        </p:txBody>
      </p:sp>
      <p:sp>
        <p:nvSpPr>
          <p:cNvPr id="4" name="Shape 2"/>
          <p:cNvSpPr/>
          <p:nvPr/>
        </p:nvSpPr>
        <p:spPr>
          <a:xfrm>
            <a:off x="822960" y="1600200"/>
            <a:ext cx="1345474" cy="1417320"/>
          </a:xfrm>
          <a:prstGeom prst="roundRect">
            <a:avLst>
              <a:gd name="adj" fmla="val 4078"/>
            </a:avLst>
          </a:prstGeom>
          <a:solidFill>
            <a:srgbClr val="2C3B4E"/>
          </a:solidFill>
          <a:ln w="19050">
            <a:solidFill>
              <a:srgbClr val="147EBA"/>
            </a:solidFill>
            <a:prstDash val="solid"/>
          </a:ln>
        </p:spPr>
      </p:sp>
      <p:sp>
        <p:nvSpPr>
          <p:cNvPr id="5" name="Shape 3"/>
          <p:cNvSpPr/>
          <p:nvPr/>
        </p:nvSpPr>
        <p:spPr>
          <a:xfrm>
            <a:off x="914400" y="1691640"/>
            <a:ext cx="310896" cy="310896"/>
          </a:xfrm>
          <a:prstGeom prst="ellipse">
            <a:avLst/>
          </a:prstGeom>
          <a:solidFill>
            <a:srgbClr val="147EBA"/>
          </a:solidFill>
          <a:ln/>
        </p:spPr>
      </p:sp>
      <p:sp>
        <p:nvSpPr>
          <p:cNvPr id="6" name="Text 4"/>
          <p:cNvSpPr/>
          <p:nvPr/>
        </p:nvSpPr>
        <p:spPr>
          <a:xfrm>
            <a:off x="914400"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1</a:t>
            </a:r>
            <a:endParaRPr lang="en-US" sz="1200" dirty="0"/>
          </a:p>
        </p:txBody>
      </p:sp>
      <p:sp>
        <p:nvSpPr>
          <p:cNvPr id="7" name="Text 5"/>
          <p:cNvSpPr/>
          <p:nvPr/>
        </p:nvSpPr>
        <p:spPr>
          <a:xfrm>
            <a:off x="932688"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Agencies &amp; agents</a:t>
            </a:r>
            <a:endParaRPr lang="en-US" sz="1100" dirty="0"/>
          </a:p>
        </p:txBody>
      </p:sp>
      <p:sp>
        <p:nvSpPr>
          <p:cNvPr id="8" name="Text 6"/>
          <p:cNvSpPr/>
          <p:nvPr/>
        </p:nvSpPr>
        <p:spPr>
          <a:xfrm>
            <a:off x="932688"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Many agents, many agencies</a:t>
            </a:r>
            <a:endParaRPr lang="en-US" sz="860" dirty="0"/>
          </a:p>
        </p:txBody>
      </p:sp>
      <p:sp>
        <p:nvSpPr>
          <p:cNvPr id="9" name="Text 7"/>
          <p:cNvSpPr/>
          <p:nvPr/>
        </p:nvSpPr>
        <p:spPr>
          <a:xfrm>
            <a:off x="2150146"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0" name="Shape 8"/>
          <p:cNvSpPr/>
          <p:nvPr/>
        </p:nvSpPr>
        <p:spPr>
          <a:xfrm>
            <a:off x="2351314" y="1600200"/>
            <a:ext cx="1345474" cy="1417320"/>
          </a:xfrm>
          <a:prstGeom prst="roundRect">
            <a:avLst>
              <a:gd name="adj" fmla="val 4078"/>
            </a:avLst>
          </a:prstGeom>
          <a:solidFill>
            <a:srgbClr val="2C3B4E"/>
          </a:solidFill>
          <a:ln w="19050">
            <a:solidFill>
              <a:srgbClr val="8C4FFF"/>
            </a:solidFill>
            <a:prstDash val="solid"/>
          </a:ln>
        </p:spPr>
      </p:sp>
      <p:sp>
        <p:nvSpPr>
          <p:cNvPr id="11" name="Shape 9"/>
          <p:cNvSpPr/>
          <p:nvPr/>
        </p:nvSpPr>
        <p:spPr>
          <a:xfrm>
            <a:off x="2442754" y="1691640"/>
            <a:ext cx="310896" cy="310896"/>
          </a:xfrm>
          <a:prstGeom prst="ellipse">
            <a:avLst/>
          </a:prstGeom>
          <a:solidFill>
            <a:srgbClr val="8C4FFF"/>
          </a:solidFill>
          <a:ln/>
        </p:spPr>
      </p:sp>
      <p:sp>
        <p:nvSpPr>
          <p:cNvPr id="12" name="Text 10"/>
          <p:cNvSpPr/>
          <p:nvPr/>
        </p:nvSpPr>
        <p:spPr>
          <a:xfrm>
            <a:off x="2442754"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2</a:t>
            </a:r>
            <a:endParaRPr lang="en-US" sz="1200" dirty="0"/>
          </a:p>
        </p:txBody>
      </p:sp>
      <p:sp>
        <p:nvSpPr>
          <p:cNvPr id="13" name="Text 11"/>
          <p:cNvSpPr/>
          <p:nvPr/>
        </p:nvSpPr>
        <p:spPr>
          <a:xfrm>
            <a:off x="2461042"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Identity — Cognito</a:t>
            </a:r>
            <a:endParaRPr lang="en-US" sz="1100" dirty="0"/>
          </a:p>
        </p:txBody>
      </p:sp>
      <p:sp>
        <p:nvSpPr>
          <p:cNvPr id="14" name="Text 12"/>
          <p:cNvSpPr/>
          <p:nvPr/>
        </p:nvSpPr>
        <p:spPr>
          <a:xfrm>
            <a:off x="2461042"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Federated IdP → JWT</a:t>
            </a:r>
            <a:endParaRPr lang="en-US" sz="860" dirty="0"/>
          </a:p>
        </p:txBody>
      </p:sp>
      <p:sp>
        <p:nvSpPr>
          <p:cNvPr id="15" name="Text 13"/>
          <p:cNvSpPr/>
          <p:nvPr/>
        </p:nvSpPr>
        <p:spPr>
          <a:xfrm>
            <a:off x="3678501"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16" name="Shape 14"/>
          <p:cNvSpPr/>
          <p:nvPr/>
        </p:nvSpPr>
        <p:spPr>
          <a:xfrm>
            <a:off x="3879669" y="1600200"/>
            <a:ext cx="1345474" cy="1417320"/>
          </a:xfrm>
          <a:prstGeom prst="roundRect">
            <a:avLst>
              <a:gd name="adj" fmla="val 4078"/>
            </a:avLst>
          </a:prstGeom>
          <a:solidFill>
            <a:srgbClr val="2C3B4E"/>
          </a:solidFill>
          <a:ln w="19050">
            <a:solidFill>
              <a:srgbClr val="FF9900"/>
            </a:solidFill>
            <a:prstDash val="solid"/>
          </a:ln>
        </p:spPr>
      </p:sp>
      <p:sp>
        <p:nvSpPr>
          <p:cNvPr id="17" name="Shape 15"/>
          <p:cNvSpPr/>
          <p:nvPr/>
        </p:nvSpPr>
        <p:spPr>
          <a:xfrm>
            <a:off x="3971109" y="1691640"/>
            <a:ext cx="310896" cy="310896"/>
          </a:xfrm>
          <a:prstGeom prst="ellipse">
            <a:avLst/>
          </a:prstGeom>
          <a:solidFill>
            <a:srgbClr val="FF9900"/>
          </a:solidFill>
          <a:ln/>
        </p:spPr>
      </p:sp>
      <p:sp>
        <p:nvSpPr>
          <p:cNvPr id="18" name="Text 16"/>
          <p:cNvSpPr/>
          <p:nvPr/>
        </p:nvSpPr>
        <p:spPr>
          <a:xfrm>
            <a:off x="3971109"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3</a:t>
            </a:r>
            <a:endParaRPr lang="en-US" sz="1200" dirty="0"/>
          </a:p>
        </p:txBody>
      </p:sp>
      <p:sp>
        <p:nvSpPr>
          <p:cNvPr id="19" name="Text 17"/>
          <p:cNvSpPr/>
          <p:nvPr/>
        </p:nvSpPr>
        <p:spPr>
          <a:xfrm>
            <a:off x="3989397"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Govern-tool-access</a:t>
            </a:r>
            <a:endParaRPr lang="en-US" sz="1100" dirty="0"/>
          </a:p>
        </p:txBody>
      </p:sp>
      <p:sp>
        <p:nvSpPr>
          <p:cNvPr id="20" name="Text 18"/>
          <p:cNvSpPr/>
          <p:nvPr/>
        </p:nvSpPr>
        <p:spPr>
          <a:xfrm>
            <a:off x="3989397"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Per-tool contract, deny-by-default</a:t>
            </a:r>
            <a:endParaRPr lang="en-US" sz="860" dirty="0"/>
          </a:p>
        </p:txBody>
      </p:sp>
      <p:sp>
        <p:nvSpPr>
          <p:cNvPr id="21" name="Text 19"/>
          <p:cNvSpPr/>
          <p:nvPr/>
        </p:nvSpPr>
        <p:spPr>
          <a:xfrm>
            <a:off x="5206855"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5408023" y="1600200"/>
            <a:ext cx="1345474" cy="1417320"/>
          </a:xfrm>
          <a:prstGeom prst="roundRect">
            <a:avLst>
              <a:gd name="adj" fmla="val 4078"/>
            </a:avLst>
          </a:prstGeom>
          <a:solidFill>
            <a:srgbClr val="2C3B4E"/>
          </a:solidFill>
          <a:ln w="19050">
            <a:solidFill>
              <a:srgbClr val="FF9900"/>
            </a:solidFill>
            <a:prstDash val="solid"/>
          </a:ln>
        </p:spPr>
      </p:sp>
      <p:sp>
        <p:nvSpPr>
          <p:cNvPr id="23" name="Shape 21"/>
          <p:cNvSpPr/>
          <p:nvPr/>
        </p:nvSpPr>
        <p:spPr>
          <a:xfrm>
            <a:off x="5499463" y="1691640"/>
            <a:ext cx="310896" cy="310896"/>
          </a:xfrm>
          <a:prstGeom prst="ellipse">
            <a:avLst/>
          </a:prstGeom>
          <a:solidFill>
            <a:srgbClr val="FF9900"/>
          </a:solidFill>
          <a:ln/>
        </p:spPr>
      </p:sp>
      <p:sp>
        <p:nvSpPr>
          <p:cNvPr id="24" name="Text 22"/>
          <p:cNvSpPr/>
          <p:nvPr/>
        </p:nvSpPr>
        <p:spPr>
          <a:xfrm>
            <a:off x="5499463"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4</a:t>
            </a:r>
            <a:endParaRPr lang="en-US" sz="1200" dirty="0"/>
          </a:p>
        </p:txBody>
      </p:sp>
      <p:sp>
        <p:nvSpPr>
          <p:cNvPr id="25" name="Text 23"/>
          <p:cNvSpPr/>
          <p:nvPr/>
        </p:nvSpPr>
        <p:spPr>
          <a:xfrm>
            <a:off x="5517751"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Canonical data</a:t>
            </a:r>
            <a:endParaRPr lang="en-US" sz="1100" dirty="0"/>
          </a:p>
        </p:txBody>
      </p:sp>
      <p:sp>
        <p:nvSpPr>
          <p:cNvPr id="26" name="Text 24"/>
          <p:cNvSpPr/>
          <p:nvPr/>
        </p:nvSpPr>
        <p:spPr>
          <a:xfrm>
            <a:off x="5517751"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Adapters + registry</a:t>
            </a:r>
            <a:endParaRPr lang="en-US" sz="860" dirty="0"/>
          </a:p>
        </p:txBody>
      </p:sp>
      <p:sp>
        <p:nvSpPr>
          <p:cNvPr id="27" name="Text 25"/>
          <p:cNvSpPr/>
          <p:nvPr/>
        </p:nvSpPr>
        <p:spPr>
          <a:xfrm>
            <a:off x="6735209"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28" name="Shape 26"/>
          <p:cNvSpPr/>
          <p:nvPr/>
        </p:nvSpPr>
        <p:spPr>
          <a:xfrm>
            <a:off x="6936377" y="1600200"/>
            <a:ext cx="1345474" cy="1417320"/>
          </a:xfrm>
          <a:prstGeom prst="roundRect">
            <a:avLst>
              <a:gd name="adj" fmla="val 4078"/>
            </a:avLst>
          </a:prstGeom>
          <a:solidFill>
            <a:srgbClr val="2C3B4E"/>
          </a:solidFill>
          <a:ln w="19050">
            <a:solidFill>
              <a:srgbClr val="01A88D"/>
            </a:solidFill>
            <a:prstDash val="solid"/>
          </a:ln>
        </p:spPr>
      </p:sp>
      <p:sp>
        <p:nvSpPr>
          <p:cNvPr id="29" name="Shape 27"/>
          <p:cNvSpPr/>
          <p:nvPr/>
        </p:nvSpPr>
        <p:spPr>
          <a:xfrm>
            <a:off x="7027817" y="1691640"/>
            <a:ext cx="310896" cy="310896"/>
          </a:xfrm>
          <a:prstGeom prst="ellipse">
            <a:avLst/>
          </a:prstGeom>
          <a:solidFill>
            <a:srgbClr val="01A88D"/>
          </a:solidFill>
          <a:ln/>
        </p:spPr>
      </p:sp>
      <p:sp>
        <p:nvSpPr>
          <p:cNvPr id="30" name="Text 28"/>
          <p:cNvSpPr/>
          <p:nvPr/>
        </p:nvSpPr>
        <p:spPr>
          <a:xfrm>
            <a:off x="7027817"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5</a:t>
            </a:r>
            <a:endParaRPr lang="en-US" sz="1200" dirty="0"/>
          </a:p>
        </p:txBody>
      </p:sp>
      <p:sp>
        <p:nvSpPr>
          <p:cNvPr id="31" name="Text 29"/>
          <p:cNvSpPr/>
          <p:nvPr/>
        </p:nvSpPr>
        <p:spPr>
          <a:xfrm>
            <a:off x="7046105"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Saga orchestration</a:t>
            </a:r>
            <a:endParaRPr lang="en-US" sz="1100" dirty="0"/>
          </a:p>
        </p:txBody>
      </p:sp>
      <p:sp>
        <p:nvSpPr>
          <p:cNvPr id="32" name="Text 30"/>
          <p:cNvSpPr/>
          <p:nvPr/>
        </p:nvSpPr>
        <p:spPr>
          <a:xfrm>
            <a:off x="7046105"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Compensation + rollback</a:t>
            </a:r>
            <a:endParaRPr lang="en-US" sz="860" dirty="0"/>
          </a:p>
        </p:txBody>
      </p:sp>
      <p:sp>
        <p:nvSpPr>
          <p:cNvPr id="33" name="Text 31"/>
          <p:cNvSpPr/>
          <p:nvPr/>
        </p:nvSpPr>
        <p:spPr>
          <a:xfrm>
            <a:off x="8263563"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34" name="Shape 32"/>
          <p:cNvSpPr/>
          <p:nvPr/>
        </p:nvSpPr>
        <p:spPr>
          <a:xfrm>
            <a:off x="8464731" y="1600200"/>
            <a:ext cx="1345474" cy="1417320"/>
          </a:xfrm>
          <a:prstGeom prst="roundRect">
            <a:avLst>
              <a:gd name="adj" fmla="val 4078"/>
            </a:avLst>
          </a:prstGeom>
          <a:solidFill>
            <a:srgbClr val="2C3B4E"/>
          </a:solidFill>
          <a:ln w="19050">
            <a:solidFill>
              <a:srgbClr val="7AA116"/>
            </a:solidFill>
            <a:prstDash val="solid"/>
          </a:ln>
        </p:spPr>
      </p:sp>
      <p:sp>
        <p:nvSpPr>
          <p:cNvPr id="35" name="Shape 33"/>
          <p:cNvSpPr/>
          <p:nvPr/>
        </p:nvSpPr>
        <p:spPr>
          <a:xfrm>
            <a:off x="8556171" y="1691640"/>
            <a:ext cx="310896" cy="310896"/>
          </a:xfrm>
          <a:prstGeom prst="ellipse">
            <a:avLst/>
          </a:prstGeom>
          <a:solidFill>
            <a:srgbClr val="7AA116"/>
          </a:solidFill>
          <a:ln/>
        </p:spPr>
      </p:sp>
      <p:sp>
        <p:nvSpPr>
          <p:cNvPr id="36" name="Text 34"/>
          <p:cNvSpPr/>
          <p:nvPr/>
        </p:nvSpPr>
        <p:spPr>
          <a:xfrm>
            <a:off x="8556171"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6</a:t>
            </a:r>
            <a:endParaRPr lang="en-US" sz="1200" dirty="0"/>
          </a:p>
        </p:txBody>
      </p:sp>
      <p:sp>
        <p:nvSpPr>
          <p:cNvPr id="37" name="Text 35"/>
          <p:cNvSpPr/>
          <p:nvPr/>
        </p:nvSpPr>
        <p:spPr>
          <a:xfrm>
            <a:off x="8574459"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Human gates</a:t>
            </a:r>
            <a:endParaRPr lang="en-US" sz="1100" dirty="0"/>
          </a:p>
        </p:txBody>
      </p:sp>
      <p:sp>
        <p:nvSpPr>
          <p:cNvPr id="38" name="Text 36"/>
          <p:cNvSpPr/>
          <p:nvPr/>
        </p:nvSpPr>
        <p:spPr>
          <a:xfrm>
            <a:off x="8574459"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Approver per action</a:t>
            </a:r>
            <a:endParaRPr lang="en-US" sz="860" dirty="0"/>
          </a:p>
        </p:txBody>
      </p:sp>
      <p:sp>
        <p:nvSpPr>
          <p:cNvPr id="39" name="Text 37"/>
          <p:cNvSpPr/>
          <p:nvPr/>
        </p:nvSpPr>
        <p:spPr>
          <a:xfrm>
            <a:off x="9791918" y="2144268"/>
            <a:ext cx="219456" cy="329184"/>
          </a:xfrm>
          <a:prstGeom prst="rect">
            <a:avLst/>
          </a:prstGeom>
          <a:noFill/>
          <a:ln/>
        </p:spPr>
        <p:txBody>
          <a:bodyPr wrap="square" rtlCol="0" anchor="ctr"/>
          <a:lstStyle/>
          <a:p>
            <a:pPr algn="ctr" indent="0" marL="0">
              <a:buNone/>
            </a:pPr>
            <a:r>
              <a:rPr lang="en-US" sz="1300" b="1" dirty="0">
                <a:solidFill>
                  <a:srgbClr val="FF9900"/>
                </a:solidFill>
                <a:latin typeface="Calibri" pitchFamily="34" charset="0"/>
                <a:ea typeface="Calibri" pitchFamily="34" charset="-122"/>
                <a:cs typeface="Calibri" pitchFamily="34" charset="-120"/>
              </a:rPr>
              <a:t>→</a:t>
            </a:r>
            <a:endParaRPr lang="en-US" sz="1300" dirty="0"/>
          </a:p>
        </p:txBody>
      </p:sp>
      <p:sp>
        <p:nvSpPr>
          <p:cNvPr id="40" name="Shape 38"/>
          <p:cNvSpPr/>
          <p:nvPr/>
        </p:nvSpPr>
        <p:spPr>
          <a:xfrm>
            <a:off x="9993086" y="1600200"/>
            <a:ext cx="1345474" cy="1417320"/>
          </a:xfrm>
          <a:prstGeom prst="roundRect">
            <a:avLst>
              <a:gd name="adj" fmla="val 4078"/>
            </a:avLst>
          </a:prstGeom>
          <a:solidFill>
            <a:srgbClr val="2C3B4E"/>
          </a:solidFill>
          <a:ln w="19050">
            <a:solidFill>
              <a:srgbClr val="DD344C"/>
            </a:solidFill>
            <a:prstDash val="solid"/>
          </a:ln>
        </p:spPr>
      </p:sp>
      <p:sp>
        <p:nvSpPr>
          <p:cNvPr id="41" name="Shape 39"/>
          <p:cNvSpPr/>
          <p:nvPr/>
        </p:nvSpPr>
        <p:spPr>
          <a:xfrm>
            <a:off x="10084526" y="1691640"/>
            <a:ext cx="310896" cy="310896"/>
          </a:xfrm>
          <a:prstGeom prst="ellipse">
            <a:avLst/>
          </a:prstGeom>
          <a:solidFill>
            <a:srgbClr val="DD344C"/>
          </a:solidFill>
          <a:ln/>
        </p:spPr>
      </p:sp>
      <p:sp>
        <p:nvSpPr>
          <p:cNvPr id="42" name="Text 40"/>
          <p:cNvSpPr/>
          <p:nvPr/>
        </p:nvSpPr>
        <p:spPr>
          <a:xfrm>
            <a:off x="10084526" y="1691640"/>
            <a:ext cx="310896" cy="310896"/>
          </a:xfrm>
          <a:prstGeom prst="rect">
            <a:avLst/>
          </a:prstGeom>
          <a:noFill/>
          <a:ln/>
        </p:spPr>
        <p:txBody>
          <a:bodyPr wrap="square" rtlCol="0" anchor="ctr"/>
          <a:lstStyle/>
          <a:p>
            <a:pPr algn="ctr" indent="0" marL="0">
              <a:buNone/>
            </a:pPr>
            <a:r>
              <a:rPr lang="en-US" sz="1200" b="1" dirty="0">
                <a:solidFill>
                  <a:srgbClr val="FFFFFF"/>
                </a:solidFill>
                <a:latin typeface="Trebuchet MS" pitchFamily="34" charset="0"/>
                <a:ea typeface="Trebuchet MS" pitchFamily="34" charset="-122"/>
                <a:cs typeface="Trebuchet MS" pitchFamily="34" charset="-120"/>
              </a:rPr>
              <a:t>7</a:t>
            </a:r>
            <a:endParaRPr lang="en-US" sz="1200" dirty="0"/>
          </a:p>
        </p:txBody>
      </p:sp>
      <p:sp>
        <p:nvSpPr>
          <p:cNvPr id="43" name="Text 41"/>
          <p:cNvSpPr/>
          <p:nvPr/>
        </p:nvSpPr>
        <p:spPr>
          <a:xfrm>
            <a:off x="10102814" y="2057400"/>
            <a:ext cx="1126018" cy="502920"/>
          </a:xfrm>
          <a:prstGeom prst="rect">
            <a:avLst/>
          </a:prstGeom>
          <a:noFill/>
          <a:ln/>
        </p:spPr>
        <p:txBody>
          <a:bodyPr wrap="square" rtlCol="0" anchor="t"/>
          <a:lstStyle/>
          <a:p>
            <a:pPr indent="0" marL="0">
              <a:lnSpc>
                <a:spcPct val="95000"/>
              </a:lnSpc>
              <a:buNone/>
            </a:pPr>
            <a:r>
              <a:rPr lang="en-US" sz="1100" b="1" dirty="0">
                <a:solidFill>
                  <a:srgbClr val="FFFFFF"/>
                </a:solidFill>
                <a:latin typeface="Calibri" pitchFamily="34" charset="0"/>
                <a:ea typeface="Calibri" pitchFamily="34" charset="-122"/>
                <a:cs typeface="Calibri" pitchFamily="34" charset="-120"/>
              </a:rPr>
              <a:t>Compliance events</a:t>
            </a:r>
            <a:endParaRPr lang="en-US" sz="1100" dirty="0"/>
          </a:p>
        </p:txBody>
      </p:sp>
      <p:sp>
        <p:nvSpPr>
          <p:cNvPr id="44" name="Text 42"/>
          <p:cNvSpPr/>
          <p:nvPr/>
        </p:nvSpPr>
        <p:spPr>
          <a:xfrm>
            <a:off x="10102814" y="2532888"/>
            <a:ext cx="1126018" cy="438912"/>
          </a:xfrm>
          <a:prstGeom prst="rect">
            <a:avLst/>
          </a:prstGeom>
          <a:noFill/>
          <a:ln/>
        </p:spPr>
        <p:txBody>
          <a:bodyPr wrap="square" rtlCol="0" anchor="t"/>
          <a:lstStyle/>
          <a:p>
            <a:pPr indent="0" marL="0">
              <a:lnSpc>
                <a:spcPct val="98000"/>
              </a:lnSpc>
              <a:buNone/>
            </a:pPr>
            <a:r>
              <a:rPr lang="en-US" sz="860" dirty="0">
                <a:solidFill>
                  <a:srgbClr val="8FA1B3"/>
                </a:solidFill>
                <a:latin typeface="Calibri" pitchFamily="34" charset="0"/>
                <a:ea typeface="Calibri" pitchFamily="34" charset="-122"/>
                <a:cs typeface="Calibri" pitchFamily="34" charset="-120"/>
              </a:rPr>
              <a:t>EventBridge + WORM evidence</a:t>
            </a:r>
            <a:endParaRPr lang="en-US" sz="860" dirty="0"/>
          </a:p>
        </p:txBody>
      </p:sp>
      <p:sp>
        <p:nvSpPr>
          <p:cNvPr id="45" name="Text 43"/>
          <p:cNvSpPr/>
          <p:nvPr/>
        </p:nvSpPr>
        <p:spPr>
          <a:xfrm>
            <a:off x="822960" y="3200400"/>
            <a:ext cx="10515600" cy="566928"/>
          </a:xfrm>
          <a:prstGeom prst="rect">
            <a:avLst/>
          </a:prstGeom>
          <a:noFill/>
          <a:ln/>
        </p:spPr>
        <p:txBody>
          <a:bodyPr wrap="square" rtlCol="0" anchor="t"/>
          <a:lstStyle/>
          <a:p>
            <a:pPr indent="0" marL="0">
              <a:lnSpc>
                <a:spcPct val="105000"/>
              </a:lnSpc>
              <a:buNone/>
            </a:pPr>
            <a:r>
              <a:rPr lang="en-US" sz="1070" b="1" dirty="0">
                <a:solidFill>
                  <a:srgbClr val="FF9900"/>
                </a:solidFill>
                <a:latin typeface="Calibri" pitchFamily="34" charset="0"/>
                <a:ea typeface="Calibri" pitchFamily="34" charset="-122"/>
                <a:cs typeface="Calibri" pitchFamily="34" charset="-120"/>
              </a:rPr>
              <a:t>Traffic flow:  </a:t>
            </a:r>
            <a:pPr indent="0" marL="0">
              <a:lnSpc>
                <a:spcPct val="105000"/>
              </a:lnSpc>
              <a:buNone/>
            </a:pPr>
            <a:r>
              <a:rPr lang="en-US" sz="1070" dirty="0">
                <a:solidFill>
                  <a:srgbClr val="C9D3DC"/>
                </a:solidFill>
                <a:latin typeface="Calibri" pitchFamily="34" charset="0"/>
                <a:ea typeface="Calibri" pitchFamily="34" charset="-122"/>
                <a:cs typeface="Calibri" pitchFamily="34" charset="-120"/>
              </a:rPr>
              <a:t>User authenticates to the agency IdP, which Amazon Cognito federates into a signed JWT. API Gateway validates the JWT; the MCP gateway re-validates the custom:slg_role claim and issues a scoped, time-boxed token so the agent can call only the tools that role is entitled to (agent grant ∩ user entitlement). Bedrock Guardrails filter every prompt and response; the consequential action is held at the human gate. Every step writes to CloudTrail and a WORM (S3 Object Lock) audit log.</a:t>
            </a:r>
            <a:endParaRPr lang="en-US" sz="1070" dirty="0"/>
          </a:p>
        </p:txBody>
      </p:sp>
      <p:sp>
        <p:nvSpPr>
          <p:cNvPr id="46" name="Text 44"/>
          <p:cNvSpPr/>
          <p:nvPr/>
        </p:nvSpPr>
        <p:spPr>
          <a:xfrm>
            <a:off x="822960" y="3886200"/>
            <a:ext cx="10515600" cy="27432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REGULATED-ENVIRONMENT CONTROLS</a:t>
            </a:r>
            <a:endParaRPr lang="en-US" sz="1100" dirty="0"/>
          </a:p>
        </p:txBody>
      </p:sp>
      <p:sp>
        <p:nvSpPr>
          <p:cNvPr id="47" name="Shape 45"/>
          <p:cNvSpPr/>
          <p:nvPr/>
        </p:nvSpPr>
        <p:spPr>
          <a:xfrm>
            <a:off x="822960" y="4206240"/>
            <a:ext cx="2478024" cy="1325880"/>
          </a:xfrm>
          <a:prstGeom prst="roundRect">
            <a:avLst>
              <a:gd name="adj" fmla="val 4138"/>
            </a:avLst>
          </a:prstGeom>
          <a:solidFill>
            <a:srgbClr val="3A4B5F"/>
          </a:solidFill>
          <a:ln/>
        </p:spPr>
      </p:sp>
      <p:sp>
        <p:nvSpPr>
          <p:cNvPr id="48" name="Text 46"/>
          <p:cNvSpPr/>
          <p:nvPr/>
        </p:nvSpPr>
        <p:spPr>
          <a:xfrm>
            <a:off x="950976"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Identity &amp; least privilege</a:t>
            </a:r>
            <a:endParaRPr lang="en-US" sz="1050" dirty="0"/>
          </a:p>
        </p:txBody>
      </p:sp>
      <p:sp>
        <p:nvSpPr>
          <p:cNvPr id="49" name="Text 47"/>
          <p:cNvSpPr/>
          <p:nvPr/>
        </p:nvSpPr>
        <p:spPr>
          <a:xfrm>
            <a:off x="950976"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Cognito + custom:slg_role; deny-by-default MCP gateway; effective scope = agent grant ∩ user entitlement.</a:t>
            </a:r>
            <a:endParaRPr lang="en-US" sz="860" dirty="0"/>
          </a:p>
        </p:txBody>
      </p:sp>
      <p:sp>
        <p:nvSpPr>
          <p:cNvPr id="50" name="Shape 48"/>
          <p:cNvSpPr/>
          <p:nvPr/>
        </p:nvSpPr>
        <p:spPr>
          <a:xfrm>
            <a:off x="3502152" y="4206240"/>
            <a:ext cx="2478024" cy="1325880"/>
          </a:xfrm>
          <a:prstGeom prst="roundRect">
            <a:avLst>
              <a:gd name="adj" fmla="val 4138"/>
            </a:avLst>
          </a:prstGeom>
          <a:solidFill>
            <a:srgbClr val="3A4B5F"/>
          </a:solidFill>
          <a:ln/>
        </p:spPr>
      </p:sp>
      <p:sp>
        <p:nvSpPr>
          <p:cNvPr id="51" name="Text 49"/>
          <p:cNvSpPr/>
          <p:nvPr/>
        </p:nvSpPr>
        <p:spPr>
          <a:xfrm>
            <a:off x="3630168"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Data protection</a:t>
            </a:r>
            <a:endParaRPr lang="en-US" sz="1050" dirty="0"/>
          </a:p>
        </p:txBody>
      </p:sp>
      <p:sp>
        <p:nvSpPr>
          <p:cNvPr id="52" name="Text 50"/>
          <p:cNvSpPr/>
          <p:nvPr/>
        </p:nvSpPr>
        <p:spPr>
          <a:xfrm>
            <a:off x="3630168"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PII masking before inference; KMS encryption; S3 Object Lock (WORM) audit; private VPC + Bedrock VPC endpoint.</a:t>
            </a:r>
            <a:endParaRPr lang="en-US" sz="860" dirty="0"/>
          </a:p>
        </p:txBody>
      </p:sp>
      <p:sp>
        <p:nvSpPr>
          <p:cNvPr id="53" name="Shape 51"/>
          <p:cNvSpPr/>
          <p:nvPr/>
        </p:nvSpPr>
        <p:spPr>
          <a:xfrm>
            <a:off x="6181344" y="4206240"/>
            <a:ext cx="2478024" cy="1325880"/>
          </a:xfrm>
          <a:prstGeom prst="roundRect">
            <a:avLst>
              <a:gd name="adj" fmla="val 4138"/>
            </a:avLst>
          </a:prstGeom>
          <a:solidFill>
            <a:srgbClr val="3A4B5F"/>
          </a:solidFill>
          <a:ln/>
        </p:spPr>
      </p:sp>
      <p:sp>
        <p:nvSpPr>
          <p:cNvPr id="54" name="Text 52"/>
          <p:cNvSpPr/>
          <p:nvPr/>
        </p:nvSpPr>
        <p:spPr>
          <a:xfrm>
            <a:off x="6309360"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AI guardrails &amp; HITL</a:t>
            </a:r>
            <a:endParaRPr lang="en-US" sz="1050" dirty="0"/>
          </a:p>
        </p:txBody>
      </p:sp>
      <p:sp>
        <p:nvSpPr>
          <p:cNvPr id="55" name="Text 53"/>
          <p:cNvSpPr/>
          <p:nvPr/>
        </p:nvSpPr>
        <p:spPr>
          <a:xfrm>
            <a:off x="6309360"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Guardrails; grounded, cited answers; consequential action withheld in code until a human approves.</a:t>
            </a:r>
            <a:endParaRPr lang="en-US" sz="860" dirty="0"/>
          </a:p>
        </p:txBody>
      </p:sp>
      <p:sp>
        <p:nvSpPr>
          <p:cNvPr id="56" name="Shape 54"/>
          <p:cNvSpPr/>
          <p:nvPr/>
        </p:nvSpPr>
        <p:spPr>
          <a:xfrm>
            <a:off x="8860536" y="4206240"/>
            <a:ext cx="2478024" cy="1325880"/>
          </a:xfrm>
          <a:prstGeom prst="roundRect">
            <a:avLst>
              <a:gd name="adj" fmla="val 4138"/>
            </a:avLst>
          </a:prstGeom>
          <a:solidFill>
            <a:srgbClr val="3A4B5F"/>
          </a:solidFill>
          <a:ln/>
        </p:spPr>
      </p:sp>
      <p:sp>
        <p:nvSpPr>
          <p:cNvPr id="57" name="Text 55"/>
          <p:cNvSpPr/>
          <p:nvPr/>
        </p:nvSpPr>
        <p:spPr>
          <a:xfrm>
            <a:off x="8988552" y="4315968"/>
            <a:ext cx="2221992" cy="457200"/>
          </a:xfrm>
          <a:prstGeom prst="rect">
            <a:avLst/>
          </a:prstGeom>
          <a:noFill/>
          <a:ln/>
        </p:spPr>
        <p:txBody>
          <a:bodyPr wrap="square" rtlCol="0" anchor="t"/>
          <a:lstStyle/>
          <a:p>
            <a:pPr indent="0" marL="0">
              <a:lnSpc>
                <a:spcPct val="95000"/>
              </a:lnSpc>
              <a:buNone/>
            </a:pPr>
            <a:r>
              <a:rPr lang="en-US" sz="1050" b="1" dirty="0">
                <a:solidFill>
                  <a:srgbClr val="FFFFFF"/>
                </a:solidFill>
                <a:latin typeface="Calibri" pitchFamily="34" charset="0"/>
                <a:ea typeface="Calibri" pitchFamily="34" charset="-122"/>
                <a:cs typeface="Calibri" pitchFamily="34" charset="-120"/>
              </a:rPr>
              <a:t>Compliance posture</a:t>
            </a:r>
            <a:endParaRPr lang="en-US" sz="1050" dirty="0"/>
          </a:p>
        </p:txBody>
      </p:sp>
      <p:sp>
        <p:nvSpPr>
          <p:cNvPr id="58" name="Text 56"/>
          <p:cNvSpPr/>
          <p:nvPr/>
        </p:nvSpPr>
        <p:spPr>
          <a:xfrm>
            <a:off x="8988552" y="4754880"/>
            <a:ext cx="2221992" cy="713232"/>
          </a:xfrm>
          <a:prstGeom prst="rect">
            <a:avLst/>
          </a:prstGeom>
          <a:noFill/>
          <a:ln/>
        </p:spPr>
        <p:txBody>
          <a:bodyPr wrap="square" rtlCol="0" anchor="t"/>
          <a:lstStyle/>
          <a:p>
            <a:pPr indent="0" marL="0">
              <a:lnSpc>
                <a:spcPct val="100000"/>
              </a:lnSpc>
              <a:buNone/>
            </a:pPr>
            <a:r>
              <a:rPr lang="en-US" sz="860" dirty="0">
                <a:solidFill>
                  <a:srgbClr val="8FA1B3"/>
                </a:solidFill>
                <a:latin typeface="Calibri" pitchFamily="34" charset="0"/>
                <a:ea typeface="Calibri" pitchFamily="34" charset="-122"/>
                <a:cs typeface="Calibri" pitchFamily="34" charset="-120"/>
              </a:rPr>
              <a:t>Bedrock FedRAMP High + DoD IL-4/5 in GovCloud; CJIS / IRS-1075 alignment; CloudTrail; ADA WCAG 2.1 AA.</a:t>
            </a:r>
            <a:endParaRPr lang="en-US" sz="860" dirty="0"/>
          </a:p>
        </p:txBody>
      </p:sp>
      <p:sp>
        <p:nvSpPr>
          <p:cNvPr id="59" name="Shape 57"/>
          <p:cNvSpPr/>
          <p:nvPr/>
        </p:nvSpPr>
        <p:spPr>
          <a:xfrm>
            <a:off x="822960" y="5715000"/>
            <a:ext cx="10515600" cy="713232"/>
          </a:xfrm>
          <a:prstGeom prst="roundRect">
            <a:avLst>
              <a:gd name="adj" fmla="val 7692"/>
            </a:avLst>
          </a:prstGeom>
          <a:solidFill>
            <a:srgbClr val="2C3B4E"/>
          </a:solidFill>
          <a:ln w="12700">
            <a:solidFill>
              <a:srgbClr val="FF9900"/>
            </a:solidFill>
            <a:prstDash val="solid"/>
          </a:ln>
        </p:spPr>
      </p:sp>
      <p:sp>
        <p:nvSpPr>
          <p:cNvPr id="60" name="Text 58"/>
          <p:cNvSpPr/>
          <p:nvPr/>
        </p:nvSpPr>
        <p:spPr>
          <a:xfrm>
            <a:off x="1005840" y="5760720"/>
            <a:ext cx="10149840" cy="621792"/>
          </a:xfrm>
          <a:prstGeom prst="rect">
            <a:avLst/>
          </a:prstGeom>
          <a:noFill/>
          <a:ln/>
        </p:spPr>
        <p:txBody>
          <a:bodyPr wrap="square" rtlCol="0" anchor="ctr"/>
          <a:lstStyle/>
          <a:p>
            <a:pPr indent="0" marL="0">
              <a:lnSpc>
                <a:spcPct val="102000"/>
              </a:lnSpc>
              <a:buNone/>
            </a:pPr>
            <a:r>
              <a:rPr lang="en-US" sz="1030" b="1" dirty="0">
                <a:solidFill>
                  <a:srgbClr val="FF9900"/>
                </a:solidFill>
                <a:latin typeface="Calibri" pitchFamily="34" charset="0"/>
                <a:ea typeface="Calibri" pitchFamily="34" charset="-122"/>
                <a:cs typeface="Calibri" pitchFamily="34" charset="-120"/>
              </a:rPr>
              <a:t>Deployment models:  </a:t>
            </a:r>
            <a:pPr indent="0" marL="0">
              <a:lnSpc>
                <a:spcPct val="102000"/>
              </a:lnSpc>
              <a:buNone/>
            </a:pPr>
            <a:r>
              <a:rPr lang="en-US" sz="1030" dirty="0">
                <a:solidFill>
                  <a:srgbClr val="C9D3DC"/>
                </a:solidFill>
                <a:latin typeface="Calibri" pitchFamily="34" charset="0"/>
                <a:ea typeface="Calibri" pitchFamily="34" charset="-122"/>
                <a:cs typeface="Calibri" pitchFamily="34" charset="-120"/>
              </a:rPr>
              <a:t>Model A (standalone) — each agent ships its own VPC, edge, Cognito, data and WORM audit stack, deployable by one CloudFormation/Terraform quickstart. Model B (+ Whole-of-Government) — adds shared canonical data, saga orchestration and a compliance event bus. GovCloud (US) uses the portable gateway path.</a:t>
            </a:r>
            <a:endParaRPr lang="en-US" sz="103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822960" y="548640"/>
            <a:ext cx="10515600" cy="310896"/>
          </a:xfrm>
          <a:prstGeom prst="rect">
            <a:avLst/>
          </a:prstGeom>
          <a:noFill/>
          <a:ln/>
        </p:spPr>
        <p:txBody>
          <a:bodyPr wrap="square" rtlCol="0" anchor="ctr"/>
          <a:lstStyle/>
          <a:p>
            <a:pPr indent="0" marL="0">
              <a:buNone/>
            </a:pPr>
            <a:r>
              <a:rPr lang="en-US" sz="1200" b="1" spc="250" kern="0" dirty="0">
                <a:solidFill>
                  <a:srgbClr val="FF9900"/>
                </a:solidFill>
                <a:latin typeface="Calibri" pitchFamily="34" charset="0"/>
                <a:ea typeface="Calibri" pitchFamily="34" charset="-122"/>
                <a:cs typeface="Calibri" pitchFamily="34" charset="-120"/>
              </a:rPr>
              <a:t>WHAT GOOD LOOKS LIKE</a:t>
            </a:r>
            <a:endParaRPr lang="en-US" sz="1200" dirty="0"/>
          </a:p>
        </p:txBody>
      </p:sp>
      <p:sp>
        <p:nvSpPr>
          <p:cNvPr id="3" name="Text 1"/>
          <p:cNvSpPr/>
          <p:nvPr/>
        </p:nvSpPr>
        <p:spPr>
          <a:xfrm>
            <a:off x="822960" y="877824"/>
            <a:ext cx="10515600" cy="777240"/>
          </a:xfrm>
          <a:prstGeom prst="rect">
            <a:avLst/>
          </a:prstGeom>
          <a:noFill/>
          <a:ln/>
        </p:spPr>
        <p:txBody>
          <a:bodyPr wrap="square" rtlCol="0" anchor="t"/>
          <a:lstStyle/>
          <a:p>
            <a:pPr indent="0" marL="0">
              <a:lnSpc>
                <a:spcPct val="100000"/>
              </a:lnSpc>
              <a:buNone/>
            </a:pPr>
            <a:r>
              <a:rPr lang="en-US" sz="2500" b="1" dirty="0">
                <a:solidFill>
                  <a:srgbClr val="FFFFFF"/>
                </a:solidFill>
                <a:latin typeface="Trebuchet MS" pitchFamily="34" charset="0"/>
                <a:ea typeface="Trebuchet MS" pitchFamily="34" charset="-122"/>
                <a:cs typeface="Trebuchet MS" pitchFamily="34" charset="-120"/>
              </a:rPr>
              <a:t>The platform is the product; the agents are the proof.</a:t>
            </a:r>
            <a:endParaRPr lang="en-US" sz="2500" dirty="0"/>
          </a:p>
        </p:txBody>
      </p:sp>
      <p:sp>
        <p:nvSpPr>
          <p:cNvPr id="4" name="Shape 2"/>
          <p:cNvSpPr/>
          <p:nvPr/>
        </p:nvSpPr>
        <p:spPr>
          <a:xfrm>
            <a:off x="822960" y="1828800"/>
            <a:ext cx="3322320" cy="1600200"/>
          </a:xfrm>
          <a:prstGeom prst="roundRect">
            <a:avLst>
              <a:gd name="adj" fmla="val 4571"/>
            </a:avLst>
          </a:prstGeom>
          <a:solidFill>
            <a:srgbClr val="2C3B4E"/>
          </a:solidFill>
          <a:ln w="12700">
            <a:solidFill>
              <a:srgbClr val="37475A"/>
            </a:solidFill>
            <a:prstDash val="solid"/>
          </a:ln>
        </p:spPr>
      </p:sp>
      <p:sp>
        <p:nvSpPr>
          <p:cNvPr id="5" name="Text 3"/>
          <p:cNvSpPr/>
          <p:nvPr/>
        </p:nvSpPr>
        <p:spPr>
          <a:xfrm>
            <a:off x="1024128" y="1975104"/>
            <a:ext cx="2956560" cy="658368"/>
          </a:xfrm>
          <a:prstGeom prst="rect">
            <a:avLst/>
          </a:prstGeom>
          <a:noFill/>
          <a:ln/>
        </p:spPr>
        <p:txBody>
          <a:bodyPr wrap="square" rtlCol="0" anchor="ctr"/>
          <a:lstStyle/>
          <a:p>
            <a:pPr indent="0" marL="0">
              <a:buNone/>
            </a:pPr>
            <a:r>
              <a:rPr lang="en-US" sz="2800" b="1" dirty="0">
                <a:solidFill>
                  <a:srgbClr val="FF9900"/>
                </a:solidFill>
                <a:latin typeface="Trebuchet MS" pitchFamily="34" charset="0"/>
                <a:ea typeface="Trebuchet MS" pitchFamily="34" charset="-122"/>
                <a:cs typeface="Trebuchet MS" pitchFamily="34" charset="-120"/>
              </a:rPr>
              <a:t>FedRAMP High</a:t>
            </a:r>
            <a:endParaRPr lang="en-US" sz="2800" dirty="0"/>
          </a:p>
        </p:txBody>
      </p:sp>
      <p:sp>
        <p:nvSpPr>
          <p:cNvPr id="6" name="Text 4"/>
          <p:cNvSpPr/>
          <p:nvPr/>
        </p:nvSpPr>
        <p:spPr>
          <a:xfrm>
            <a:off x="104241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Bedrock + Guardrails + KBs authorized; DoD IL-4/5 in GovCloud</a:t>
            </a:r>
            <a:endParaRPr lang="en-US" sz="1100" dirty="0"/>
          </a:p>
        </p:txBody>
      </p:sp>
      <p:sp>
        <p:nvSpPr>
          <p:cNvPr id="7" name="Text 5"/>
          <p:cNvSpPr/>
          <p:nvPr/>
        </p:nvSpPr>
        <p:spPr>
          <a:xfrm>
            <a:off x="1024128" y="3118104"/>
            <a:ext cx="987552" cy="256032"/>
          </a:xfrm>
          <a:prstGeom prst="rect">
            <a:avLst>
              <a:gd name="adj" fmla="val 14286"/>
            </a:avLst>
          </a:prstGeom>
          <a:solidFill>
            <a:srgbClr val="0E7C68"/>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GOVERNMENT</a:t>
            </a:r>
            <a:endParaRPr lang="en-US" sz="800" dirty="0"/>
          </a:p>
        </p:txBody>
      </p:sp>
      <p:sp>
        <p:nvSpPr>
          <p:cNvPr id="8" name="Shape 6"/>
          <p:cNvSpPr/>
          <p:nvPr/>
        </p:nvSpPr>
        <p:spPr>
          <a:xfrm>
            <a:off x="4419600" y="1828800"/>
            <a:ext cx="3322320" cy="1600200"/>
          </a:xfrm>
          <a:prstGeom prst="roundRect">
            <a:avLst>
              <a:gd name="adj" fmla="val 4571"/>
            </a:avLst>
          </a:prstGeom>
          <a:solidFill>
            <a:srgbClr val="2C3B4E"/>
          </a:solidFill>
          <a:ln w="12700">
            <a:solidFill>
              <a:srgbClr val="37475A"/>
            </a:solidFill>
            <a:prstDash val="solid"/>
          </a:ln>
        </p:spPr>
      </p:sp>
      <p:sp>
        <p:nvSpPr>
          <p:cNvPr id="9" name="Text 7"/>
          <p:cNvSpPr/>
          <p:nvPr/>
        </p:nvSpPr>
        <p:spPr>
          <a:xfrm>
            <a:off x="4620768" y="1975104"/>
            <a:ext cx="2956560" cy="658368"/>
          </a:xfrm>
          <a:prstGeom prst="rect">
            <a:avLst/>
          </a:prstGeom>
          <a:noFill/>
          <a:ln/>
        </p:spPr>
        <p:txBody>
          <a:bodyPr wrap="square" rtlCol="0" anchor="ctr"/>
          <a:lstStyle/>
          <a:p>
            <a:pPr indent="0" marL="0">
              <a:buNone/>
            </a:pPr>
            <a:r>
              <a:rPr lang="en-US" sz="3000" b="1" dirty="0">
                <a:solidFill>
                  <a:srgbClr val="FF9900"/>
                </a:solidFill>
                <a:latin typeface="Trebuchet MS" pitchFamily="34" charset="0"/>
                <a:ea typeface="Trebuchet MS" pitchFamily="34" charset="-122"/>
                <a:cs typeface="Trebuchet MS" pitchFamily="34" charset="-120"/>
              </a:rPr>
              <a:t>8 agents</a:t>
            </a:r>
            <a:endParaRPr lang="en-US" sz="3000" dirty="0"/>
          </a:p>
        </p:txBody>
      </p:sp>
      <p:sp>
        <p:nvSpPr>
          <p:cNvPr id="10" name="Text 8"/>
          <p:cNvSpPr/>
          <p:nvPr/>
        </p:nvSpPr>
        <p:spPr>
          <a:xfrm>
            <a:off x="463905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in this library already run on the same governed layer</a:t>
            </a:r>
            <a:endParaRPr lang="en-US" sz="1100" dirty="0"/>
          </a:p>
        </p:txBody>
      </p:sp>
      <p:sp>
        <p:nvSpPr>
          <p:cNvPr id="11" name="Text 9"/>
          <p:cNvSpPr/>
          <p:nvPr/>
        </p:nvSpPr>
        <p:spPr>
          <a:xfrm>
            <a:off x="4620768" y="3118104"/>
            <a:ext cx="912571"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REFERENCE</a:t>
            </a:r>
            <a:endParaRPr lang="en-US" sz="800" dirty="0"/>
          </a:p>
        </p:txBody>
      </p:sp>
      <p:sp>
        <p:nvSpPr>
          <p:cNvPr id="12" name="Shape 10"/>
          <p:cNvSpPr/>
          <p:nvPr/>
        </p:nvSpPr>
        <p:spPr>
          <a:xfrm>
            <a:off x="8016240" y="1828800"/>
            <a:ext cx="3322320" cy="1600200"/>
          </a:xfrm>
          <a:prstGeom prst="roundRect">
            <a:avLst>
              <a:gd name="adj" fmla="val 4571"/>
            </a:avLst>
          </a:prstGeom>
          <a:solidFill>
            <a:srgbClr val="2C3B4E"/>
          </a:solidFill>
          <a:ln w="12700">
            <a:solidFill>
              <a:srgbClr val="37475A"/>
            </a:solidFill>
            <a:prstDash val="solid"/>
          </a:ln>
        </p:spPr>
      </p:sp>
      <p:sp>
        <p:nvSpPr>
          <p:cNvPr id="13" name="Text 11"/>
          <p:cNvSpPr/>
          <p:nvPr/>
        </p:nvSpPr>
        <p:spPr>
          <a:xfrm>
            <a:off x="8217408" y="1975104"/>
            <a:ext cx="2956560" cy="658368"/>
          </a:xfrm>
          <a:prstGeom prst="rect">
            <a:avLst/>
          </a:prstGeom>
          <a:noFill/>
          <a:ln/>
        </p:spPr>
        <p:txBody>
          <a:bodyPr wrap="square" rtlCol="0" anchor="ctr"/>
          <a:lstStyle/>
          <a:p>
            <a:pPr indent="0" marL="0">
              <a:buNone/>
            </a:pPr>
            <a:r>
              <a:rPr lang="en-US" sz="2600" b="1" dirty="0">
                <a:solidFill>
                  <a:srgbClr val="FF9900"/>
                </a:solidFill>
                <a:latin typeface="Trebuchet MS" pitchFamily="34" charset="0"/>
                <a:ea typeface="Trebuchet MS" pitchFamily="34" charset="-122"/>
                <a:cs typeface="Trebuchet MS" pitchFamily="34" charset="-120"/>
              </a:rPr>
              <a:t>5 life events</a:t>
            </a:r>
            <a:endParaRPr lang="en-US" sz="2600" dirty="0"/>
          </a:p>
        </p:txBody>
      </p:sp>
      <p:sp>
        <p:nvSpPr>
          <p:cNvPr id="14" name="Text 12"/>
          <p:cNvSpPr/>
          <p:nvPr/>
        </p:nvSpPr>
        <p:spPr>
          <a:xfrm>
            <a:off x="8235696" y="2596896"/>
            <a:ext cx="2901696" cy="566928"/>
          </a:xfrm>
          <a:prstGeom prst="rect">
            <a:avLst/>
          </a:prstGeom>
          <a:noFill/>
          <a:ln/>
        </p:spPr>
        <p:txBody>
          <a:bodyPr wrap="square" rtlCol="0" anchor="t"/>
          <a:lstStyle/>
          <a:p>
            <a:pPr indent="0" marL="0">
              <a:lnSpc>
                <a:spcPct val="102000"/>
              </a:lnSpc>
              <a:buNone/>
            </a:pPr>
            <a:r>
              <a:rPr lang="en-US" sz="1100" dirty="0">
                <a:solidFill>
                  <a:srgbClr val="FFFFFF"/>
                </a:solidFill>
                <a:latin typeface="Calibri" pitchFamily="34" charset="0"/>
                <a:ea typeface="Calibri" pitchFamily="34" charset="-122"/>
                <a:cs typeface="Calibri" pitchFamily="34" charset="-120"/>
              </a:rPr>
              <a:t>moving, job loss, new business, disaster, bereavement — declarative</a:t>
            </a:r>
            <a:endParaRPr lang="en-US" sz="1100" dirty="0"/>
          </a:p>
        </p:txBody>
      </p:sp>
      <p:sp>
        <p:nvSpPr>
          <p:cNvPr id="15" name="Text 13"/>
          <p:cNvSpPr/>
          <p:nvPr/>
        </p:nvSpPr>
        <p:spPr>
          <a:xfrm>
            <a:off x="8217408" y="3118104"/>
            <a:ext cx="912571" cy="256032"/>
          </a:xfrm>
          <a:prstGeom prst="rect">
            <a:avLst>
              <a:gd name="adj" fmla="val 14286"/>
            </a:avLst>
          </a:prstGeom>
          <a:solidFill>
            <a:srgbClr val="37475A"/>
          </a:solidFill>
          <a:ln/>
        </p:spPr>
        <p:txBody>
          <a:bodyPr wrap="square" rtlCol="0" anchor="ctr"/>
          <a:lstStyle/>
          <a:p>
            <a:pPr algn="ctr" indent="0" marL="0">
              <a:buNone/>
            </a:pPr>
            <a:r>
              <a:rPr lang="en-US" sz="800" b="1" spc="30" kern="0" dirty="0">
                <a:solidFill>
                  <a:srgbClr val="FFFFFF"/>
                </a:solidFill>
                <a:latin typeface="Calibri" pitchFamily="34" charset="0"/>
                <a:ea typeface="Calibri" pitchFamily="34" charset="-122"/>
                <a:cs typeface="Calibri" pitchFamily="34" charset="-120"/>
              </a:rPr>
              <a:t>REFERENCE</a:t>
            </a:r>
            <a:endParaRPr lang="en-US" sz="800" dirty="0"/>
          </a:p>
        </p:txBody>
      </p:sp>
      <p:sp>
        <p:nvSpPr>
          <p:cNvPr id="16" name="Shape 14"/>
          <p:cNvSpPr/>
          <p:nvPr/>
        </p:nvSpPr>
        <p:spPr>
          <a:xfrm>
            <a:off x="822960" y="3730752"/>
            <a:ext cx="10515600" cy="841248"/>
          </a:xfrm>
          <a:prstGeom prst="roundRect">
            <a:avLst>
              <a:gd name="adj" fmla="val 6522"/>
            </a:avLst>
          </a:prstGeom>
          <a:solidFill>
            <a:srgbClr val="3A4B5F"/>
          </a:solidFill>
          <a:ln/>
        </p:spPr>
      </p:sp>
      <p:sp>
        <p:nvSpPr>
          <p:cNvPr id="17" name="Text 15"/>
          <p:cNvSpPr/>
          <p:nvPr/>
        </p:nvSpPr>
        <p:spPr>
          <a:xfrm>
            <a:off x="1005840" y="3776472"/>
            <a:ext cx="10149840" cy="749808"/>
          </a:xfrm>
          <a:prstGeom prst="rect">
            <a:avLst/>
          </a:prstGeom>
          <a:noFill/>
          <a:ln/>
        </p:spPr>
        <p:txBody>
          <a:bodyPr wrap="square" rtlCol="0" anchor="ctr"/>
          <a:lstStyle/>
          <a:p>
            <a:pPr indent="0" marL="0">
              <a:lnSpc>
                <a:spcPct val="105000"/>
              </a:lnSpc>
              <a:buNone/>
            </a:pPr>
            <a:r>
              <a:rPr lang="en-US" sz="1150" b="1" dirty="0">
                <a:solidFill>
                  <a:srgbClr val="FF9900"/>
                </a:solidFill>
                <a:latin typeface="Calibri" pitchFamily="34" charset="0"/>
                <a:ea typeface="Calibri" pitchFamily="34" charset="-122"/>
                <a:cs typeface="Calibri" pitchFamily="34" charset="-120"/>
              </a:rPr>
              <a:t>The executive case:  </a:t>
            </a:r>
            <a:pPr indent="0" marL="0">
              <a:lnSpc>
                <a:spcPct val="105000"/>
              </a:lnSpc>
              <a:buNone/>
            </a:pPr>
            <a:r>
              <a:rPr lang="en-US" sz="1150" dirty="0">
                <a:solidFill>
                  <a:srgbClr val="C9D3DC"/>
                </a:solidFill>
                <a:latin typeface="Calibri" pitchFamily="34" charset="0"/>
                <a:ea typeface="Calibri" pitchFamily="34" charset="-122"/>
                <a:cs typeface="Calibri" pitchFamily="34" charset="-120"/>
              </a:rPr>
              <a:t>Build the governance once and every future agent inherits identity, least privilege, canonical data, audit and human gates on day one. That's how a CIO escapes the pilot trap: not more pilots, but a paved road to funded, compliant production — and a resident experience that finally feels like one government.</a:t>
            </a:r>
            <a:endParaRPr lang="en-US" sz="1150" dirty="0"/>
          </a:p>
        </p:txBody>
      </p:sp>
      <p:sp>
        <p:nvSpPr>
          <p:cNvPr id="18" name="Text 16"/>
          <p:cNvSpPr/>
          <p:nvPr/>
        </p:nvSpPr>
        <p:spPr>
          <a:xfrm>
            <a:off x="822960" y="6437376"/>
            <a:ext cx="10515600" cy="365760"/>
          </a:xfrm>
          <a:prstGeom prst="rect">
            <a:avLst/>
          </a:prstGeom>
          <a:noFill/>
          <a:ln/>
        </p:spPr>
        <p:txBody>
          <a:bodyPr wrap="square" rtlCol="0" anchor="ctr"/>
          <a:lstStyle/>
          <a:p>
            <a:pPr indent="0" marL="0">
              <a:buNone/>
            </a:pPr>
            <a:r>
              <a:rPr lang="en-US" sz="830" i="1" dirty="0">
                <a:solidFill>
                  <a:srgbClr val="8FA1B3"/>
                </a:solidFill>
                <a:latin typeface="Calibri" pitchFamily="34" charset="0"/>
                <a:ea typeface="Calibri" pitchFamily="34" charset="-122"/>
                <a:cs typeface="Calibri" pitchFamily="34" charset="-120"/>
              </a:rPr>
              <a:t>Figures are documented outcomes from named deployments, labeled by evidence tier. Vendor-reported vs. government/peer-reviewed sourcing in DECK-SOURCES.md. Improvement applied to a reference agency — not a guarantee.</a:t>
            </a:r>
            <a:endParaRPr lang="en-US" sz="8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32F3E"/>
      </a:dk2>
      <a:lt2>
        <a:srgbClr val="E7E6E6"/>
      </a:lt2>
      <a:accent1>
        <a:srgbClr val="FF9900"/>
      </a:accent1>
      <a:accent2>
        <a:srgbClr val="232F3E"/>
      </a:accent2>
      <a:accent3>
        <a:srgbClr val="01A88D"/>
      </a:accent3>
      <a:accent4>
        <a:srgbClr val="8C4FFF"/>
      </a:accent4>
      <a:accent5>
        <a:srgbClr val="DD344C"/>
      </a:accent5>
      <a:accent6>
        <a:srgbClr val="ED7100"/>
      </a:accent6>
      <a:hlink>
        <a:srgbClr val="0563C1"/>
      </a:hlink>
      <a:folHlink>
        <a:srgbClr val="954F72"/>
      </a:folHlink>
    </a:clrScheme>
    <a:fontScheme name="Office">
      <a:majorFont>
        <a:latin typeface="Amazon Emb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mazon Emb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2026-06-25T01:03:03Z</dcterms:created>
  <dcterms:modified xsi:type="dcterms:W3CDTF">2026-06-25T01:03:03Z</dcterms:modified>
</cp:coreProperties>
</file>