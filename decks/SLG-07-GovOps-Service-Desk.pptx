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[~30 sec] This is the internal-operations agent — easy ROI because the 'customer' is your own staff and the data is less sensitive than citizen PII. Good early win for a CIO who wants a low-risk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[~60 sec] IBM AskIT's 75% self-resolution is the headline — it's vendor-reported but at real scale (133,000+ users, trained on ~300,000 tickets), so label it and use it. The peer-reviewed productivity figure should be cited as the QJE 2025 paper (+14% avg, +34% novice) — the NBER working paper isn't itself peer-reviewed, so attribute the label correctly. The GAO legacy numbers set up why this matters: $100B+ a year, ~80% just to operate aging systems.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[~50 sec] CIO: this is the 'free up scarce engineers' story, and it ties directly to the legacy-modernization budget trap. CISO: internal tooling, lower data sensitivity, but privileged actions are the risk — flag that we handle that at the gate. Architect: note the desk integrates with your ITSM and identity, not rip-and-replace.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The governance highlight here is concrete and provable: in our implementation a high-risk runbook returns BLOCKED_NEEDS_APPROVER because the desk role isn't entitled to run it — the agent literally cannot self-authorize a privileged change. Tests enforce this. That's the demo that wins a CISO: least privilege isn't a setting, it's behavior. Low-risk reversible actions are automated; everything privileged waits for an entitled human.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[~75 sec] Same backbone; for this agent stress least-privilege entitlements and the approver gate. Reuse the JWT walk-through and point out that the MCP gateway is exactly what enforces 'desk can answer, only an SRE can run the runbook.' WORM audit captures who approved each privileged 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[~55 sec] Lead with IBM's 75% (labeled vendor). Important correction baked into this slide: I reframed the ServiceNow number — there is no verifiable 'Now Assist MTTR' figure, so the slide cites ServiceNow ITSM AI/ML reducing MTTR &gt;10% from Microsoft's internal deployment. Don't say 'Now Assist' out loud. The +34% novice figure is your one peer-reviewed anchor here — use it to make the turnover/ramp argument. Close on the CIO line: deflecting routine tickets buys back the engineering hours that reduce the 80% legacy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463040"/>
            <a:ext cx="859536" cy="457200"/>
          </a:xfrm>
          <a:prstGeom prst="roundRect">
            <a:avLst>
              <a:gd name="adj" fmla="val 8000"/>
            </a:avLst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8595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18288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SLG AGENTIC AI REFERENCE LIBRARY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515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GovOps IT Service Desk Agent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1248" y="39776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 routine IT tickets and speed resolution — governed, on AWS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806440"/>
            <a:ext cx="292608" cy="54864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59436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</a:t>
            </a:r>
            <a:pPr indent="0" marL="0">
              <a:lnSpc>
                <a:spcPct val="110000"/>
              </a:lnSpc>
              <a:buNone/>
            </a:pP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Strategy &amp; Architecture Leader   ·   github.com/virtualryder/slg-ai-agents   ·   June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TICKET QUEUES TO 75% SELF-RESOLVED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41248" y="175564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GovOps IT Service Desk Agent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" y="2286000"/>
            <a:ext cx="10424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internal IT agent that answers common employee questions, resets and unblocks the routine cases, and prepares higher-risk runbooks for an engineer to execute — so staff get help instantly and engineers focus on real incidents. High-risk actions require an approver.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2296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07899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IT queries self-resolved by the assistant (IBM AskIT)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3484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3484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1" name="Text 9"/>
          <p:cNvSpPr/>
          <p:nvPr/>
        </p:nvSpPr>
        <p:spPr>
          <a:xfrm>
            <a:off x="466344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+14 / +34%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9087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productivity, avg / novice agents (Brynjolfsson et al., QJE 2025)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46720" y="3611880"/>
            <a:ext cx="3291840" cy="1874520"/>
          </a:xfrm>
          <a:prstGeom prst="roundRect">
            <a:avLst>
              <a:gd name="adj" fmla="val 3902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46720" y="3611880"/>
            <a:ext cx="109728" cy="187452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5" name="Text 13"/>
          <p:cNvSpPr/>
          <p:nvPr/>
        </p:nvSpPr>
        <p:spPr>
          <a:xfrm>
            <a:off x="8275320" y="3813048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02752" y="469087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federal IT spend; ~80% just to operate legacy systems (GAO)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6327648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David Ryder   ·   AI Strategy &amp; Architecture Leader   ·   github.com/virtualryder/slg-ai-agents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CUSTOMER &amp; THE PROBLEM TODAY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Engineers spend their day on password resets while real incidents wait.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they are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22960" y="2249424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IT and GovOps teams running internal service desks on top of aging systems, where ticket volume is high and skilled staff are scarce.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they live with today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493008"/>
            <a:ext cx="58521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share of tickets are routine, repetitive, and self-resolvable.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 systems consume the budget just to keep running.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to resolution drags as queues build.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engineers are pulled onto tier-1 work.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7040880" y="196596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148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OF THE STATUS QUO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69480" y="257860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$100B+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287768" y="309067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federal IT spend; ~80% on operations &amp; maintenance (GAO, 2025)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69480" y="362102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69480" y="367588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87768" y="418795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legacy systems flagged; most on outdated languages (GAO)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269480" y="4718304"/>
            <a:ext cx="3886200" cy="0"/>
          </a:xfrm>
          <a:prstGeom prst="line">
            <a:avLst/>
          </a:prstGeom>
          <a:noFill/>
          <a:ln w="12700">
            <a:solidFill>
              <a:srgbClr val="3747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4773168"/>
            <a:ext cx="3840480" cy="570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of 10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287768" y="5285232"/>
            <a:ext cx="3886200" cy="50474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flagged in 2019 actually modernized by 2025 (GAO)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GAO-25-107795, Jul 2025 (gov). See DECK-SOURCES.md.</a:t>
            </a:r>
            <a:endParaRPr lang="en-US" sz="8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WORKFLOW — GOVERNED, STEP BY STEP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2F3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Answer → resolve safe cases → prepare runbook → human-approve high-risk → log.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87552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87552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the question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87552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common how-do-I and status questions instantly.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87552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+ Guardrails</a:t>
            </a:r>
            <a:endParaRPr lang="en-US" sz="870" dirty="0"/>
          </a:p>
        </p:txBody>
      </p:sp>
      <p:sp>
        <p:nvSpPr>
          <p:cNvPr id="10" name="Text 8"/>
          <p:cNvSpPr/>
          <p:nvPr/>
        </p:nvSpPr>
        <p:spPr>
          <a:xfrm>
            <a:off x="270296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97728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4187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314187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14187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safe cases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4187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low-risk, reversible actions automatically.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14187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+ connectors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4857293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131613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96205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20" name="Text 18"/>
          <p:cNvSpPr/>
          <p:nvPr/>
        </p:nvSpPr>
        <p:spPr>
          <a:xfrm>
            <a:off x="5296205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6205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the runbook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296205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steps for a higher-risk change, ready to run.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296205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Bases</a:t>
            </a:r>
            <a:endParaRPr lang="en-US" sz="870" dirty="0"/>
          </a:p>
        </p:txBody>
      </p:sp>
      <p:sp>
        <p:nvSpPr>
          <p:cNvPr id="24" name="Text 22"/>
          <p:cNvSpPr/>
          <p:nvPr/>
        </p:nvSpPr>
        <p:spPr>
          <a:xfrm>
            <a:off x="7011619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285939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01A88D"/>
          </a:solidFill>
          <a:ln w="12700">
            <a:solidFill>
              <a:srgbClr val="0E7C6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50531" y="21031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450531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1A8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971739" y="2167128"/>
            <a:ext cx="112105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450531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 runs high-risk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450531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actions require an entitled human — the desk agent can't.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450531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6FB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waitForTaskToken</a:t>
            </a:r>
            <a:endParaRPr lang="en-US" sz="870" dirty="0"/>
          </a:p>
        </p:txBody>
      </p:sp>
      <p:sp>
        <p:nvSpPr>
          <p:cNvPr id="32" name="Text 30"/>
          <p:cNvSpPr/>
          <p:nvPr/>
        </p:nvSpPr>
        <p:spPr>
          <a:xfrm>
            <a:off x="9165946" y="3246120"/>
            <a:ext cx="292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9440266" y="1920240"/>
            <a:ext cx="1898294" cy="3017520"/>
          </a:xfrm>
          <a:prstGeom prst="roundRect">
            <a:avLst>
              <a:gd name="adj" fmla="val 3854"/>
            </a:avLst>
          </a:prstGeom>
          <a:solidFill>
            <a:srgbClr val="FFFFFF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4858" y="2103120"/>
            <a:ext cx="457200" cy="457200"/>
          </a:xfrm>
          <a:prstGeom prst="ellipse">
            <a:avLst/>
          </a:prstGeom>
          <a:solidFill>
            <a:srgbClr val="232F3E"/>
          </a:solidFill>
          <a:ln/>
        </p:spPr>
      </p:sp>
      <p:sp>
        <p:nvSpPr>
          <p:cNvPr id="35" name="Text 33"/>
          <p:cNvSpPr/>
          <p:nvPr/>
        </p:nvSpPr>
        <p:spPr>
          <a:xfrm>
            <a:off x="960485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604858" y="2670048"/>
            <a:ext cx="156911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&amp; audit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604858" y="3310128"/>
            <a:ext cx="156911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the request, action and approver to a WORM trail.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604858" y="4553712"/>
            <a:ext cx="156911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70" b="1" i="1" dirty="0">
                <a:solidFill>
                  <a:srgbClr val="ED7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 + CloudTrail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822960" y="5166360"/>
            <a:ext cx="10515600" cy="868680"/>
          </a:xfrm>
          <a:prstGeom prst="roundRect">
            <a:avLst>
              <a:gd name="adj" fmla="val 6316"/>
            </a:avLst>
          </a:prstGeom>
          <a:solidFill>
            <a:srgbClr val="EAEFF4"/>
          </a:solidFill>
          <a:ln w="12700">
            <a:solidFill>
              <a:srgbClr val="C9D3DC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05840" y="5358384"/>
            <a:ext cx="457200" cy="457200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41" name="Text 39"/>
          <p:cNvSpPr/>
          <p:nvPr/>
        </p:nvSpPr>
        <p:spPr>
          <a:xfrm>
            <a:off x="1005840" y="5358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600200" y="5230368"/>
            <a:ext cx="9601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withheld in code until a human approves.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Low-risk is automated; privileged change requires an entitled approver. The desk role can't self-authorize.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REFERENCE ARCHITECTURE — BUILT FOR A REGULATED ENVIRONMENT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9144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 service desk where high-risk runbooks return BLOCKED until an entitled human approves.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147EB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91640"/>
            <a:ext cx="310896" cy="310896"/>
          </a:xfrm>
          <a:prstGeom prst="ellipse">
            <a:avLst/>
          </a:prstGeom>
          <a:solidFill>
            <a:srgbClr val="147EBA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32688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 / Staff channel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32688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mobile · phone · kiosk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2150146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51314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DD344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42754" y="1691640"/>
            <a:ext cx="310896" cy="310896"/>
          </a:xfrm>
          <a:prstGeom prst="ellipse">
            <a:avLst/>
          </a:prstGeom>
          <a:solidFill>
            <a:srgbClr val="DD344C"/>
          </a:solidFill>
          <a:ln/>
        </p:spPr>
      </p:sp>
      <p:sp>
        <p:nvSpPr>
          <p:cNvPr id="12" name="Text 10"/>
          <p:cNvSpPr/>
          <p:nvPr/>
        </p:nvSpPr>
        <p:spPr>
          <a:xfrm>
            <a:off x="2442754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1042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protection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1042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 + Shield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678501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879669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8C4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71109" y="1691640"/>
            <a:ext cx="310896" cy="310896"/>
          </a:xfrm>
          <a:prstGeom prst="ellipse">
            <a:avLst/>
          </a:prstGeom>
          <a:solidFill>
            <a:srgbClr val="8C4FFF"/>
          </a:solidFill>
          <a:ln/>
        </p:spPr>
      </p:sp>
      <p:sp>
        <p:nvSpPr>
          <p:cNvPr id="18" name="Text 16"/>
          <p:cNvSpPr/>
          <p:nvPr/>
        </p:nvSpPr>
        <p:spPr>
          <a:xfrm>
            <a:off x="3971109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89397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— Cognito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89397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federation → JWT</a:t>
            </a:r>
            <a:endParaRPr lang="en-US" sz="860" dirty="0"/>
          </a:p>
        </p:txBody>
      </p:sp>
      <p:sp>
        <p:nvSpPr>
          <p:cNvPr id="21" name="Text 19"/>
          <p:cNvSpPr/>
          <p:nvPr/>
        </p:nvSpPr>
        <p:spPr>
          <a:xfrm>
            <a:off x="5206855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08023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9463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4" name="Text 22"/>
          <p:cNvSpPr/>
          <p:nvPr/>
        </p:nvSpPr>
        <p:spPr>
          <a:xfrm>
            <a:off x="5499463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517751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17751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authorizer</a:t>
            </a:r>
            <a:endParaRPr lang="en-US" sz="860" dirty="0"/>
          </a:p>
        </p:txBody>
      </p:sp>
      <p:sp>
        <p:nvSpPr>
          <p:cNvPr id="27" name="Text 25"/>
          <p:cNvSpPr/>
          <p:nvPr/>
        </p:nvSpPr>
        <p:spPr>
          <a:xfrm>
            <a:off x="6735209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936377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FF99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27817" y="1691640"/>
            <a:ext cx="310896" cy="310896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7027817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046105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gateway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46105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Deny-by-default · least privilege</a:t>
            </a:r>
            <a:endParaRPr lang="en-US" sz="860" dirty="0"/>
          </a:p>
        </p:txBody>
      </p:sp>
      <p:sp>
        <p:nvSpPr>
          <p:cNvPr id="33" name="Text 31"/>
          <p:cNvSpPr/>
          <p:nvPr/>
        </p:nvSpPr>
        <p:spPr>
          <a:xfrm>
            <a:off x="8263563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464731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01A88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556171" y="1691640"/>
            <a:ext cx="310896" cy="310896"/>
          </a:xfrm>
          <a:prstGeom prst="ellipse">
            <a:avLst/>
          </a:prstGeom>
          <a:solidFill>
            <a:srgbClr val="01A88D"/>
          </a:solidFill>
          <a:ln/>
        </p:spPr>
      </p:sp>
      <p:sp>
        <p:nvSpPr>
          <p:cNvPr id="36" name="Text 34"/>
          <p:cNvSpPr/>
          <p:nvPr/>
        </p:nvSpPr>
        <p:spPr>
          <a:xfrm>
            <a:off x="8556171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74459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— Bedrock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574459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 Strands/LangGraph</a:t>
            </a:r>
            <a:endParaRPr lang="en-US" sz="860" dirty="0"/>
          </a:p>
        </p:txBody>
      </p:sp>
      <p:sp>
        <p:nvSpPr>
          <p:cNvPr id="39" name="Text 37"/>
          <p:cNvSpPr/>
          <p:nvPr/>
        </p:nvSpPr>
        <p:spPr>
          <a:xfrm>
            <a:off x="9791918" y="2144268"/>
            <a:ext cx="2194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993086" y="1600200"/>
            <a:ext cx="1345474" cy="1417320"/>
          </a:xfrm>
          <a:prstGeom prst="roundRect">
            <a:avLst>
              <a:gd name="adj" fmla="val 4078"/>
            </a:avLst>
          </a:prstGeom>
          <a:solidFill>
            <a:srgbClr val="2C3B4E"/>
          </a:solidFill>
          <a:ln w="19050">
            <a:solidFill>
              <a:srgbClr val="7AA11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084526" y="1691640"/>
            <a:ext cx="310896" cy="310896"/>
          </a:xfrm>
          <a:prstGeom prst="ellipse">
            <a:avLst/>
          </a:prstGeom>
          <a:solidFill>
            <a:srgbClr val="7AA116"/>
          </a:solidFill>
          <a:ln/>
        </p:spPr>
      </p:sp>
      <p:sp>
        <p:nvSpPr>
          <p:cNvPr id="42" name="Text 40"/>
          <p:cNvSpPr/>
          <p:nvPr/>
        </p:nvSpPr>
        <p:spPr>
          <a:xfrm>
            <a:off x="10084526" y="16916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102814" y="2057400"/>
            <a:ext cx="112601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gate → action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0102814" y="2532888"/>
            <a:ext cx="1126018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Approve, then tools + data</a:t>
            </a:r>
            <a:endParaRPr lang="en-US" sz="860" dirty="0"/>
          </a:p>
        </p:txBody>
      </p:sp>
      <p:sp>
        <p:nvSpPr>
          <p:cNvPr id="45" name="Text 43"/>
          <p:cNvSpPr/>
          <p:nvPr/>
        </p:nvSpPr>
        <p:spPr>
          <a:xfrm>
            <a:off x="822960" y="3200400"/>
            <a:ext cx="10515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7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flow:  </a:t>
            </a:r>
            <a:pPr indent="0" marL="0">
              <a:lnSpc>
                <a:spcPct val="105000"/>
              </a:lnSpc>
              <a:buNone/>
            </a:pPr>
            <a:r>
              <a:rPr lang="en-US" sz="107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authenticates to the agency IdP, which Amazon Cognito federates into a signed JWT. API Gateway validates the JWT; the MCP gateway re-validates the custom:slg_role claim and issues a scoped, time-boxed token so the agent can call only the tools that role is entitled to (agent grant ∩ user entitlement). Bedrock Guardrails filter every prompt and response; the consequential action is held at the human gate. Every step writes to CloudTrail and a WORM (S3 Object Lock) audit log.</a:t>
            </a:r>
            <a:endParaRPr lang="en-US" sz="1070" dirty="0"/>
          </a:p>
        </p:txBody>
      </p:sp>
      <p:sp>
        <p:nvSpPr>
          <p:cNvPr id="46" name="Text 44"/>
          <p:cNvSpPr/>
          <p:nvPr/>
        </p:nvSpPr>
        <p:spPr>
          <a:xfrm>
            <a:off x="822960" y="38862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REGULATED-ENVIRONMENT CONTROLS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22960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48" name="Text 46"/>
          <p:cNvSpPr/>
          <p:nvPr/>
        </p:nvSpPr>
        <p:spPr>
          <a:xfrm>
            <a:off x="950976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least privilege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950976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+ custom:slg_role; deny-by-default MCP gateway; effective scope = agent grant ∩ user entitlement.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502152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1" name="Text 49"/>
          <p:cNvSpPr/>
          <p:nvPr/>
        </p:nvSpPr>
        <p:spPr>
          <a:xfrm>
            <a:off x="3630168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protection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3630168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masking before inference; KMS encryption; S3 Object Lock (WORM) audit; private VPC + Bedrock VPC endpoint.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6181344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guardrails &amp; HITL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309360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Guardrails; grounded, cited answers; consequential action withheld in code until a human approves.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8860536" y="4206240"/>
            <a:ext cx="2478024" cy="1325880"/>
          </a:xfrm>
          <a:prstGeom prst="roundRect">
            <a:avLst>
              <a:gd name="adj" fmla="val 4138"/>
            </a:avLst>
          </a:prstGeom>
          <a:solidFill>
            <a:srgbClr val="3A4B5F"/>
          </a:solidFill>
          <a:ln/>
        </p:spPr>
      </p:sp>
      <p:sp>
        <p:nvSpPr>
          <p:cNvPr id="57" name="Text 55"/>
          <p:cNvSpPr/>
          <p:nvPr/>
        </p:nvSpPr>
        <p:spPr>
          <a:xfrm>
            <a:off x="8988552" y="4315968"/>
            <a:ext cx="222199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posture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8988552" y="4754880"/>
            <a:ext cx="2221992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60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FedRAMP High + DoD IL-4/5 in GovCloud; CJIS / IRS-1075 alignment; CloudTrail; ADA WCAG 2.1 AA.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822960" y="5715000"/>
            <a:ext cx="10515600" cy="713232"/>
          </a:xfrm>
          <a:prstGeom prst="roundRect">
            <a:avLst>
              <a:gd name="adj" fmla="val 7692"/>
            </a:avLst>
          </a:prstGeom>
          <a:solidFill>
            <a:srgbClr val="2C3B4E"/>
          </a:solidFill>
          <a:ln w="12700">
            <a:solidFill>
              <a:srgbClr val="FF990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05840" y="5760720"/>
            <a:ext cx="101498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03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models:  </a:t>
            </a:r>
            <a:pPr indent="0" marL="0">
              <a:lnSpc>
                <a:spcPct val="102000"/>
              </a:lnSpc>
              <a:buNone/>
            </a:pPr>
            <a:r>
              <a:rPr lang="en-US" sz="103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(standalone) — each agent ships its own VPC, edge, Cognito, data and WORM audit stack, deployable by one CloudFormation/Terraform quickstart. Model B (+ Whole-of-Government) — adds shared canonical data, saga orchestration and a compliance event bus. GovCloud (US) uses the portable gateway path.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10515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GOOD LOOKS LIKE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877824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Instant help for staff; engineers back on the hard problems.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75%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04241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queries resolved by the assistant itself, IBM AskIT (133k+ users)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2412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441960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076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&gt;10%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63905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reduction with ServiceNow ITSM AI/ML (Microsoft internal)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20768" y="3118104"/>
            <a:ext cx="1362456" cy="256032"/>
          </a:xfrm>
          <a:prstGeom prst="rect">
            <a:avLst>
              <a:gd name="adj" fmla="val 14286"/>
            </a:avLst>
          </a:prstGeom>
          <a:solidFill>
            <a:srgbClr val="37475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VENDOR-REPORTED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8016240" y="1828800"/>
            <a:ext cx="3322320" cy="1600200"/>
          </a:xfrm>
          <a:prstGeom prst="roundRect">
            <a:avLst>
              <a:gd name="adj" fmla="val 4571"/>
            </a:avLst>
          </a:prstGeom>
          <a:solidFill>
            <a:srgbClr val="2C3B4E"/>
          </a:solidFill>
          <a:ln w="12700">
            <a:solidFill>
              <a:srgbClr val="3747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17408" y="1975104"/>
            <a:ext cx="295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99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+34%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8235696" y="2596896"/>
            <a:ext cx="290169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for novice agents with a gen-AI copilot (QJE 2025)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17408" y="3118104"/>
            <a:ext cx="1212494" cy="256032"/>
          </a:xfrm>
          <a:prstGeom prst="rect">
            <a:avLst>
              <a:gd name="adj" fmla="val 14286"/>
            </a:avLst>
          </a:prstGeom>
          <a:solidFill>
            <a:srgbClr val="0E7C6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822960" y="3730752"/>
            <a:ext cx="10515600" cy="841248"/>
          </a:xfrm>
          <a:prstGeom prst="roundRect">
            <a:avLst>
              <a:gd name="adj" fmla="val 6522"/>
            </a:avLst>
          </a:prstGeom>
          <a:solidFill>
            <a:srgbClr val="3A4B5F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776472"/>
            <a:ext cx="10149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executive case:  </a:t>
            </a:r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9D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Deflecting the routine three-quarters of tickets returns skilled engineering hours to incidents and modernization — the work that actually reduces the 80% legacy-operations tax. The newest staff get the biggest boost, shortening ramp and cutting turnover cost.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6437376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30" i="1" dirty="0">
                <a:solidFill>
                  <a:srgbClr val="8FA1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are documented outcomes from named deployments, labeled by evidence tier. Vendor-reported vs. government/peer-reviewed sourcing in DECK-SOURCES.md. Improvement applied to a reference agency — not a guarantee.</a:t>
            </a:r>
            <a:endParaRPr lang="en-US" sz="8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rebuchet M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2026-06-25T00:54:05Z</dcterms:created>
  <dcterms:modified xsi:type="dcterms:W3CDTF">2026-06-25T00:54:05Z</dcterms:modified>
</cp:coreProperties>
</file>