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~1.5 min.
SHOW: title and your name.
SAY: 'Government IT runs on legacy systems and a shrinking bench. Position this as Tier-1 relief that respects production safety.'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~2.5 min.
SHOW: the $8 A TICKET → 10 CENTS headline and three stat cards.
SAY: 'Gartner: about $8 live versus a dime self-service, and only 9% of people fully self-resolve today — huge headroom. The peer-reviewed NBER study found a gen-AI copilot lifted agent productivity 14% on average and 34% for novices — exactly the under-trained government workforce.'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 min.
SHOW: situation, need, constraint bar.
SAY: 'The constraint sets up the standout control — no destructive action without approval; run_runbook is high-risk and an analyst alone can't execute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~3.5 min.
SHOW: the pipeline; green gate enforces the SRE on runbooks; trust cards.
SAY: 'The governance moment: runbook execution requires an SRE-entitled approver — the least-privilege intersection visibly blocking an under-entitled actor.'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~4.5 min.
SHOW: the architecture diagram; Systems Manager + Security Hub/GuardDuty.
SAY: 'Note Systems Manager for approved operations and Security Hub and GuardDuty as evidence sources.'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TIMING ~4 min.
SHOW: outcomes band, cards, takeaway.
SAY: 'Vendor-reported plus peer-reviewed: IBM's AskIT self-resolves 75% of IT queries; ServiceNow reports 50 to 70% lower MTTR; NBER's +34% novice productivity is peer-reviewed; Gartner's about 80x self-service cost gap.'
TRADEOFF TALK TRACK: (1) runbooks gated to an SRE — a second approver on risky changes, so no unreviewed production action; (2) grounded answers over an ungoverned copilot — limited to approved runbooks, but no fabricated steps and full audit; (3) human approval on remediation — lower incident automation, but change-control and least-privilege preserved. CLOSE: 'Deflect the routine, gate the dangerous — productivity without handing AI the keys to production.'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E4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2011680"/>
            <a:ext cx="5669280" cy="566928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3" name="Shape 1"/>
          <p:cNvSpPr/>
          <p:nvPr/>
        </p:nvSpPr>
        <p:spPr>
          <a:xfrm>
            <a:off x="10424160" y="4206240"/>
            <a:ext cx="3291840" cy="3291840"/>
          </a:xfrm>
          <a:prstGeom prst="ellipse">
            <a:avLst/>
          </a:prstGeom>
          <a:solidFill>
            <a:srgbClr val="2A376E"/>
          </a:solidFill>
          <a:ln/>
        </p:spPr>
      </p:sp>
      <p:sp>
        <p:nvSpPr>
          <p:cNvPr id="4" name="Text 2"/>
          <p:cNvSpPr/>
          <p:nvPr/>
        </p:nvSpPr>
        <p:spPr>
          <a:xfrm>
            <a:off x="777240" y="182880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E8BC0"/>
                </a:solidFill>
              </a:rPr>
              <a:t>SLG AI AGENT SUITE  ·  BUILT ON AWS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77240" y="2286000"/>
            <a:ext cx="106070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GovOps IT Service Desk &amp; Modernization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77240" y="3886200"/>
            <a:ext cx="102412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governed agent that answers IT questions, diagnoses incidents, creates and routes tickets and proposes remediation — while destructive runbooks require an SRE-entitled approver.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David Ryder   ·   AI Strategy &amp; Architecture Leader   ·   github.com/virtualryder/slg-ai-agents   ·   June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spc="100" kern="0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$8 A TICKET TO 10 CENTS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77240" y="10972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GovOps IT Service Desk &amp; Modernization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777240" y="196596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dirty="0">
                <a:solidFill>
                  <a:srgbClr val="CADCFC"/>
                </a:solidFill>
              </a:rPr>
              <a:t>Aging systems, workforce shortages and high Tier-1 volume. A governed copilot deflects routine requests and lifts agent productivity — while destructive ops stay gated to an SRE.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772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~$8.01 → $0.10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058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cost of a live support contact vs. a self-service interaction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601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Gartner, 2019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4348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4348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+14% / +34%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6634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support-agent productivity from a genAI copilot — avg / for novice agents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6177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NBER w31161 (2023)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8092440" y="3246120"/>
            <a:ext cx="3383280" cy="2286000"/>
          </a:xfrm>
          <a:prstGeom prst="roundRect">
            <a:avLst>
              <a:gd name="adj" fmla="val 2400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092440" y="3474720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9%</a:t>
            </a:r>
            <a:endParaRPr lang="en-US" sz="3800" dirty="0"/>
          </a:p>
        </p:txBody>
      </p:sp>
      <p:sp>
        <p:nvSpPr>
          <p:cNvPr id="15" name="Text 13"/>
          <p:cNvSpPr/>
          <p:nvPr/>
        </p:nvSpPr>
        <p:spPr>
          <a:xfrm>
            <a:off x="8321040" y="4370832"/>
            <a:ext cx="29260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ADCFC"/>
                </a:solidFill>
              </a:rPr>
              <a:t>of customers fully resolve their issue through self-service today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75320" y="513892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9FB0E0"/>
                </a:solidFill>
              </a:rPr>
              <a:t>Gartner, 2019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77240" y="6126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0E0"/>
                </a:solidFill>
              </a:rPr>
              <a:t>David Ryder   ·   AI Strategy &amp; Architecture Leader   ·   github.com/virtualryder/slg-ai-agents   ·   June 2026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THE CUSTOMER &amp; THE PROBLEM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Legacy systems, shortages, and Tier-1 volume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486400" cy="3611880"/>
          </a:xfrm>
          <a:prstGeom prst="roundRect">
            <a:avLst>
              <a:gd name="adj" fmla="val 151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78308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THE SITUATION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2148840"/>
            <a:ext cx="5029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Aging systems, retirements, and scarce specialized skills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Help desk swamped with routine, repetitive requests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Undocumented apps slow every incident and migration</a:t>
            </a:r>
            <a:endParaRPr lang="en-US" sz="12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B2440"/>
                </a:solidFill>
              </a:rPr>
              <a:t>Modernization backlogs grow faster than capacity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355080" y="1600200"/>
            <a:ext cx="5166360" cy="3611880"/>
          </a:xfrm>
          <a:prstGeom prst="roundRect">
            <a:avLst>
              <a:gd name="adj" fmla="val 151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17830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E2761"/>
                </a:solidFill>
              </a:rPr>
              <a:t>WHAT THEY NEED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0" y="2194560"/>
            <a:ext cx="475488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Business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deflect Tier-1 volume, cut mean-time-to-resolution, and lift agent productivity without hiring.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Technical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answer from grounded runbooks, diagnose, create/route tickets, and propose remediation.</a:t>
            </a:r>
            <a:endParaRPr lang="en-US" sz="1250" dirty="0"/>
          </a:p>
          <a:p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b="1" dirty="0">
                <a:solidFill>
                  <a:srgbClr val="2E8BC0"/>
                </a:solidFill>
              </a:rPr>
              <a:t>Regulatory  </a:t>
            </a:r>
            <a:pPr indent="0" marL="0">
              <a:lnSpc>
                <a:spcPct val="10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1B2440"/>
                </a:solidFill>
              </a:rPr>
              <a:t>change control and least-privilege ops — no destructive action without policy checks and approval.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5349240"/>
            <a:ext cx="10881360" cy="960120"/>
          </a:xfrm>
          <a:prstGeom prst="roundRect">
            <a:avLst>
              <a:gd name="adj" fmla="val 5714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914400" y="544068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The design constraint that shaped everything:  </a:t>
            </a:r>
            <a:pPr indent="0" marL="0">
              <a:buNone/>
            </a:pPr>
            <a:r>
              <a:rPr lang="en-US" sz="1350" i="1" dirty="0">
                <a:solidFill>
                  <a:srgbClr val="CADCFC"/>
                </a:solidFill>
              </a:rPr>
              <a:t>The agent never disables accounts, alters firewall rules, or remediates production without approval; runbooks require an SRE-entitled approver.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E8BC0"/>
                </a:solidFill>
              </a:rPr>
              <a:t>THE SOLUTION — GOVERNED WORKFLOW, HUMAN DECISIONS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 → diagnose → ticket → propose remediation; destructive ops gated to an SRE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229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046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Intake &amp; classify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46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support / incident / runbook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49174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67462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1" name="Text 9"/>
          <p:cNvSpPr/>
          <p:nvPr/>
        </p:nvSpPr>
        <p:spPr>
          <a:xfrm>
            <a:off x="267462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65633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65633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grounded KB + ticket context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34340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2628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16" name="Text 14"/>
          <p:cNvSpPr/>
          <p:nvPr/>
        </p:nvSpPr>
        <p:spPr>
          <a:xfrm>
            <a:off x="452628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450799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 / propose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0799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create ticket · propose runbook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506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37794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21" name="Text 19"/>
          <p:cNvSpPr/>
          <p:nvPr/>
        </p:nvSpPr>
        <p:spPr>
          <a:xfrm>
            <a:off x="637794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35965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35965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change-control · least privilege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04672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2F8F5B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8229600" y="173736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822960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F8F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821131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HUMAN GATE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21131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ADCFC"/>
                </a:solidFill>
              </a:rPr>
              <a:t>analyst / SRE approves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9898380" y="1554480"/>
            <a:ext cx="1623060" cy="1554480"/>
          </a:xfrm>
          <a:prstGeom prst="roundRect">
            <a:avLst>
              <a:gd name="adj" fmla="val 3529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10081260" y="1737360"/>
            <a:ext cx="384048" cy="384048"/>
          </a:xfrm>
          <a:prstGeom prst="ellipse">
            <a:avLst/>
          </a:prstGeom>
          <a:solidFill>
            <a:srgbClr val="2E8BC0"/>
          </a:solidFill>
          <a:ln/>
        </p:spPr>
      </p:sp>
      <p:sp>
        <p:nvSpPr>
          <p:cNvPr id="33" name="Text 31"/>
          <p:cNvSpPr/>
          <p:nvPr/>
        </p:nvSpPr>
        <p:spPr>
          <a:xfrm>
            <a:off x="10081260" y="17373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0062972" y="2212848"/>
            <a:ext cx="129387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Execute &amp; audit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062972" y="2670048"/>
            <a:ext cx="129387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488"/>
                </a:solidFill>
              </a:rPr>
              <a:t>change record · WORM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40080" y="324612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88"/>
                </a:solidFill>
              </a:rPr>
              <a:t>EVIDENCE ASSEMBLY — automated (Bedrock Claude + governed MCP tool calls)   ·   then a framework-enforced human gate (interrupt_before)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64008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86868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Destructive ops gated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86868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run_runbook is high-risk; an IT analyst alone cannot execute it — an SRE-entitled approver is required (least-privilege intersection).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34340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457200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Grounded answers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457200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Support answers cite approved runbooks; no fabricated steps reach a user.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8046720" y="3749040"/>
            <a:ext cx="3474720" cy="2194560"/>
          </a:xfrm>
          <a:prstGeom prst="roundRect">
            <a:avLst>
              <a:gd name="adj" fmla="val 2500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8275320" y="393192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change logged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275320" y="4572000"/>
            <a:ext cx="3063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440"/>
                </a:solidFill>
              </a:rPr>
              <a:t>Tickets, runbooks and approvals land in a change record + audit trail.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AWS ARCHITECTURE &amp; TRAFFIC FLOW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11338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GovOps IT Service Desk &amp; Modernization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57200" y="950976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FBF3D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950976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6B12"/>
                </a:solidFill>
              </a:rPr>
              <a:t>DEPLOYMENT MODEL:  </a:t>
            </a:r>
            <a:pPr indent="0" marL="0">
              <a:buNone/>
            </a:pPr>
            <a:r>
              <a:rPr lang="en-US" sz="900" dirty="0">
                <a:solidFill>
                  <a:srgbClr val="5B4708"/>
                </a:solidFill>
              </a:rPr>
              <a:t>STANDALONE-DEPLOYABLE — own VPC · CloudFront + WAF edge · KMS · WORM audit · gateway · human gate. No WoG dependency; the Whole-of-Government platform is optional and additive.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457200" y="1444752"/>
            <a:ext cx="1993392" cy="3310128"/>
          </a:xfrm>
          <a:prstGeom prst="roundRect">
            <a:avLst>
              <a:gd name="adj" fmla="val 2294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1499616"/>
            <a:ext cx="177393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EXTERNAL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66928" y="1755648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21792" y="1755648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Residents / agency staff</a:t>
            </a:r>
            <a:endParaRPr lang="en-US" sz="880" dirty="0"/>
          </a:p>
        </p:txBody>
      </p:sp>
      <p:sp>
        <p:nvSpPr>
          <p:cNvPr id="10" name="Shape 8"/>
          <p:cNvSpPr/>
          <p:nvPr/>
        </p:nvSpPr>
        <p:spPr>
          <a:xfrm>
            <a:off x="566928" y="2340864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36406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21792" y="2340864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IdP — SAML/OIDC · MFA</a:t>
            </a:r>
            <a:endParaRPr lang="en-US" sz="880" dirty="0"/>
          </a:p>
        </p:txBody>
      </p:sp>
      <p:sp>
        <p:nvSpPr>
          <p:cNvPr id="12" name="Shape 10"/>
          <p:cNvSpPr/>
          <p:nvPr/>
        </p:nvSpPr>
        <p:spPr>
          <a:xfrm>
            <a:off x="566928" y="3108960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21792" y="3108960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Agency systems (on-prem)</a:t>
            </a:r>
            <a:endParaRPr lang="en-US" sz="880" dirty="0"/>
          </a:p>
        </p:txBody>
      </p:sp>
      <p:sp>
        <p:nvSpPr>
          <p:cNvPr id="14" name="Shape 12"/>
          <p:cNvSpPr/>
          <p:nvPr/>
        </p:nvSpPr>
        <p:spPr>
          <a:xfrm>
            <a:off x="566928" y="3694176"/>
            <a:ext cx="1773936" cy="512064"/>
          </a:xfrm>
          <a:prstGeom prst="roundRect">
            <a:avLst>
              <a:gd name="adj" fmla="val 7143"/>
            </a:avLst>
          </a:prstGeom>
          <a:solidFill>
            <a:srgbClr val="4A5687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" y="3694176"/>
            <a:ext cx="166420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External data sources</a:t>
            </a:r>
            <a:endParaRPr lang="en-US" sz="880" dirty="0"/>
          </a:p>
        </p:txBody>
      </p:sp>
      <p:sp>
        <p:nvSpPr>
          <p:cNvPr id="16" name="Text 14"/>
          <p:cNvSpPr/>
          <p:nvPr/>
        </p:nvSpPr>
        <p:spPr>
          <a:xfrm>
            <a:off x="566928" y="4334256"/>
            <a:ext cx="17739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5B6488"/>
                </a:solidFill>
              </a:rPr>
              <a:t>PrivateLink / Direct Connect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615184" y="1444752"/>
            <a:ext cx="9116568" cy="3310128"/>
          </a:xfrm>
          <a:prstGeom prst="roundRect">
            <a:avLst>
              <a:gd name="adj" fmla="val 1381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724912" y="1499616"/>
            <a:ext cx="88971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AWS CLOUD — per-customer VPC / dedicated account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2743200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852928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EDGE / PUBLIC SUBNET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2852928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2907792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CloudFront + WAF + Shield (TLS 1.2+)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2761488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24" name="Text 22"/>
          <p:cNvSpPr/>
          <p:nvPr/>
        </p:nvSpPr>
        <p:spPr>
          <a:xfrm>
            <a:off x="2761488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852928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2907792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API Gateway / ALB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2852928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2907792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Cognito — SAML → JWT</a:t>
            </a:r>
            <a:endParaRPr lang="en-US" sz="880" dirty="0"/>
          </a:p>
        </p:txBody>
      </p:sp>
      <p:sp>
        <p:nvSpPr>
          <p:cNvPr id="29" name="Shape 27"/>
          <p:cNvSpPr/>
          <p:nvPr/>
        </p:nvSpPr>
        <p:spPr>
          <a:xfrm>
            <a:off x="2761488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0" name="Text 28"/>
          <p:cNvSpPr/>
          <p:nvPr/>
        </p:nvSpPr>
        <p:spPr>
          <a:xfrm>
            <a:off x="2761488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358384" y="1773936"/>
            <a:ext cx="2505456" cy="2852928"/>
          </a:xfrm>
          <a:prstGeom prst="roundRect">
            <a:avLst>
              <a:gd name="adj" fmla="val 1825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68112" y="1828800"/>
            <a:ext cx="22860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PRIVATE SUBNET — COMPUTE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5468112" y="2066544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5522976" y="2066544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Agent runtime — Step Functions + Lambda</a:t>
            </a:r>
            <a:endParaRPr lang="en-US" sz="880" dirty="0"/>
          </a:p>
        </p:txBody>
      </p:sp>
      <p:sp>
        <p:nvSpPr>
          <p:cNvPr id="35" name="Shape 33"/>
          <p:cNvSpPr/>
          <p:nvPr/>
        </p:nvSpPr>
        <p:spPr>
          <a:xfrm>
            <a:off x="5376672" y="19933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36" name="Text 34"/>
          <p:cNvSpPr/>
          <p:nvPr/>
        </p:nvSpPr>
        <p:spPr>
          <a:xfrm>
            <a:off x="5376672" y="19933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468112" y="2724912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38" name="Text 36"/>
          <p:cNvSpPr/>
          <p:nvPr/>
        </p:nvSpPr>
        <p:spPr>
          <a:xfrm>
            <a:off x="5522976" y="2724912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MCP authorization gateway</a:t>
            </a:r>
            <a:endParaRPr lang="en-US" sz="880" dirty="0"/>
          </a:p>
        </p:txBody>
      </p:sp>
      <p:sp>
        <p:nvSpPr>
          <p:cNvPr id="39" name="Shape 37"/>
          <p:cNvSpPr/>
          <p:nvPr/>
        </p:nvSpPr>
        <p:spPr>
          <a:xfrm>
            <a:off x="5376672" y="2651760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26517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68112" y="3383280"/>
            <a:ext cx="2286000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5522976" y="3383280"/>
            <a:ext cx="21762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SQS queue + DLQ · HITL gate</a:t>
            </a:r>
            <a:endParaRPr lang="en-US" sz="880" dirty="0"/>
          </a:p>
        </p:txBody>
      </p:sp>
      <p:sp>
        <p:nvSpPr>
          <p:cNvPr id="43" name="Shape 41"/>
          <p:cNvSpPr/>
          <p:nvPr/>
        </p:nvSpPr>
        <p:spPr>
          <a:xfrm>
            <a:off x="5376672" y="331012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44" name="Text 42"/>
          <p:cNvSpPr/>
          <p:nvPr/>
        </p:nvSpPr>
        <p:spPr>
          <a:xfrm>
            <a:off x="5376672" y="331012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7973568" y="1773936"/>
            <a:ext cx="3657600" cy="2852928"/>
          </a:xfrm>
          <a:prstGeom prst="roundRect">
            <a:avLst>
              <a:gd name="adj" fmla="val 1603"/>
            </a:avLst>
          </a:prstGeom>
          <a:solidFill>
            <a:srgbClr val="F4F7FE"/>
          </a:solidFill>
          <a:ln w="12700">
            <a:solidFill>
              <a:srgbClr val="C2D0E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083296" y="1819656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MODEL LAYER — VPC ENDPOINT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8092440" y="2048256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8147304" y="2048256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Amazon Bedrock — Claude Sonnet + Haiku</a:t>
            </a:r>
            <a:endParaRPr lang="en-US" sz="880" dirty="0"/>
          </a:p>
        </p:txBody>
      </p:sp>
      <p:sp>
        <p:nvSpPr>
          <p:cNvPr id="49" name="Shape 47"/>
          <p:cNvSpPr/>
          <p:nvPr/>
        </p:nvSpPr>
        <p:spPr>
          <a:xfrm>
            <a:off x="8001000" y="1975104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0" name="Text 48"/>
          <p:cNvSpPr/>
          <p:nvPr/>
        </p:nvSpPr>
        <p:spPr>
          <a:xfrm>
            <a:off x="8001000" y="197510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092440" y="2633472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8147304" y="2633472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Bedrock Guardrails — PII &amp; content (mandatory)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8083296" y="3218688"/>
            <a:ext cx="34198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1E2761"/>
                </a:solidFill>
              </a:rPr>
              <a:t>DATA TIER — KMS CMK per data class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8092440" y="3438144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5" name="Text 53"/>
          <p:cNvSpPr/>
          <p:nvPr/>
        </p:nvSpPr>
        <p:spPr>
          <a:xfrm>
            <a:off x="8147304" y="3438144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DynamoDB — append-only audit</a:t>
            </a:r>
            <a:endParaRPr lang="en-US" sz="880" dirty="0"/>
          </a:p>
        </p:txBody>
      </p:sp>
      <p:sp>
        <p:nvSpPr>
          <p:cNvPr id="56" name="Shape 54"/>
          <p:cNvSpPr/>
          <p:nvPr/>
        </p:nvSpPr>
        <p:spPr>
          <a:xfrm>
            <a:off x="8001000" y="3364992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57" name="Text 55"/>
          <p:cNvSpPr/>
          <p:nvPr/>
        </p:nvSpPr>
        <p:spPr>
          <a:xfrm>
            <a:off x="8001000" y="336499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8092440" y="4023360"/>
            <a:ext cx="3419856" cy="512064"/>
          </a:xfrm>
          <a:prstGeom prst="roundRect">
            <a:avLst>
              <a:gd name="adj" fmla="val 7143"/>
            </a:avLst>
          </a:prstGeom>
          <a:solidFill>
            <a:srgbClr val="2A376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9" name="Text 57"/>
          <p:cNvSpPr/>
          <p:nvPr/>
        </p:nvSpPr>
        <p:spPr>
          <a:xfrm>
            <a:off x="8147304" y="4023360"/>
            <a:ext cx="3310128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dirty="0">
                <a:solidFill>
                  <a:srgbClr val="FFFFFF"/>
                </a:solidFill>
              </a:rPr>
              <a:t>S3 Object Lock (WORM) · state · Secrets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8001000" y="3950208"/>
            <a:ext cx="274320" cy="274320"/>
          </a:xfrm>
          <a:prstGeom prst="ellipse">
            <a:avLst/>
          </a:prstGeom>
          <a:solidFill>
            <a:srgbClr val="E0A53B"/>
          </a:solidFill>
          <a:ln/>
        </p:spPr>
      </p:sp>
      <p:sp>
        <p:nvSpPr>
          <p:cNvPr id="61" name="Text 59"/>
          <p:cNvSpPr/>
          <p:nvPr/>
        </p:nvSpPr>
        <p:spPr>
          <a:xfrm>
            <a:off x="8001000" y="395020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2A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2340864" y="3520440"/>
            <a:ext cx="402336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138928" y="2322576"/>
            <a:ext cx="329184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754112" y="2304288"/>
            <a:ext cx="338328" cy="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611112" y="3383280"/>
            <a:ext cx="0" cy="228600"/>
          </a:xfrm>
          <a:prstGeom prst="line">
            <a:avLst/>
          </a:prstGeom>
          <a:noFill/>
          <a:ln w="19050">
            <a:solidFill>
              <a:srgbClr val="8FA0C8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457200" y="4828032"/>
            <a:ext cx="11274552" cy="365760"/>
          </a:xfrm>
          <a:prstGeom prst="roundRect">
            <a:avLst>
              <a:gd name="adj" fmla="val 10000"/>
            </a:avLst>
          </a:prstGeom>
          <a:solidFill>
            <a:srgbClr val="EEF2FB"/>
          </a:solidFill>
          <a:ln/>
        </p:spPr>
      </p:sp>
      <p:sp>
        <p:nvSpPr>
          <p:cNvPr id="67" name="Text 65"/>
          <p:cNvSpPr/>
          <p:nvPr/>
        </p:nvSpPr>
        <p:spPr>
          <a:xfrm>
            <a:off x="640080" y="482803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0" b="1" dirty="0">
                <a:solidFill>
                  <a:srgbClr val="1E2761"/>
                </a:solidFill>
              </a:rPr>
              <a:t>SECURITY &amp; OPS:  </a:t>
            </a:r>
            <a:pPr indent="0" marL="0">
              <a:buNone/>
            </a:pPr>
            <a:r>
              <a:rPr lang="en-US" sz="930" dirty="0">
                <a:solidFill>
                  <a:srgbClr val="1B2440"/>
                </a:solidFill>
              </a:rPr>
              <a:t>KMS (CMK per data class) · IAM least-privilege · CloudWatch · CloudTrail · X-Ray · GuardDuty · Security Hub + Config · data-class isolation (CJI/FTI/PHI/EDU/public)</a:t>
            </a:r>
            <a:endParaRPr lang="en-US" sz="930" dirty="0"/>
          </a:p>
        </p:txBody>
      </p:sp>
      <p:sp>
        <p:nvSpPr>
          <p:cNvPr id="68" name="Text 66"/>
          <p:cNvSpPr/>
          <p:nvPr/>
        </p:nvSpPr>
        <p:spPr>
          <a:xfrm>
            <a:off x="457200" y="5303520"/>
            <a:ext cx="3657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BC0"/>
                </a:solidFill>
              </a:rPr>
              <a:t>TRAFFIC FLOW</a:t>
            </a:r>
            <a:endParaRPr lang="en-US" sz="1100" dirty="0"/>
          </a:p>
        </p:txBody>
      </p:sp>
      <p:sp>
        <p:nvSpPr>
          <p:cNvPr id="69" name="Text 67"/>
          <p:cNvSpPr/>
          <p:nvPr/>
        </p:nvSpPr>
        <p:spPr>
          <a:xfrm>
            <a:off x="457200" y="5541264"/>
            <a:ext cx="562356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1  Resident/staff sign in at the agency IdP (SAML/OIDC, MFA). Amazon Cognito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2  CloudFront + AWS WAF inspect, filter and rate-limit the request; API Gatew…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3  The MCP gateway re-validates the JWT and its custom:slg_role claim and aut…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4  For each authorized call the gateway mints a short-lived, tool-scoped toke…</a:t>
            </a:r>
            <a:endParaRPr lang="en-US" sz="930" dirty="0"/>
          </a:p>
        </p:txBody>
      </p:sp>
      <p:sp>
        <p:nvSpPr>
          <p:cNvPr id="70" name="Text 68"/>
          <p:cNvSpPr/>
          <p:nvPr/>
        </p:nvSpPr>
        <p:spPr>
          <a:xfrm>
            <a:off x="6172200" y="5541264"/>
            <a:ext cx="557784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5  Model calls stay inside AWS via a Bedrock VPC endpoint; Guardrails filter 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6  Workflow pauses at the human-review gate (Step Functions waitForTaskToken)…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7  On approval the action commits; case state, append-only audit and finalize…</a:t>
            </a:r>
            <a:endParaRPr lang="en-US" sz="93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30" dirty="0">
                <a:solidFill>
                  <a:srgbClr val="1B2440"/>
                </a:solidFill>
              </a:rPr>
              <a:t>8  Every step — node, timestamp, JWT subject/actor, data sources, model versi…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E8BC0"/>
                </a:solidFill>
              </a:rPr>
              <a:t>TRADEOFFS, RESULTS &amp; WHAT'S NEXT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B24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delivers — and what it honestly is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828800"/>
          </a:xfrm>
          <a:prstGeom prst="roundRect">
            <a:avLst>
              <a:gd name="adj" fmla="val 3000"/>
            </a:avLst>
          </a:prstGeom>
          <a:solidFill>
            <a:srgbClr val="1E2761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1691640"/>
            <a:ext cx="10424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ADCFC"/>
                </a:solidFill>
              </a:rPr>
              <a:t>MEASURED OUTCOMES — documented results from named deployments &amp; published benchmarks (vendor-reported where noted)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68680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75%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68680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IT queries self-resolved (IBM AskIT)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3538728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−50–70%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3538728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MTTR, tier-1/2 (ServiceNow)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208776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+34%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6208776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novice-agent productivity (NBER)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878824" y="205740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E0A5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~80×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8878824" y="283464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CADCFC"/>
                </a:solidFill>
              </a:rPr>
              <a:t>cheaper per self-service contact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4008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4F7FE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DELIBERATE TRADEOFFS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1440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Runbook execution gated to an SRE over self-service remediation — an analyst alone can't run destructive ops. Cost: a second approver on risky changes; payoff: no unreviewed production action.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Grounded answers (Amazon Q / Bedrock) over an ungoverned copilot. Cost: answers limited to approved runbooks; payoff: no fabricated steps reach a user, full audit.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Human approval on remediation over full auto-remediation. Cost: lower automation on incidents; payoff: change-control and least-privilege preserved.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172200" y="3611880"/>
            <a:ext cx="5349240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00800" y="3767328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E2761"/>
                </a:solidFill>
              </a:rPr>
              <a:t>WHAT'S NEXT (V2)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46520" y="4114800"/>
            <a:ext cx="49377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Amazon Q Developer for legacy-code explanation + modernization backlogs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Approved Systems Manager automations behind the SRE gate</a:t>
            </a:r>
            <a:endParaRPr lang="en-US" sz="11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1B2440"/>
                </a:solidFill>
              </a:rPr>
              <a:t>Live ServiceNow connectors; eval harness for answer quality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" y="5806440"/>
            <a:ext cx="10881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</a:rPr>
              <a:t>The takeaway:  </a:t>
            </a:r>
            <a:pPr indent="0" marL="0">
              <a:buNone/>
            </a:pPr>
            <a:r>
              <a:rPr lang="en-US" sz="1250" i="1" dirty="0">
                <a:solidFill>
                  <a:srgbClr val="1B2440"/>
                </a:solidFill>
              </a:rPr>
              <a:t>deflect the routine, gate the dangerous — productivity gains without handing AI the keys to production.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6355080"/>
            <a:ext cx="11155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5B6488"/>
                </a:solidFill>
              </a:rPr>
              <a:t>Sources: IBM AskIT case study — vendor-reported (75% deflection)  ·  ServiceNow Now Assist — vendor-reported (−50–70% MTTR)  ·  NBER w31161 (2023, peer-reviewed)  ·  Gartner 2019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GovOps IT Service Desk &amp; Modernization</dc:title>
  <dc:subject>PptxGenJS Presentation</dc:subject>
  <dc:creator>David Ryder</dc:creator>
  <cp:lastModifiedBy>David Ryder</cp:lastModifiedBy>
  <cp:revision>1</cp:revision>
  <dcterms:created xsi:type="dcterms:W3CDTF">2026-06-23T22:01:38Z</dcterms:created>
  <dcterms:modified xsi:type="dcterms:W3CDTF">2026-06-23T22:01:38Z</dcterms:modified>
</cp:coreProperties>
</file>