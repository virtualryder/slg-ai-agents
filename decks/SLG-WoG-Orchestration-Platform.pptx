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This is the strategic sale — the one a state CIO or chief enterprise architect cares about most. Everything before this was an agent; this is the platform that makes a hundred agents safe. Pitch it as the paved road out of pilot purgatory.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NASCIO 2025 data is your spine: AI is the #1 state-CIO priority for 2026, displacing cybersecurity after 12 years at the top. The killer stat is the gap — 90% are piloting GenAI but only 25% have dedicated funding. That's the pilot trap, and governance is the way out. Label NASCIO as the state-CIO association, not a government agency. Deloitte's 21-point satisfaction gap (note: 2023 survey) frames why this matters to residents.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The insight to land: the agents are the easy part — governing what they're allowed to do, across agencies, with consent and audit, is the hard part, and it's exactly what blocks pilots from becoming production. For a CISO this is the whole conversation: one consistent governance layer beats fifty inconsistent ones. For a CIO it's how you fund and scale instead of perpetually piloting.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[~80 sec] Walk the five capabilities as the platform's spine. Govern-tool-access is the crown jewel — per-tool contracts binding agency, purpose, data class, residency and thresholds; deny-by-default. Canonical data means agents share one view instead of each integrating everything. The saga gives durable cross-agency workflows with compensation and rollback — critical when a life event touches five systems. Compliance events emit evidence retained by data class. The five declarative life-event templates are the demo: a resident moves, and it cascades across agencies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[~90 sec] This is the enterprise-architect centerpiece. Note it's a runnable reference, not a diagram — gate, step and compensate Lambdas, generic Step Functions ASL, live AWS backends (DynamoDB consent store, EventBridge compliance bus, idempotency store), env-selectable. For the CISO: WORM evidence retained by data class, and Bedrock's FedRAMP High / IL-4/5 authorization in GovCloud is the line that makes this deployable in a regulated environment. Mention the GovCloud caveat honestly: some AgentCore features aren't in GovCloud yet, so we use the portable gateway path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The framing line: the platform is the product, the agents are the proof. A CIO buys the paved road — build governance once and every future agent inherits identity, least privilege, canonical data, audit and human gates on day one. That's the escape from the 90%-piloting/25%-funded trap. Close on the resident: one government, one life event, handled once. This is the deck you leave behind with the 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859536" cy="45720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8288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Whole-of-Government Orchestration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layer that lets many agents act across agencies — safely, on AWS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92608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</a:t>
            </a:r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&amp; Architecture Leader   ·   github.com/virtualryder/slg-ai-agents   ·  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50 SILOS TO ONE GOVERNED LAYER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41248" y="17556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Whole-of-Government Orchestration Platform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" y="22860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platform that gives every agent governed tool access, canonical data, durable cross-agency workflow coordination, and a compliance event trail — so a resident's life event is handled once, across agencies, with consent and audit built in. The hard part isn't the agents; it's governing what they're allowed to 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7899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top state-CIO priority for 2026 — first time ever (NASCIO)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 / 25%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9087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state CIOs piloting GenAI vs. those with dedicated funding (NASCIO)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 pts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0275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trails the private sector on digital-service satisfaction (Deloitte)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3276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 ·   AI Strategy &amp; Architecture Leader   ·   github.com/virtualryder/slg-ai-agents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&amp; THE PROBLEM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Everyone is piloting agents; almost no one can govern them at scale.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24942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large-county CIOs and enterprise architects who need many AI agents to act across agency boundaries without creating an ungoverned, unauditable sprawl of tool access.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live with today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493008"/>
            <a:ext cx="5852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pilots are everywhere; funded, governed production is rare.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agency builds its own tool access, identity and audit — inconsistently.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and siloed data block cross-agency service.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repeat themselves to every agency for one life event.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0" y="1965960"/>
            <a:ext cx="4325112" cy="3977640"/>
          </a:xfrm>
          <a:prstGeom prst="roundRect">
            <a:avLst>
              <a:gd name="adj" fmla="val 1839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STATUS QUO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257860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 vs 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87768" y="309067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piloting GenAI vs. funded to scale it — the pilot trap (NASCIO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362102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367588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$100B+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87768" y="418795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government IT spend, ~80% operating legacy systems (GAO)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471830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477316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 pts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287768" y="528523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digital-satisfaction gap behind the private sector (Deloitte)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NASCIO 2025–2026; GAO-25-107795; Deloitte digital-government survey. See DECK-SOURCES.md.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WORKFLOW — GOVERNED, 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 tool access → canonical data → coordinate the saga → emit compliance events → human gates.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tool access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contracts: agency, purpose, data class, residency, thresholds.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(deny-by-default)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270296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728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187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314187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4187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4187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+ registry give agents one consistent view across systems.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4187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adapters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57293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31613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6205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5296205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96205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the saga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96205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cross-agency workflow with compensation and rollback.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96205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saga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7011619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85939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01A88D"/>
          </a:solidFill>
          <a:ln w="12700">
            <a:solidFill>
              <a:srgbClr val="0E7C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0531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50531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A8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971739" y="2167128"/>
            <a:ext cx="11210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50531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50531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 cross-agency actions pause for the right approver.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50531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waitForTaskToken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916594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44026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485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5" name="Text 33"/>
          <p:cNvSpPr/>
          <p:nvPr/>
        </p:nvSpPr>
        <p:spPr>
          <a:xfrm>
            <a:off x="960485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485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events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60485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emits an evidence event, retained by data class.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485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+ WORM evidence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22960" y="5166360"/>
            <a:ext cx="10515600" cy="868680"/>
          </a:xfrm>
          <a:prstGeom prst="roundRect">
            <a:avLst>
              <a:gd name="adj" fmla="val 6316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" y="5358384"/>
            <a:ext cx="457200" cy="45720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00200" y="5230368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withheld in code until a human approves.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declarative life-event templates (moving, job loss, new business, disaster, bereavement) run on this layer.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REFERENCE ARCHITECTURE — BUILT FOR A REGULATED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governance, canonical data, durable saga orchestration and a compliance event bus.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147E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91640"/>
            <a:ext cx="310896" cy="310896"/>
          </a:xfrm>
          <a:prstGeom prst="ellipse">
            <a:avLst/>
          </a:prstGeom>
          <a:solidFill>
            <a:srgbClr val="147E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&amp; agents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agents, many agencies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150146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51314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8C4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2754" y="1691640"/>
            <a:ext cx="310896" cy="310896"/>
          </a:xfrm>
          <a:prstGeom prst="ellipse">
            <a:avLst/>
          </a:prstGeom>
          <a:solidFill>
            <a:srgbClr val="8C4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442754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1042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Cognito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1042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IdP → JWT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3678501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79669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1109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3971109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89397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Govern-tool-access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89397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contract, deny-by-default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206855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08023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9463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99463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17751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17751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+ registry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735209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36377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01A88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27817" y="1691640"/>
            <a:ext cx="310896" cy="310896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30" name="Text 28"/>
          <p:cNvSpPr/>
          <p:nvPr/>
        </p:nvSpPr>
        <p:spPr>
          <a:xfrm>
            <a:off x="7027817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6105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orchestration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6105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+ rollback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8263563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64731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7AA1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6171" y="1691640"/>
            <a:ext cx="310896" cy="310896"/>
          </a:xfrm>
          <a:prstGeom prst="ellipse">
            <a:avLst/>
          </a:prstGeom>
          <a:solidFill>
            <a:srgbClr val="7AA116"/>
          </a:solidFill>
          <a:ln/>
        </p:spPr>
      </p:sp>
      <p:sp>
        <p:nvSpPr>
          <p:cNvPr id="36" name="Text 34"/>
          <p:cNvSpPr/>
          <p:nvPr/>
        </p:nvSpPr>
        <p:spPr>
          <a:xfrm>
            <a:off x="8556171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74459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74459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per action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9791918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993086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DD34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84526" y="1691640"/>
            <a:ext cx="310896" cy="310896"/>
          </a:xfrm>
          <a:prstGeom prst="ellipse">
            <a:avLst/>
          </a:prstGeom>
          <a:solidFill>
            <a:srgbClr val="DD344C"/>
          </a:solidFill>
          <a:ln/>
        </p:spPr>
      </p:sp>
      <p:sp>
        <p:nvSpPr>
          <p:cNvPr id="42" name="Text 40"/>
          <p:cNvSpPr/>
          <p:nvPr/>
        </p:nvSpPr>
        <p:spPr>
          <a:xfrm>
            <a:off x="10084526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102814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events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02814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+ WORM evidence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822960" y="32004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flow:  </a:t>
            </a:r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authenticates to the agency IdP, which Amazon Cognito federates into a signed JWT. API Gateway validates the JWT; the MCP gateway re-validates the custom:slg_role claim and issues a scoped, time-boxed token so the agent can call only the tools that role is entitled to (agent grant ∩ user entitlement). Bedrock Guardrails filter every prompt and response; the consequential action is held at the human gate. Every step writes to CloudTrail and a WORM (S3 Object Lock) audit log.</a:t>
            </a:r>
            <a:endParaRPr lang="en-US" sz="1070" dirty="0"/>
          </a:p>
        </p:txBody>
      </p:sp>
      <p:sp>
        <p:nvSpPr>
          <p:cNvPr id="46" name="Text 44"/>
          <p:cNvSpPr/>
          <p:nvPr/>
        </p:nvSpPr>
        <p:spPr>
          <a:xfrm>
            <a:off x="822960" y="3886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REGULATED-ENVIRONMENT CONTROLS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48" name="Text 46"/>
          <p:cNvSpPr/>
          <p:nvPr/>
        </p:nvSpPr>
        <p:spPr>
          <a:xfrm>
            <a:off x="950976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50976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3502152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1" name="Text 49"/>
          <p:cNvSpPr/>
          <p:nvPr/>
        </p:nvSpPr>
        <p:spPr>
          <a:xfrm>
            <a:off x="3630168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630168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6181344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4" name="Text 52"/>
          <p:cNvSpPr/>
          <p:nvPr/>
        </p:nvSpPr>
        <p:spPr>
          <a:xfrm>
            <a:off x="6309360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09360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8860536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7" name="Text 55"/>
          <p:cNvSpPr/>
          <p:nvPr/>
        </p:nvSpPr>
        <p:spPr>
          <a:xfrm>
            <a:off x="8988552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988552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822960" y="57150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C3B4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5840" y="576072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models:  </a:t>
            </a:r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(standalone) — each agent ships its own VPC, edge, Cognito, data and WORM audit stack, deployable by one CloudFormation/Terraform quickstart. Model B (+ Whole-of-Government) — adds shared canonical data, saga orchestration and a compliance event bus. GovCloud (US) uses the portable gateway path.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 is the product; the agents are the proof.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FedRAMP High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Guardrails + KBs authorized; DoD IL-4/5 in GovCloud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3118104"/>
            <a:ext cx="987552" cy="256032"/>
          </a:xfrm>
          <a:prstGeom prst="rect">
            <a:avLst>
              <a:gd name="adj" fmla="val 14286"/>
            </a:avLst>
          </a:prstGeom>
          <a:solidFill>
            <a:srgbClr val="0E7C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1960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076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agents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3905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library already run on the same governed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3118104"/>
            <a:ext cx="912571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01624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740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life events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3569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moving, job loss, new business, disaster, bereavement — declarative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17408" y="3118104"/>
            <a:ext cx="912571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730752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3A4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76472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case: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governance once and every future agent inherits identity, least privilege, canonical data, audit and human gates on day one. That's how a CIO escapes the pilot trap: not more pilots, but a paved road to funded, compliant production — and a resident experience that finally feels like one government.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tier. Vendor-reported vs. government/peer-reviewed sourcing in DECK-SOURCES.md. Improvement applied to a reference agency — not a guarantee.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2026-06-25T00:54:05Z</dcterms:created>
  <dcterms:modified xsi:type="dcterms:W3CDTF">2026-06-25T00:54:05Z</dcterms:modified>
</cp:coreProperties>
</file>