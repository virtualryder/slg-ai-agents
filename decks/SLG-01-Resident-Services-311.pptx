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 Open here. This is the resident's front door — the agent most people will actually touch. Frame the whole library: governed, agentic AI on AWS, where every consequential action stays human, deterministic and audit-ready. Name-drop that this is one of eight agents plus a whole-of-government platform. For a CIO, this is the fastest, lowest-risk place to show citizen-facing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Lead with the Gartner economics: a live contact is $8.01 — cite it precisely, it's $8.01 not '$8' — versus about ten cents for self-service. Caveat to hold in your back pocket: that figure is 2019 and cross-industry, not government-specific, so use it as an order-of-magnitude truth, not a precise government number. Pair it with NYC311's 98,028 contacts a day so the scale is undeniable. The productivity stat is the peer-reviewed QJE 2025 version of the NBER paper — +14% average, +34% for novices — note that novices benefit most, which speaks to turnover.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For the CIO: this is repetitive, high-volume, low-risk work — the ideal first automation. For the CISO: nothing here exposes PII without the gateway brokering it. The cost stack on the right is the business case in three numbers. Ask the room: what share of your 311 volume is the same dozen questions? It's almost always a majority.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[~75 sec] This is the trust story for the architect. Walk left to right. Note steps 1-3 are read-only and safe to automate fully. Step 4 — the teal gate — is the whole philosophy: the consequential action is withheld in code, not policy. Even if the model is wrong, it cannot commit the agency. Step 5 is why a CISO signs off: the decision, the citations and the inputs are written to a WORM trail they can subpoena-proof.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[~90 sec] This is the CISO/architect slide — slow down. Trace the JWT exchange: agency IdP → Cognito → signed JWT → API Gateway authorizer → MCP gateway re-validates the role claim and issues a scoped token. The key line: effective permission is the agent's grant intersected with the user's entitlement, deny-by-default. Hit the four control cards. End on compliance: Bedrock is FedRAMP High and DoD IL-4/5 in GovCloud — that's the sentence that ends the security objection. Mention Model A vs B so they know they don't need the whole platform to start.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Be honest about evidence tier — these are vendor-reported deployments (NC DES and Denver 'Sunny'), labeled as such on the slide; that candor is what makes a CISO trust the rest. Denver is your strongest quantified deflection story: ~20% of all interactions, 45% peak staffing relief, 85% approval. Close on the CIO math: each deflected contact converts an $8 interaction into a dime. Avoid overstating Virginia Beach's 1,300 queries — that's usage, not proven deflection, so I kept it off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859536" cy="457200"/>
          </a:xfrm>
          <a:prstGeom prst="roundRect">
            <a:avLst>
              <a:gd name="adj" fmla="val 8000"/>
            </a:avLst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0"/>
            <a:ext cx="8595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8288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Resident Services &amp; 311 Virtual Agent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41248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governed, agentic AI front door for citizen requests — on AWS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5806440"/>
            <a:ext cx="292608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</a:t>
            </a:r>
            <a:pPr indent="0" marL="0">
              <a:lnSpc>
                <a:spcPct val="110000"/>
              </a:lnSpc>
              <a:buNone/>
            </a:pP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Strategy &amp; Architecture Leader   ·   github.com/virtualryder/slg-ai-agents   ·   June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$8 A CALL TO $0.10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41248" y="175564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Services &amp; 311 Virtual Agent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41248" y="22860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always-on, multilingual agent that answers resident questions, files and tracks 311 service requests, and routes only the exceptions to staff — grounded in your knowledge base, with every answer cited and every action logged.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$8.01 → $0.10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7899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a live agent contact vs. self-service (Gartner)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484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98,028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69087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311 contacts handled per day at NYC311 alone (NYC OTI)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5" name="Text 13"/>
          <p:cNvSpPr/>
          <p:nvPr/>
        </p:nvSpPr>
        <p:spPr>
          <a:xfrm>
            <a:off x="827532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+14 / +34%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30275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productivity, avg / for novice agents (Brynjolfsson et al., QJE 2025)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 ·   AI Strategy &amp; Architecture Leader   ·   github.com/virtualryder/slg-ai-agents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&amp; THE PROBLEM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Residents wait on hold for answers government already has.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249424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City/county 311 and constituent-services teams fielding repetitive questions across phone, web, email and walk-ins — often in many languages, with peak surges they can't staff for.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live with today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5852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FAQs — trash days, permits, potholes, payments — consume scarce agent time.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channels cost roughly $8 a contact; self-service is about a dime.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After-hours and language gaps push residents to call back, inflating volume.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copy-paste between systems instead of resolving the resident's actual issue.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040880" y="1965960"/>
            <a:ext cx="4325112" cy="3977640"/>
          </a:xfrm>
          <a:prstGeom prst="roundRect">
            <a:avLst>
              <a:gd name="adj" fmla="val 1839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269480" y="2148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THE STATUS QUO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69480" y="257860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$8.01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287768" y="309067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live-agent contact — ~80× the cost of self-service (Gartner, 2019)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269480" y="362102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367588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98,028 / day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7287768" y="418795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volume at a single big-city 311 (NYC OTI, 2023)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69480" y="471830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9480" y="477316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9%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287768" y="528523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customers fully self-resolve today without help (Gartner)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Gartner 2019; NYC Office of Technology &amp; Innovation 2023. See DECK-SOURCES.md.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WORKFLOW — GOVERNED, STEP BY STEP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Understand → ground → act → escalate — with a human gate on anything that commits the agency.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987552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7552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request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87552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intent and language across channels; classify the 311 service type.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+ Guardrails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270296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97728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4187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314187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14187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the answer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14187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from the agency KB; answer only with cited, sourced facts.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14187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Bases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4857293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131613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96205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0" name="Text 18"/>
          <p:cNvSpPr/>
          <p:nvPr/>
        </p:nvSpPr>
        <p:spPr>
          <a:xfrm>
            <a:off x="5296205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296205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safe action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296205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Create/track a service request; check status; no PII exposed.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296205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gateway + connectors</a:t>
            </a:r>
            <a:endParaRPr lang="en-US" sz="870" dirty="0"/>
          </a:p>
        </p:txBody>
      </p:sp>
      <p:sp>
        <p:nvSpPr>
          <p:cNvPr id="24" name="Text 22"/>
          <p:cNvSpPr/>
          <p:nvPr/>
        </p:nvSpPr>
        <p:spPr>
          <a:xfrm>
            <a:off x="7011619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285939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01A88D"/>
          </a:solidFill>
          <a:ln w="12700">
            <a:solidFill>
              <a:srgbClr val="0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50531" y="21031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450531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A8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971739" y="2167128"/>
            <a:ext cx="112105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450531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450531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beyond read/file — refunds, dispatch commitments — pauses for staff approval.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450531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</a:t>
            </a:r>
            <a:endParaRPr lang="en-US" sz="870" dirty="0"/>
          </a:p>
        </p:txBody>
      </p:sp>
      <p:sp>
        <p:nvSpPr>
          <p:cNvPr id="32" name="Text 30"/>
          <p:cNvSpPr/>
          <p:nvPr/>
        </p:nvSpPr>
        <p:spPr>
          <a:xfrm>
            <a:off x="916594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44026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0485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35" name="Text 33"/>
          <p:cNvSpPr/>
          <p:nvPr/>
        </p:nvSpPr>
        <p:spPr>
          <a:xfrm>
            <a:off x="960485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60485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&amp; learn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60485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transcript, citations and decision to a WORM audit trail.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60485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+ CloudTrail</a:t>
            </a:r>
            <a:endParaRPr lang="en-US" sz="870" dirty="0"/>
          </a:p>
        </p:txBody>
      </p:sp>
      <p:sp>
        <p:nvSpPr>
          <p:cNvPr id="39" name="Shape 37"/>
          <p:cNvSpPr/>
          <p:nvPr/>
        </p:nvSpPr>
        <p:spPr>
          <a:xfrm>
            <a:off x="822960" y="5166360"/>
            <a:ext cx="10515600" cy="868680"/>
          </a:xfrm>
          <a:prstGeom prst="roundRect">
            <a:avLst>
              <a:gd name="adj" fmla="val 6316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05840" y="5358384"/>
            <a:ext cx="457200" cy="457200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41" name="Text 39"/>
          <p:cNvSpPr/>
          <p:nvPr/>
        </p:nvSpPr>
        <p:spPr>
          <a:xfrm>
            <a:off x="100584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600200" y="5230368"/>
            <a:ext cx="9601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withheld in code until a human approves.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file-a-request are automated; commitments are not. The agent drafts; a person commits.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REFERENCE ARCHITECTURE — BUILT FOR A REGULATED 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Multilingual front door with deny-by-default tool access and a full audit trail.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147EB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91640"/>
            <a:ext cx="310896" cy="310896"/>
          </a:xfrm>
          <a:prstGeom prst="ellipse">
            <a:avLst/>
          </a:prstGeom>
          <a:solidFill>
            <a:srgbClr val="147EB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/ Staff channel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mobile · phone · kiosk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2150146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51314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DD344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42754" y="1691640"/>
            <a:ext cx="310896" cy="310896"/>
          </a:xfrm>
          <a:prstGeom prst="ellipse">
            <a:avLst/>
          </a:prstGeom>
          <a:solidFill>
            <a:srgbClr val="DD344C"/>
          </a:solidFill>
          <a:ln/>
        </p:spPr>
      </p:sp>
      <p:sp>
        <p:nvSpPr>
          <p:cNvPr id="12" name="Text 10"/>
          <p:cNvSpPr/>
          <p:nvPr/>
        </p:nvSpPr>
        <p:spPr>
          <a:xfrm>
            <a:off x="2442754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61042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1042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 + Shield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3678501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79669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71109" y="1691640"/>
            <a:ext cx="310896" cy="310896"/>
          </a:xfrm>
          <a:prstGeom prst="ellipse">
            <a:avLst/>
          </a:prstGeom>
          <a:solidFill>
            <a:srgbClr val="8C4FFF"/>
          </a:solidFill>
          <a:ln/>
        </p:spPr>
      </p:sp>
      <p:sp>
        <p:nvSpPr>
          <p:cNvPr id="18" name="Text 16"/>
          <p:cNvSpPr/>
          <p:nvPr/>
        </p:nvSpPr>
        <p:spPr>
          <a:xfrm>
            <a:off x="3971109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89397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Cognito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89397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→ JWT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206855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08023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9463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5499463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17751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17751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authorizer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6735209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936377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27817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027817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46105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gateway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046105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· least privilege</a:t>
            </a:r>
            <a:endParaRPr lang="en-US" sz="860" dirty="0"/>
          </a:p>
        </p:txBody>
      </p:sp>
      <p:sp>
        <p:nvSpPr>
          <p:cNvPr id="33" name="Text 31"/>
          <p:cNvSpPr/>
          <p:nvPr/>
        </p:nvSpPr>
        <p:spPr>
          <a:xfrm>
            <a:off x="8263563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464731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01A88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56171" y="1691640"/>
            <a:ext cx="310896" cy="310896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36" name="Text 34"/>
          <p:cNvSpPr/>
          <p:nvPr/>
        </p:nvSpPr>
        <p:spPr>
          <a:xfrm>
            <a:off x="8556171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574459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— Bedrock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74459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+ Strands/LangGraph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9791918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993086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7AA11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84526" y="1691640"/>
            <a:ext cx="310896" cy="310896"/>
          </a:xfrm>
          <a:prstGeom prst="ellipse">
            <a:avLst/>
          </a:prstGeom>
          <a:solidFill>
            <a:srgbClr val="7AA116"/>
          </a:solidFill>
          <a:ln/>
        </p:spPr>
      </p:sp>
      <p:sp>
        <p:nvSpPr>
          <p:cNvPr id="42" name="Text 40"/>
          <p:cNvSpPr/>
          <p:nvPr/>
        </p:nvSpPr>
        <p:spPr>
          <a:xfrm>
            <a:off x="10084526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102814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→ action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02814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then tools + data</a:t>
            </a:r>
            <a:endParaRPr lang="en-US" sz="860" dirty="0"/>
          </a:p>
        </p:txBody>
      </p:sp>
      <p:sp>
        <p:nvSpPr>
          <p:cNvPr id="45" name="Text 43"/>
          <p:cNvSpPr/>
          <p:nvPr/>
        </p:nvSpPr>
        <p:spPr>
          <a:xfrm>
            <a:off x="822960" y="320040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flow:  </a:t>
            </a:r>
            <a:pPr indent="0" marL="0">
              <a:lnSpc>
                <a:spcPct val="105000"/>
              </a:lnSpc>
              <a:buNone/>
            </a:pPr>
            <a:r>
              <a:rPr lang="en-US" sz="107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authenticates to the agency IdP, which Amazon Cognito federates into a signed JWT. API Gateway validates the JWT; the MCP gateway re-validates the custom:slg_role claim and issues a scoped, time-boxed token so the agent can call only the tools that role is entitled to (agent grant ∩ user entitlement). Bedrock Guardrails filter every prompt and response; the consequential action is held at the human gate. Every step writes to CloudTrail and a WORM (S3 Object Lock) audit log.</a:t>
            </a:r>
            <a:endParaRPr lang="en-US" sz="1070" dirty="0"/>
          </a:p>
        </p:txBody>
      </p:sp>
      <p:sp>
        <p:nvSpPr>
          <p:cNvPr id="46" name="Text 44"/>
          <p:cNvSpPr/>
          <p:nvPr/>
        </p:nvSpPr>
        <p:spPr>
          <a:xfrm>
            <a:off x="822960" y="3886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REGULATED-ENVIRONMENT CONTROLS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2960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48" name="Text 46"/>
          <p:cNvSpPr/>
          <p:nvPr/>
        </p:nvSpPr>
        <p:spPr>
          <a:xfrm>
            <a:off x="950976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950976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860" dirty="0"/>
          </a:p>
        </p:txBody>
      </p:sp>
      <p:sp>
        <p:nvSpPr>
          <p:cNvPr id="50" name="Shape 48"/>
          <p:cNvSpPr/>
          <p:nvPr/>
        </p:nvSpPr>
        <p:spPr>
          <a:xfrm>
            <a:off x="3502152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1" name="Text 49"/>
          <p:cNvSpPr/>
          <p:nvPr/>
        </p:nvSpPr>
        <p:spPr>
          <a:xfrm>
            <a:off x="3630168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630168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860" dirty="0"/>
          </a:p>
        </p:txBody>
      </p:sp>
      <p:sp>
        <p:nvSpPr>
          <p:cNvPr id="53" name="Shape 51"/>
          <p:cNvSpPr/>
          <p:nvPr/>
        </p:nvSpPr>
        <p:spPr>
          <a:xfrm>
            <a:off x="6181344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4" name="Text 52"/>
          <p:cNvSpPr/>
          <p:nvPr/>
        </p:nvSpPr>
        <p:spPr>
          <a:xfrm>
            <a:off x="6309360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309360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860" dirty="0"/>
          </a:p>
        </p:txBody>
      </p:sp>
      <p:sp>
        <p:nvSpPr>
          <p:cNvPr id="56" name="Shape 54"/>
          <p:cNvSpPr/>
          <p:nvPr/>
        </p:nvSpPr>
        <p:spPr>
          <a:xfrm>
            <a:off x="8860536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7" name="Text 55"/>
          <p:cNvSpPr/>
          <p:nvPr/>
        </p:nvSpPr>
        <p:spPr>
          <a:xfrm>
            <a:off x="8988552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988552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860" dirty="0"/>
          </a:p>
        </p:txBody>
      </p:sp>
      <p:sp>
        <p:nvSpPr>
          <p:cNvPr id="59" name="Shape 57"/>
          <p:cNvSpPr/>
          <p:nvPr/>
        </p:nvSpPr>
        <p:spPr>
          <a:xfrm>
            <a:off x="822960" y="5715000"/>
            <a:ext cx="10515600" cy="713232"/>
          </a:xfrm>
          <a:prstGeom prst="roundRect">
            <a:avLst>
              <a:gd name="adj" fmla="val 7692"/>
            </a:avLst>
          </a:prstGeom>
          <a:solidFill>
            <a:srgbClr val="2C3B4E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05840" y="5760720"/>
            <a:ext cx="10149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models: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(standalone) — each agent ships its own VPC, edge, Cognito, data and WORM audit stack, deployable by one CloudFormation/Terraform quickstart. Model B (+ Whole-of-Government) — adds shared canonical data, saga orchestration and a compliance event bus. GovCloud (US) uses the portable gateway path.</a:t>
            </a:r>
            <a:endParaRPr lang="en-US" sz="10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77824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 the routine, elevate the human, prove it in the logs.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1975104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2,700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042416" y="2596896"/>
            <a:ext cx="470001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inquiries handled in month one, North Carolina DES assistant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24128" y="3118104"/>
            <a:ext cx="136245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975104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~20%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6437376" y="2596896"/>
            <a:ext cx="470001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311 interactions handled by Denver's 'Sunny' assistant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19088" y="3118104"/>
            <a:ext cx="136245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22960" y="3685032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831336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45%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1042416" y="4453128"/>
            <a:ext cx="470001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peak-season live-agent staffing reduction, Denver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24128" y="4974336"/>
            <a:ext cx="136245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217920" y="3685032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19088" y="3831336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85%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437376" y="4453128"/>
            <a:ext cx="470001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approval rating, Denver 'Sunny'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19088" y="4974336"/>
            <a:ext cx="136245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822960" y="5586984"/>
            <a:ext cx="10515600" cy="841248"/>
          </a:xfrm>
          <a:prstGeom prst="roundRect">
            <a:avLst>
              <a:gd name="adj" fmla="val 6522"/>
            </a:avLst>
          </a:prstGeom>
          <a:solidFill>
            <a:srgbClr val="3A4B5F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5632704"/>
            <a:ext cx="10149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executive case: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contact the agent resolves is roughly an $8 live interaction turned into a dime — at 311 volumes that is a budget line, not a rounding error. Productivity research shows the biggest lift goes to your newest agents, shortening ramp time and turnover cost.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22960" y="643737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tier. Vendor-reported vs. government/peer-reviewed sourcing in DECK-SOURCES.md. Improvement applied to a reference agency — not a guarantee.</a:t>
            </a:r>
            <a:endParaRPr lang="en-US" sz="8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rebuchet M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2026-06-24T19:12:58Z</dcterms:created>
  <dcterms:modified xsi:type="dcterms:W3CDTF">2026-06-24T19:12:58Z</dcterms:modified>
</cp:coreProperties>
</file>