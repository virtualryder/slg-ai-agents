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 ~1.5 min.
SHOW: title, your name/role, the suite kicker.
SAY: 'A resident wants to do one thing — renew a license, report a pothole, check an application — and faces dozens of departments and no front door. I'll show a governed agent that fixes that, and why the hard part is governance, not the model.'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 ~2.5 min.
SHOW: the FROM 6 SYSTEMS → ONE ANSWER headline and three stat cards with sources.
SAY: 'A live contact costs about $8 versus a dime for self-service — roughly 80x, per Gartner. Grupo TX's TxGov cut call volume 35% and halved response time; Virginia Beach's assistant took 1,300+ questions in month one.'
LAND IT: 'Deflection at government volume is seven figures — and this does it without a chatbot you can't audit.'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 ~3 min.
SHOW: THE SITUATION (left), WHAT THEY NEED — business/technical/regulatory (right), the navy constraint bar.
SAY: 'Walk the fragmentation, then what they need. Then the constraint bar — that's the whole pitch: personal account data is never disclosed on a name and address alone; identity must be verified.'
EMPHASIZE: 'That one rule is what makes a CISO comfortable letting AI near constituent data.'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 ~4 min.
SHOW: the six-step pipeline; the GREEN node is the human gate; the three trust cards.
SAY: 'Classify intent and agency, retrieve approved content with citations, verify identity if personal data is involved, draft and compliance-check, then the green human gate, then finalize.'
POINT AT THE GREEN NODE: 'The workflow cannot pass this — it's interrupt_before in the framework, not a line in a policy doc.'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 ~5 min.
SHOW: the AWS architecture diagram; walk the numbered traffic-flow 1 to 8.
SAY: 'Identity first: residents authenticate at the agency IdP; Cognito issues a short-lived JWT — no credentials in AWS. CloudFront and WAF filter at the edge; the JWT is validated at API Gateway, then re-checked by the MCP gateway, which mints a scoped per-call token. Model calls stay in-account via a Bedrock VPC endpoint; every action lands in append-only audit plus WORM.'
SOUNDBITE: 'One chokepoint to secure and audit, instead of N integrations. And note the deployment banner — this agent runs standalone; the WoG platform is optional.'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 ~4 min.
SHOW: the outcomes band, the two cards, the takeaway.
SAY: 'Documented results from named deployments: TxGov −35% call volume and 50% faster; Indiana 311 deflecting about 4,000 calls a month; about 80x cheaper per self-service contact.'
TRADEOFF TALK TRACK — what I chose and what it cost: (1) the human gate caps full automation, but that's the point — nothing irreversible without a person; (2) in-account Bedrock over the newest model — I trade model-of-the-week for no PII egress and one governance point; (3) identity-gating adds a step but prevents wrongful disclosure. CLOSE: 'The agent isn't the product — the governance that makes it deployable and auditable is. This agent is also the front door for the moving life-event.'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E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669280" cy="56692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206240"/>
            <a:ext cx="3291840" cy="3291840"/>
          </a:xfrm>
          <a:prstGeom prst="ellipse">
            <a:avLst/>
          </a:prstGeom>
          <a:solidFill>
            <a:srgbClr val="2A376E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8288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C0"/>
                </a:solidFill>
              </a:rPr>
              <a:t>SLG AI AGENT SUITE  ·  BUILT ON AWS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286000"/>
            <a:ext cx="10607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Resident Services &amp; 311 Navigator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77240" y="388620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A governed, agentic front door that helps residents reach the right service across every agency — while staff and a human gate keep every consequential action accountable.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David Ryder   ·   AI Strategy &amp; Architecture Leader   ·   github.com/virtualryder/slg-ai-agents   ·   June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E0A5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6 SYSTEMS TO ONE ANSWER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" y="10972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Resident Services &amp; 311 Navigator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196596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CADCFC"/>
                </a:solidFill>
              </a:rPr>
              <a:t>Residents navigate hundreds of pages, phone numbers and PDFs across dozens of departments. A governed agent understands the request, grounds the answer in approved content, and acts only with a human's approval.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77240" y="3246120"/>
            <a:ext cx="3383280" cy="2286000"/>
          </a:xfrm>
          <a:prstGeom prst="roundRect">
            <a:avLst>
              <a:gd name="adj" fmla="val 2400"/>
            </a:avLst>
          </a:prstGeom>
          <a:solidFill>
            <a:srgbClr val="2A376E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3474720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~$8 → $0.10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1005840" y="4370832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cost of a live contact vs. a self-service interaction (~80x)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513892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FB0E0"/>
                </a:solidFill>
              </a:rPr>
              <a:t>Gartner, 2019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434840" y="3246120"/>
            <a:ext cx="3383280" cy="2286000"/>
          </a:xfrm>
          <a:prstGeom prst="roundRect">
            <a:avLst>
              <a:gd name="adj" fmla="val 2400"/>
            </a:avLst>
          </a:prstGeom>
          <a:solidFill>
            <a:srgbClr val="2A376E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34840" y="3474720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35%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4663440" y="4370832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call-center volume reduction with a governed gov agent (Grupo TX 'TxGov')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17720" y="513892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FB0E0"/>
                </a:solidFill>
              </a:rPr>
              <a:t>AWS Public Sector, Jun 2026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092440" y="3246120"/>
            <a:ext cx="3383280" cy="2286000"/>
          </a:xfrm>
          <a:prstGeom prst="roundRect">
            <a:avLst>
              <a:gd name="adj" fmla="val 2400"/>
            </a:avLst>
          </a:prstGeom>
          <a:solidFill>
            <a:srgbClr val="2A376E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092440" y="3474720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1,300+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8321040" y="4370832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resident queries handled in month one (Virginia Beach assistant)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75320" y="513892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FB0E0"/>
                </a:solidFill>
              </a:rPr>
              <a:t>AWS Public Sector, 2026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7724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E0"/>
                </a:solidFill>
              </a:rPr>
              <a:t>David Ryder   ·   AI Strategy &amp; Architecture Leader   ·   github.com/virtualryder/slg-ai-agents   ·   June 2026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8BC0"/>
                </a:solidFill>
              </a:rPr>
              <a:t>THE CUSTOMER &amp; 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Residents can't find the right service — and staff carry the load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486400" cy="3611880"/>
          </a:xfrm>
          <a:prstGeom prst="roundRect">
            <a:avLst>
              <a:gd name="adj" fmla="val 1519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7830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2761"/>
                </a:solidFill>
              </a:rPr>
              <a:t>THE SITUATION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50292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40"/>
                </a:solidFill>
              </a:rPr>
              <a:t>Hundreds of pages, phone numbers, PDFs and forms across dozens of departments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40"/>
                </a:solidFill>
              </a:rPr>
              <a:t>Residents don't know which agency owns their problem, so calls bounce and transfer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40"/>
                </a:solidFill>
              </a:rPr>
              <a:t>Comparable counties spend 45+ minutes summarizing and routing one complex contact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40"/>
                </a:solidFill>
              </a:rPr>
              <a:t>No 24/7, multilingual, or fully accessible path for routine questions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55080" y="1600200"/>
            <a:ext cx="5166360" cy="361188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0" y="17830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2761"/>
                </a:solidFill>
              </a:rPr>
              <a:t>WHAT THEY NEED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0" y="2194560"/>
            <a:ext cx="47548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250" b="1" dirty="0">
                <a:solidFill>
                  <a:srgbClr val="2E8BC0"/>
                </a:solidFill>
              </a:rPr>
              <a:t>Business  </a:t>
            </a:r>
            <a:pPr indent="0" marL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1B2440"/>
                </a:solidFill>
              </a:rPr>
              <a:t>deflect routine contacts, serve residents 24/7, and reduce wrong-department transfers without adding headcount.</a:t>
            </a:r>
            <a:endParaRPr lang="en-US" sz="1250" dirty="0"/>
          </a:p>
          <a:p>
            <a:pPr indent="0" marL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250" b="1" dirty="0">
                <a:solidFill>
                  <a:srgbClr val="2E8BC0"/>
                </a:solidFill>
              </a:rPr>
              <a:t>Technical  </a:t>
            </a:r>
            <a:pPr indent="0" marL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1B2440"/>
                </a:solidFill>
              </a:rPr>
              <a:t>understand plain language, ground answers in approved content with citations, and open 311 cases / book appointments through governed tools.</a:t>
            </a:r>
            <a:endParaRPr lang="en-US" sz="1250" dirty="0"/>
          </a:p>
          <a:p>
            <a:pPr indent="0" marL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250" b="1" dirty="0">
                <a:solidFill>
                  <a:srgbClr val="2E8BC0"/>
                </a:solidFill>
              </a:rPr>
              <a:t>Regulatory  </a:t>
            </a:r>
            <a:pPr indent="0" marL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1B2440"/>
                </a:solidFill>
              </a:rPr>
              <a:t>ADA Title II accessibility, state privacy, and no disclosure of personal account data on a name + address alone.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5349240"/>
            <a:ext cx="10881360" cy="96012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544068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The design constraint that shaped everything:  </a:t>
            </a:r>
            <a:pPr indent="0" marL="0">
              <a:buNone/>
            </a:pPr>
            <a:r>
              <a:rPr lang="en-US" sz="1350" i="1" dirty="0">
                <a:solidFill>
                  <a:srgbClr val="CADCFC"/>
                </a:solidFill>
              </a:rPr>
              <a:t>AI answers and prepares; a human approves every consequential action, and personal data requires verified identity.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E8BC0"/>
                </a:solidFill>
              </a:rPr>
              <a:t>THE SOLUTION — GOVERNED WORKFLOW, HUMAN DECISIONS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intent-routed workflow that grounds, gates, and audits every answer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623060" cy="1554480"/>
          </a:xfrm>
          <a:prstGeom prst="roundRect">
            <a:avLst>
              <a:gd name="adj" fmla="val 3529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37360"/>
            <a:ext cx="384048" cy="384048"/>
          </a:xfrm>
          <a:prstGeom prst="ellipse">
            <a:avLst/>
          </a:prstGeom>
          <a:solidFill>
            <a:srgbClr val="2E8BC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37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2212848"/>
            <a:ext cx="12938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Intake &amp; classify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04672" y="2670048"/>
            <a:ext cx="12938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88"/>
                </a:solidFill>
              </a:rPr>
              <a:t>intent + responsible agency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91740" y="1554480"/>
            <a:ext cx="1623060" cy="1554480"/>
          </a:xfrm>
          <a:prstGeom prst="roundRect">
            <a:avLst>
              <a:gd name="adj" fmla="val 3529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74620" y="1737360"/>
            <a:ext cx="384048" cy="384048"/>
          </a:xfrm>
          <a:prstGeom prst="ellipse">
            <a:avLst/>
          </a:prstGeom>
          <a:solidFill>
            <a:srgbClr val="2E8BC0"/>
          </a:solidFill>
          <a:ln/>
        </p:spPr>
      </p:sp>
      <p:sp>
        <p:nvSpPr>
          <p:cNvPr id="11" name="Text 9"/>
          <p:cNvSpPr/>
          <p:nvPr/>
        </p:nvSpPr>
        <p:spPr>
          <a:xfrm>
            <a:off x="2674620" y="1737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656332" y="2212848"/>
            <a:ext cx="12938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656332" y="2670048"/>
            <a:ext cx="12938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88"/>
                </a:solidFill>
              </a:rPr>
              <a:t>approved content (KB) + citations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343400" y="1554480"/>
            <a:ext cx="1623060" cy="1554480"/>
          </a:xfrm>
          <a:prstGeom prst="roundRect">
            <a:avLst>
              <a:gd name="adj" fmla="val 3529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26280" y="1737360"/>
            <a:ext cx="384048" cy="384048"/>
          </a:xfrm>
          <a:prstGeom prst="ellipse">
            <a:avLst/>
          </a:prstGeom>
          <a:solidFill>
            <a:srgbClr val="2E8BC0"/>
          </a:solidFill>
          <a:ln/>
        </p:spPr>
      </p:sp>
      <p:sp>
        <p:nvSpPr>
          <p:cNvPr id="16" name="Text 14"/>
          <p:cNvSpPr/>
          <p:nvPr/>
        </p:nvSpPr>
        <p:spPr>
          <a:xfrm>
            <a:off x="4526280" y="1737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07992" y="2212848"/>
            <a:ext cx="12938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 identity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07992" y="2670048"/>
            <a:ext cx="12938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88"/>
                </a:solidFill>
              </a:rPr>
              <a:t>required before personal data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95060" y="1554480"/>
            <a:ext cx="1623060" cy="1554480"/>
          </a:xfrm>
          <a:prstGeom prst="roundRect">
            <a:avLst>
              <a:gd name="adj" fmla="val 3529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77940" y="1737360"/>
            <a:ext cx="384048" cy="384048"/>
          </a:xfrm>
          <a:prstGeom prst="ellipse">
            <a:avLst/>
          </a:prstGeom>
          <a:solidFill>
            <a:srgbClr val="2E8BC0"/>
          </a:solidFill>
          <a:ln/>
        </p:spPr>
      </p:sp>
      <p:sp>
        <p:nvSpPr>
          <p:cNvPr id="21" name="Text 19"/>
          <p:cNvSpPr/>
          <p:nvPr/>
        </p:nvSpPr>
        <p:spPr>
          <a:xfrm>
            <a:off x="6377940" y="1737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359652" y="2212848"/>
            <a:ext cx="12938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Draft + compliance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359652" y="2670048"/>
            <a:ext cx="12938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88"/>
                </a:solidFill>
              </a:rPr>
              <a:t>grounding · WCAG · PII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046720" y="1554480"/>
            <a:ext cx="1623060" cy="1554480"/>
          </a:xfrm>
          <a:prstGeom prst="roundRect">
            <a:avLst>
              <a:gd name="adj" fmla="val 3529"/>
            </a:avLst>
          </a:prstGeom>
          <a:solidFill>
            <a:srgbClr val="2F8F5B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29600" y="1737360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0" y="1737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8229600" y="1737360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0" y="1737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8F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211312" y="2212848"/>
            <a:ext cx="12938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GATE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211312" y="2670048"/>
            <a:ext cx="12938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city reviewer approves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9898380" y="1554480"/>
            <a:ext cx="1623060" cy="1554480"/>
          </a:xfrm>
          <a:prstGeom prst="roundRect">
            <a:avLst>
              <a:gd name="adj" fmla="val 3529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0081260" y="1737360"/>
            <a:ext cx="384048" cy="384048"/>
          </a:xfrm>
          <a:prstGeom prst="ellipse">
            <a:avLst/>
          </a:prstGeom>
          <a:solidFill>
            <a:srgbClr val="2E8BC0"/>
          </a:solidFill>
          <a:ln/>
        </p:spPr>
      </p:sp>
      <p:sp>
        <p:nvSpPr>
          <p:cNvPr id="33" name="Text 31"/>
          <p:cNvSpPr/>
          <p:nvPr/>
        </p:nvSpPr>
        <p:spPr>
          <a:xfrm>
            <a:off x="10081260" y="1737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0062972" y="2212848"/>
            <a:ext cx="12938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Finalize &amp; audit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0062972" y="2670048"/>
            <a:ext cx="12938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88"/>
                </a:solidFill>
              </a:rPr>
              <a:t>311 case / appt · WORM trail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40080" y="324612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88"/>
                </a:solidFill>
              </a:rPr>
              <a:t>EVIDENCE ASSEMBLY — automated (Bedrock Claude + governed MCP tool calls)   ·   then a framework-enforced human gate (interrupt_before)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40080" y="3749040"/>
            <a:ext cx="3474720" cy="2194560"/>
          </a:xfrm>
          <a:prstGeom prst="roundRect">
            <a:avLst>
              <a:gd name="adj" fmla="val 2500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868680" y="39319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action logged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868680" y="4572000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40"/>
                </a:solidFill>
              </a:rPr>
              <a:t>Node, timestamp, actor, data sources, model version — one examiner-ready audit trail.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343400" y="3749040"/>
            <a:ext cx="3474720" cy="2194560"/>
          </a:xfrm>
          <a:prstGeom prst="roundRect">
            <a:avLst>
              <a:gd name="adj" fmla="val 2500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572000" y="39319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Grounded &amp; accessible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4572000" y="4572000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40"/>
                </a:solidFill>
              </a:rPr>
              <a:t>No fabricated fees, dates or agencies; ADA Title II / WCAG checks on every AI answer.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8046720" y="3749040"/>
            <a:ext cx="3474720" cy="2194560"/>
          </a:xfrm>
          <a:prstGeom prst="roundRect">
            <a:avLst>
              <a:gd name="adj" fmla="val 2500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8275320" y="39319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never decides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8275320" y="4572000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40"/>
                </a:solidFill>
              </a:rPr>
              <a:t>No personal disclosure without verified identity; consequential actions require a human.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8BC0"/>
                </a:solidFill>
              </a:rPr>
              <a:t>AWS ARCHITECTURE &amp; TRAFFIC FLOW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Resident Services &amp; 311 Navigator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950976"/>
            <a:ext cx="11274552" cy="365760"/>
          </a:xfrm>
          <a:prstGeom prst="roundRect">
            <a:avLst>
              <a:gd name="adj" fmla="val 10000"/>
            </a:avLst>
          </a:prstGeom>
          <a:solidFill>
            <a:srgbClr val="FBF3D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50976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6B12"/>
                </a:solidFill>
              </a:rPr>
              <a:t>DEPLOYMENT MODEL:  </a:t>
            </a:r>
            <a:pPr indent="0" marL="0">
              <a:buNone/>
            </a:pPr>
            <a:r>
              <a:rPr lang="en-US" sz="900" dirty="0">
                <a:solidFill>
                  <a:srgbClr val="5B4708"/>
                </a:solidFill>
              </a:rPr>
              <a:t>STANDALONE-DEPLOYABLE — own VPC · CloudFront + WAF edge · KMS · WORM audit · gateway · human gate. No WoG dependency; the Whole-of-Government platform is optional and additive.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44752"/>
            <a:ext cx="1993392" cy="3310128"/>
          </a:xfrm>
          <a:prstGeom prst="roundRect">
            <a:avLst>
              <a:gd name="adj" fmla="val 2294"/>
            </a:avLst>
          </a:prstGeom>
          <a:solidFill>
            <a:srgbClr val="F4F7FE"/>
          </a:solidFill>
          <a:ln w="12700">
            <a:solidFill>
              <a:srgbClr val="C2D0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499616"/>
            <a:ext cx="17739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1E2761"/>
                </a:solidFill>
              </a:rPr>
              <a:t>EXTERNAL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66928" y="1755648"/>
            <a:ext cx="1773936" cy="512064"/>
          </a:xfrm>
          <a:prstGeom prst="roundRect">
            <a:avLst>
              <a:gd name="adj" fmla="val 7143"/>
            </a:avLst>
          </a:prstGeom>
          <a:solidFill>
            <a:srgbClr val="36406F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21792" y="1755648"/>
            <a:ext cx="16642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Residents / agency staff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566928" y="2340864"/>
            <a:ext cx="1773936" cy="512064"/>
          </a:xfrm>
          <a:prstGeom prst="roundRect">
            <a:avLst>
              <a:gd name="adj" fmla="val 7143"/>
            </a:avLst>
          </a:prstGeom>
          <a:solidFill>
            <a:srgbClr val="36406F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" y="2340864"/>
            <a:ext cx="16642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Agency IdP — SAML/OIDC · MFA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566928" y="3108960"/>
            <a:ext cx="1773936" cy="512064"/>
          </a:xfrm>
          <a:prstGeom prst="roundRect">
            <a:avLst>
              <a:gd name="adj" fmla="val 7143"/>
            </a:avLst>
          </a:prstGeom>
          <a:solidFill>
            <a:srgbClr val="4A5687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" y="3108960"/>
            <a:ext cx="16642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Agency systems (on-prem)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566928" y="3694176"/>
            <a:ext cx="1773936" cy="512064"/>
          </a:xfrm>
          <a:prstGeom prst="roundRect">
            <a:avLst>
              <a:gd name="adj" fmla="val 7143"/>
            </a:avLst>
          </a:prstGeom>
          <a:solidFill>
            <a:srgbClr val="4A5687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1792" y="3694176"/>
            <a:ext cx="16642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External data sources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566928" y="4334256"/>
            <a:ext cx="1773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B6488"/>
                </a:solidFill>
              </a:rPr>
              <a:t>PrivateLink / Direct Connect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2615184" y="1444752"/>
            <a:ext cx="9116568" cy="3310128"/>
          </a:xfrm>
          <a:prstGeom prst="roundRect">
            <a:avLst>
              <a:gd name="adj" fmla="val 1381"/>
            </a:avLst>
          </a:prstGeom>
          <a:solidFill>
            <a:srgbClr val="F4F7FE"/>
          </a:solidFill>
          <a:ln w="12700">
            <a:solidFill>
              <a:srgbClr val="C2D0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24912" y="1499616"/>
            <a:ext cx="8897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1E2761"/>
                </a:solidFill>
              </a:rPr>
              <a:t>AWS CLOUD — per-customer VPC / dedicated account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0" y="1773936"/>
            <a:ext cx="2505456" cy="2852928"/>
          </a:xfrm>
          <a:prstGeom prst="roundRect">
            <a:avLst>
              <a:gd name="adj" fmla="val 1825"/>
            </a:avLst>
          </a:prstGeom>
          <a:solidFill>
            <a:srgbClr val="F4F7FE"/>
          </a:solidFill>
          <a:ln w="12700">
            <a:solidFill>
              <a:srgbClr val="C2D0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52928" y="1828800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1E2761"/>
                </a:solidFill>
              </a:rPr>
              <a:t>EDGE / PUBLIC SUBNET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852928" y="2066544"/>
            <a:ext cx="2286000" cy="512064"/>
          </a:xfrm>
          <a:prstGeom prst="roundRect">
            <a:avLst>
              <a:gd name="adj" fmla="val 714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907792" y="2066544"/>
            <a:ext cx="21762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CloudFront + WAF + Shield (TLS 1.2+)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2761488" y="1993392"/>
            <a:ext cx="274320" cy="274320"/>
          </a:xfrm>
          <a:prstGeom prst="ellipse">
            <a:avLst/>
          </a:prstGeom>
          <a:solidFill>
            <a:srgbClr val="E0A53B"/>
          </a:solidFill>
          <a:ln/>
        </p:spPr>
      </p:sp>
      <p:sp>
        <p:nvSpPr>
          <p:cNvPr id="24" name="Text 22"/>
          <p:cNvSpPr/>
          <p:nvPr/>
        </p:nvSpPr>
        <p:spPr>
          <a:xfrm>
            <a:off x="2761488" y="19933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A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852928" y="2724912"/>
            <a:ext cx="2286000" cy="512064"/>
          </a:xfrm>
          <a:prstGeom prst="roundRect">
            <a:avLst>
              <a:gd name="adj" fmla="val 7143"/>
            </a:avLst>
          </a:prstGeom>
          <a:solidFill>
            <a:srgbClr val="2A376E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907792" y="2724912"/>
            <a:ext cx="21762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API Gateway / ALB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2852928" y="3383280"/>
            <a:ext cx="2286000" cy="512064"/>
          </a:xfrm>
          <a:prstGeom prst="roundRect">
            <a:avLst>
              <a:gd name="adj" fmla="val 7143"/>
            </a:avLst>
          </a:prstGeom>
          <a:solidFill>
            <a:srgbClr val="2A376E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907792" y="3383280"/>
            <a:ext cx="21762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Amazon Cognito — SAML → JWT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2761488" y="3310128"/>
            <a:ext cx="274320" cy="274320"/>
          </a:xfrm>
          <a:prstGeom prst="ellipse">
            <a:avLst/>
          </a:prstGeom>
          <a:solidFill>
            <a:srgbClr val="E0A53B"/>
          </a:solidFill>
          <a:ln/>
        </p:spPr>
      </p:sp>
      <p:sp>
        <p:nvSpPr>
          <p:cNvPr id="30" name="Text 28"/>
          <p:cNvSpPr/>
          <p:nvPr/>
        </p:nvSpPr>
        <p:spPr>
          <a:xfrm>
            <a:off x="2761488" y="33101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A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358384" y="1773936"/>
            <a:ext cx="2505456" cy="2852928"/>
          </a:xfrm>
          <a:prstGeom prst="roundRect">
            <a:avLst>
              <a:gd name="adj" fmla="val 1825"/>
            </a:avLst>
          </a:prstGeom>
          <a:solidFill>
            <a:srgbClr val="F4F7FE"/>
          </a:solidFill>
          <a:ln w="12700">
            <a:solidFill>
              <a:srgbClr val="C2D0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68112" y="1828800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1E2761"/>
                </a:solidFill>
              </a:rPr>
              <a:t>PRIVATE SUBNET — COMPUTE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468112" y="2066544"/>
            <a:ext cx="2286000" cy="512064"/>
          </a:xfrm>
          <a:prstGeom prst="roundRect">
            <a:avLst>
              <a:gd name="adj" fmla="val 7143"/>
            </a:avLst>
          </a:prstGeom>
          <a:solidFill>
            <a:srgbClr val="2A376E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522976" y="2066544"/>
            <a:ext cx="21762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Agent runtime — Step Functions + Lambda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5376672" y="1993392"/>
            <a:ext cx="274320" cy="274320"/>
          </a:xfrm>
          <a:prstGeom prst="ellipse">
            <a:avLst/>
          </a:prstGeom>
          <a:solidFill>
            <a:srgbClr val="E0A53B"/>
          </a:solidFill>
          <a:ln/>
        </p:spPr>
      </p:sp>
      <p:sp>
        <p:nvSpPr>
          <p:cNvPr id="36" name="Text 34"/>
          <p:cNvSpPr/>
          <p:nvPr/>
        </p:nvSpPr>
        <p:spPr>
          <a:xfrm>
            <a:off x="5376672" y="19933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A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468112" y="2724912"/>
            <a:ext cx="2286000" cy="512064"/>
          </a:xfrm>
          <a:prstGeom prst="roundRect">
            <a:avLst>
              <a:gd name="adj" fmla="val 714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522976" y="2724912"/>
            <a:ext cx="21762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MCP authorization gateway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5376672" y="2651760"/>
            <a:ext cx="274320" cy="274320"/>
          </a:xfrm>
          <a:prstGeom prst="ellipse">
            <a:avLst/>
          </a:prstGeom>
          <a:solidFill>
            <a:srgbClr val="E0A53B"/>
          </a:solidFill>
          <a:ln/>
        </p:spPr>
      </p:sp>
      <p:sp>
        <p:nvSpPr>
          <p:cNvPr id="40" name="Text 38"/>
          <p:cNvSpPr/>
          <p:nvPr/>
        </p:nvSpPr>
        <p:spPr>
          <a:xfrm>
            <a:off x="5376672" y="26517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A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468112" y="3383280"/>
            <a:ext cx="2286000" cy="512064"/>
          </a:xfrm>
          <a:prstGeom prst="roundRect">
            <a:avLst>
              <a:gd name="adj" fmla="val 7143"/>
            </a:avLst>
          </a:prstGeom>
          <a:solidFill>
            <a:srgbClr val="2A376E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5522976" y="3383280"/>
            <a:ext cx="21762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SQS queue + DLQ · HITL gate</a:t>
            </a:r>
            <a:endParaRPr lang="en-US" sz="880" dirty="0"/>
          </a:p>
        </p:txBody>
      </p:sp>
      <p:sp>
        <p:nvSpPr>
          <p:cNvPr id="43" name="Shape 41"/>
          <p:cNvSpPr/>
          <p:nvPr/>
        </p:nvSpPr>
        <p:spPr>
          <a:xfrm>
            <a:off x="5376672" y="3310128"/>
            <a:ext cx="274320" cy="274320"/>
          </a:xfrm>
          <a:prstGeom prst="ellipse">
            <a:avLst/>
          </a:prstGeom>
          <a:solidFill>
            <a:srgbClr val="E0A53B"/>
          </a:solidFill>
          <a:ln/>
        </p:spPr>
      </p:sp>
      <p:sp>
        <p:nvSpPr>
          <p:cNvPr id="44" name="Text 42"/>
          <p:cNvSpPr/>
          <p:nvPr/>
        </p:nvSpPr>
        <p:spPr>
          <a:xfrm>
            <a:off x="5376672" y="33101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A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973568" y="1773936"/>
            <a:ext cx="3657600" cy="2852928"/>
          </a:xfrm>
          <a:prstGeom prst="roundRect">
            <a:avLst>
              <a:gd name="adj" fmla="val 1603"/>
            </a:avLst>
          </a:prstGeom>
          <a:solidFill>
            <a:srgbClr val="F4F7FE"/>
          </a:solidFill>
          <a:ln w="12700">
            <a:solidFill>
              <a:srgbClr val="C2D0E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083296" y="1819656"/>
            <a:ext cx="34198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1E2761"/>
                </a:solidFill>
              </a:rPr>
              <a:t>MODEL LAYER — VPC ENDPOINT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8092440" y="2048256"/>
            <a:ext cx="3419856" cy="512064"/>
          </a:xfrm>
          <a:prstGeom prst="roundRect">
            <a:avLst>
              <a:gd name="adj" fmla="val 714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8147304" y="2048256"/>
            <a:ext cx="331012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Amazon Bedrock — Claude Sonnet + Haiku</a:t>
            </a:r>
            <a:endParaRPr lang="en-US" sz="880" dirty="0"/>
          </a:p>
        </p:txBody>
      </p:sp>
      <p:sp>
        <p:nvSpPr>
          <p:cNvPr id="49" name="Shape 47"/>
          <p:cNvSpPr/>
          <p:nvPr/>
        </p:nvSpPr>
        <p:spPr>
          <a:xfrm>
            <a:off x="8001000" y="1975104"/>
            <a:ext cx="274320" cy="274320"/>
          </a:xfrm>
          <a:prstGeom prst="ellipse">
            <a:avLst/>
          </a:prstGeom>
          <a:solidFill>
            <a:srgbClr val="E0A53B"/>
          </a:solidFill>
          <a:ln/>
        </p:spPr>
      </p:sp>
      <p:sp>
        <p:nvSpPr>
          <p:cNvPr id="50" name="Text 48"/>
          <p:cNvSpPr/>
          <p:nvPr/>
        </p:nvSpPr>
        <p:spPr>
          <a:xfrm>
            <a:off x="8001000" y="197510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A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8092440" y="2633472"/>
            <a:ext cx="3419856" cy="512064"/>
          </a:xfrm>
          <a:prstGeom prst="roundRect">
            <a:avLst>
              <a:gd name="adj" fmla="val 7143"/>
            </a:avLst>
          </a:prstGeom>
          <a:solidFill>
            <a:srgbClr val="2A376E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8147304" y="2633472"/>
            <a:ext cx="331012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Bedrock Guardrails — PII &amp; content (mandatory)</a:t>
            </a:r>
            <a:endParaRPr lang="en-US" sz="880" dirty="0"/>
          </a:p>
        </p:txBody>
      </p:sp>
      <p:sp>
        <p:nvSpPr>
          <p:cNvPr id="53" name="Text 51"/>
          <p:cNvSpPr/>
          <p:nvPr/>
        </p:nvSpPr>
        <p:spPr>
          <a:xfrm>
            <a:off x="8083296" y="3218688"/>
            <a:ext cx="34198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1E2761"/>
                </a:solidFill>
              </a:rPr>
              <a:t>DATA TIER — KMS CMK per data class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8092440" y="3438144"/>
            <a:ext cx="3419856" cy="512064"/>
          </a:xfrm>
          <a:prstGeom prst="roundRect">
            <a:avLst>
              <a:gd name="adj" fmla="val 7143"/>
            </a:avLst>
          </a:prstGeom>
          <a:solidFill>
            <a:srgbClr val="2A376E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8147304" y="3438144"/>
            <a:ext cx="331012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DynamoDB — append-only audit</a:t>
            </a:r>
            <a:endParaRPr lang="en-US" sz="880" dirty="0"/>
          </a:p>
        </p:txBody>
      </p:sp>
      <p:sp>
        <p:nvSpPr>
          <p:cNvPr id="56" name="Shape 54"/>
          <p:cNvSpPr/>
          <p:nvPr/>
        </p:nvSpPr>
        <p:spPr>
          <a:xfrm>
            <a:off x="8001000" y="3364992"/>
            <a:ext cx="274320" cy="274320"/>
          </a:xfrm>
          <a:prstGeom prst="ellipse">
            <a:avLst/>
          </a:prstGeom>
          <a:solidFill>
            <a:srgbClr val="E0A53B"/>
          </a:solidFill>
          <a:ln/>
        </p:spPr>
      </p:sp>
      <p:sp>
        <p:nvSpPr>
          <p:cNvPr id="57" name="Text 55"/>
          <p:cNvSpPr/>
          <p:nvPr/>
        </p:nvSpPr>
        <p:spPr>
          <a:xfrm>
            <a:off x="8001000" y="33649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A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8092440" y="4023360"/>
            <a:ext cx="3419856" cy="512064"/>
          </a:xfrm>
          <a:prstGeom prst="roundRect">
            <a:avLst>
              <a:gd name="adj" fmla="val 7143"/>
            </a:avLst>
          </a:prstGeom>
          <a:solidFill>
            <a:srgbClr val="2A376E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8147304" y="4023360"/>
            <a:ext cx="331012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S3 Object Lock (WORM) · state · Secrets</a:t>
            </a:r>
            <a:endParaRPr lang="en-US" sz="880" dirty="0"/>
          </a:p>
        </p:txBody>
      </p:sp>
      <p:sp>
        <p:nvSpPr>
          <p:cNvPr id="60" name="Shape 58"/>
          <p:cNvSpPr/>
          <p:nvPr/>
        </p:nvSpPr>
        <p:spPr>
          <a:xfrm>
            <a:off x="8001000" y="3950208"/>
            <a:ext cx="274320" cy="274320"/>
          </a:xfrm>
          <a:prstGeom prst="ellipse">
            <a:avLst/>
          </a:prstGeom>
          <a:solidFill>
            <a:srgbClr val="E0A53B"/>
          </a:solidFill>
          <a:ln/>
        </p:spPr>
      </p:sp>
      <p:sp>
        <p:nvSpPr>
          <p:cNvPr id="61" name="Text 59"/>
          <p:cNvSpPr/>
          <p:nvPr/>
        </p:nvSpPr>
        <p:spPr>
          <a:xfrm>
            <a:off x="8001000" y="39502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A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2340864" y="3520440"/>
            <a:ext cx="402336" cy="0"/>
          </a:xfrm>
          <a:prstGeom prst="line">
            <a:avLst/>
          </a:prstGeom>
          <a:noFill/>
          <a:ln w="19050">
            <a:solidFill>
              <a:srgbClr val="8FA0C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138928" y="2322576"/>
            <a:ext cx="329184" cy="0"/>
          </a:xfrm>
          <a:prstGeom prst="line">
            <a:avLst/>
          </a:prstGeom>
          <a:noFill/>
          <a:ln w="19050">
            <a:solidFill>
              <a:srgbClr val="8FA0C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754112" y="2304288"/>
            <a:ext cx="338328" cy="0"/>
          </a:xfrm>
          <a:prstGeom prst="line">
            <a:avLst/>
          </a:prstGeom>
          <a:noFill/>
          <a:ln w="19050">
            <a:solidFill>
              <a:srgbClr val="8FA0C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611112" y="3383280"/>
            <a:ext cx="0" cy="228600"/>
          </a:xfrm>
          <a:prstGeom prst="line">
            <a:avLst/>
          </a:prstGeom>
          <a:noFill/>
          <a:ln w="19050">
            <a:solidFill>
              <a:srgbClr val="8FA0C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57200" y="4828032"/>
            <a:ext cx="11274552" cy="365760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/>
        </p:spPr>
      </p:sp>
      <p:sp>
        <p:nvSpPr>
          <p:cNvPr id="67" name="Text 65"/>
          <p:cNvSpPr/>
          <p:nvPr/>
        </p:nvSpPr>
        <p:spPr>
          <a:xfrm>
            <a:off x="640080" y="482803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1E2761"/>
                </a:solidFill>
              </a:rPr>
              <a:t>SECURITY &amp; OPS:  </a:t>
            </a:r>
            <a:pPr indent="0" marL="0">
              <a:buNone/>
            </a:pPr>
            <a:r>
              <a:rPr lang="en-US" sz="930" dirty="0">
                <a:solidFill>
                  <a:srgbClr val="1B2440"/>
                </a:solidFill>
              </a:rPr>
              <a:t>KMS (CMK per data class) · IAM least-privilege · CloudWatch · CloudTrail · X-Ray · GuardDuty · Security Hub + Config · data-class isolation (CJI/FTI/PHI/EDU/public)</a:t>
            </a:r>
            <a:endParaRPr lang="en-US" sz="930" dirty="0"/>
          </a:p>
        </p:txBody>
      </p:sp>
      <p:sp>
        <p:nvSpPr>
          <p:cNvPr id="68" name="Text 66"/>
          <p:cNvSpPr/>
          <p:nvPr/>
        </p:nvSpPr>
        <p:spPr>
          <a:xfrm>
            <a:off x="457200" y="530352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8BC0"/>
                </a:solidFill>
              </a:rPr>
              <a:t>TRAFFIC FLOW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457200" y="5541264"/>
            <a:ext cx="5623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30" dirty="0">
                <a:solidFill>
                  <a:srgbClr val="1B2440"/>
                </a:solidFill>
              </a:rPr>
              <a:t>1  Resident/staff sign in at the agency IdP (SAML/OIDC, MFA). Amazon Cognito …</a:t>
            </a:r>
            <a:endParaRPr lang="en-US" sz="93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30" dirty="0">
                <a:solidFill>
                  <a:srgbClr val="1B2440"/>
                </a:solidFill>
              </a:rPr>
              <a:t>2  CloudFront + AWS WAF inspect, filter and rate-limit the request; API Gatew…</a:t>
            </a:r>
            <a:endParaRPr lang="en-US" sz="93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30" dirty="0">
                <a:solidFill>
                  <a:srgbClr val="1B2440"/>
                </a:solidFill>
              </a:rPr>
              <a:t>3  The MCP gateway re-validates the JWT and its custom:slg_role claim and aut…</a:t>
            </a:r>
            <a:endParaRPr lang="en-US" sz="93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30" dirty="0">
                <a:solidFill>
                  <a:srgbClr val="1B2440"/>
                </a:solidFill>
              </a:rPr>
              <a:t>4  For each authorized call the gateway mints a short-lived, tool-scoped toke…</a:t>
            </a:r>
            <a:endParaRPr lang="en-US" sz="930" dirty="0"/>
          </a:p>
        </p:txBody>
      </p:sp>
      <p:sp>
        <p:nvSpPr>
          <p:cNvPr id="70" name="Text 68"/>
          <p:cNvSpPr/>
          <p:nvPr/>
        </p:nvSpPr>
        <p:spPr>
          <a:xfrm>
            <a:off x="6172200" y="5541264"/>
            <a:ext cx="5577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30" dirty="0">
                <a:solidFill>
                  <a:srgbClr val="1B2440"/>
                </a:solidFill>
              </a:rPr>
              <a:t>5  Model calls stay inside AWS via a Bedrock VPC endpoint; Guardrails filter …</a:t>
            </a:r>
            <a:endParaRPr lang="en-US" sz="93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30" dirty="0">
                <a:solidFill>
                  <a:srgbClr val="1B2440"/>
                </a:solidFill>
              </a:rPr>
              <a:t>6  Workflow pauses at the human-review gate (Step Functions waitForTaskToken)…</a:t>
            </a:r>
            <a:endParaRPr lang="en-US" sz="93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30" dirty="0">
                <a:solidFill>
                  <a:srgbClr val="1B2440"/>
                </a:solidFill>
              </a:rPr>
              <a:t>7  On approval the action commits; case state, append-only audit and finalize…</a:t>
            </a:r>
            <a:endParaRPr lang="en-US" sz="93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30" dirty="0">
                <a:solidFill>
                  <a:srgbClr val="1B2440"/>
                </a:solidFill>
              </a:rPr>
              <a:t>8  Every step — node, timestamp, JWT subject/actor, data sources, model versi…</a:t>
            </a:r>
            <a:endParaRPr lang="en-US" sz="9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8BC0"/>
                </a:solidFill>
              </a:rPr>
              <a:t>TRADEOFFS, RESULTS &amp; WHAT'S NEXT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delivers — and what it honestly 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881360" cy="1828800"/>
          </a:xfrm>
          <a:prstGeom prst="roundRect">
            <a:avLst>
              <a:gd name="adj" fmla="val 3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69164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ADCFC"/>
                </a:solidFill>
              </a:rPr>
              <a:t>MEASURED OUTCOMES — documented results from named deployments &amp; published benchmarks (vendor-reported where noted)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05740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0A5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−35%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68680" y="28346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</a:rPr>
              <a:t>call-center volume (Grupo TX 'TxGov')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538728" y="205740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0A5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 faster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538728" y="28346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</a:rPr>
              <a:t>response, 48h→24h (TxGov)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208776" y="205740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0A5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−4,000/mo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208776" y="28346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</a:rPr>
              <a:t>calls deflected (Indiana 311)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78824" y="205740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0A5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~80×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878824" y="28346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</a:rPr>
              <a:t>cheaper per self-service contact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611880"/>
            <a:ext cx="5349240" cy="2057400"/>
          </a:xfrm>
          <a:prstGeom prst="roundRect">
            <a:avLst>
              <a:gd name="adj" fmla="val 2667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8680" y="376732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</a:rPr>
              <a:t>DELIBERATE TRADEOFFS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411480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440"/>
                </a:solidFill>
              </a:rPr>
              <a:t>Human gate over straight-through automation — every consequential 311 write pauses for a city reviewer. Cost: not 100% hands-off; payoff: nothing irreversible happens without an accountable person.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440"/>
                </a:solidFill>
              </a:rPr>
              <a:t>In-account Bedrock over best-model-of-the-week — models sit behind an LLM factory and swap without code change. Cost: not always the newest model; payoff: VPC-private inference, no PII egress, one governance point.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440"/>
                </a:solidFill>
              </a:rPr>
              <a:t>Identity-gated personal data over frictionless answers — a name + address never unlocks account data. Cost: an extra verification step; payoff: no wrongful disclosure.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72200" y="3611880"/>
            <a:ext cx="534924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0" y="376732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</a:rPr>
              <a:t>WHAT'S NEXT (V2)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46520" y="411480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440"/>
                </a:solidFill>
              </a:rPr>
              <a:t>Bedrock Knowledge Bases for multilingual policy RAG with citations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440"/>
                </a:solidFill>
              </a:rPr>
              <a:t>Amazon Connect / Lex voice front-end (optional, no hard dependency)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440"/>
                </a:solidFill>
              </a:rPr>
              <a:t>Live 311/CRM connectors replacing fixtures; per-agency content ingestion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580644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</a:rPr>
              <a:t>The takeaway:  </a:t>
            </a:r>
            <a:pPr indent="0" marL="0">
              <a:buNone/>
            </a:pPr>
            <a:r>
              <a:rPr lang="en-US" sz="1250" i="1" dirty="0">
                <a:solidFill>
                  <a:srgbClr val="1B2440"/>
                </a:solidFill>
              </a:rPr>
              <a:t>the agent isn't the product — the governance that makes it deployable, accessible, and auditable is.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0080" y="635508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488"/>
                </a:solidFill>
              </a:rPr>
              <a:t>Sources: AWS Public Sector 2026 (Grupo TX TxGov; Virginia Beach 1,300+)  ·  Indiana 311 / Tars — vendor-reported  ·  Gartner 2019 (cost per contact)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Resident Services &amp; 311 Navigator</dc:title>
  <dc:subject>PptxGenJS Presentation</dc:subject>
  <dc:creator>David Ryder</dc:creator>
  <cp:lastModifiedBy>David Ryder</cp:lastModifiedBy>
  <cp:revision>1</cp:revision>
  <dcterms:created xsi:type="dcterms:W3CDTF">2026-06-23T22:01:38Z</dcterms:created>
  <dcterms:modified xsi:type="dcterms:W3CDTF">2026-06-23T22:01:38Z</dcterms:modified>
</cp:coreProperties>
</file>