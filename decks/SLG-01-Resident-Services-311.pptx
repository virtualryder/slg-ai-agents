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~1.5 min. Open on the resident experience: 'A resident wants to do one thing — renew a license, report a pothole, check an application — and faces dozens of departments and no single front door.' Set up that the hard part is governance, not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~2.5 min. Hook with the economics: a live contact costs roughly $8 versus a dime for self-service (Gartner) — about 80x. A governed government agent (Grupo TX's TxGov, AWS Jun 2026) cut call volume 35% and halved response time; Virginia Beach's assistant fielded 1,300+ queries in month one. Land the point: deflection at government volume is seven figures.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 min. Walk the situation, then 'what they need' across business/technical/regulatory. Emphasize the constraint: personal data is never disclosed on a name + address alone — identity must be verified. That single rule is what makes a CISO comfortable.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 Walk the six steps. The green node is the human gate — 'the workflow cannot pass it; it's interrupt_before in the framework, not a line in a policy doc.' Close on the three trust callouts.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~5 min. Walk the numbered flow in order. Identity first (federation, no creds in AWS); model calls stay in-account via a Bedrock VPC endpoint; the MCP gateway is the single chokepoint for every tool call; append-only audit + WORM. Soundbite: 'one chokepoint to secure and audit, instead of N integrations.'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 Be honest: figures are modeled from cited benchmarks for a reference city, not a longitudinal study. Results: ~35% deflection, ~80x cheaper self-service, 24/7 accessible access. Close: same trust architecture plugs into the whole-of-government platform — this agent is also a step in the 'moving' life-event saga.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E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669280" cy="56692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06240"/>
            <a:ext cx="3291840" cy="3291840"/>
          </a:xfrm>
          <a:prstGeom prst="ellipse">
            <a:avLst/>
          </a:prstGeom>
          <a:solidFill>
            <a:srgbClr val="2A376E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C0"/>
                </a:solidFill>
              </a:rPr>
              <a:t>SLG AI AGENT SUITE  ·  BUILT ON AWS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Resident Services &amp; 311 Navigator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388620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A governed, agentic front door that helps residents reach the right service across every agency — while staff and a human gate keep every consequential action accountable.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David Ryder   ·   AI Strategy &amp; Architecture Leader   ·   github.com/virtualryder/slg-ai-agents   ·   June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6 SYSTEMS TO ONE ANSWER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77240" y="10972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Resident Services &amp; 311 Navigator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96596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CADCFC"/>
                </a:solidFill>
              </a:rPr>
              <a:t>Residents navigate hundreds of pages, phone numbers and PDFs across dozens of departments. A governed agent understands the request, grounds the answer in approved content, and acts only with a human's approval.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772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~$8 → $0.10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0058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cost of a live contact vs. a self-service interaction (~80x)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Gartner, 2019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4348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348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6634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call-center volume reduction with a governed gov agent (Grupo TX 'TxGov')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AWS Public Sector, Jun 2026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0924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0924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1,300+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3210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resident queries handled in month one (Virginia Beach assistant)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753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AWS Public Sector,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E0"/>
                </a:solidFill>
              </a:rPr>
              <a:t>David Ryder   ·   AI Strategy &amp; Architecture Leader   ·   github.com/virtualryder/slg-ai-agents   ·   June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THE CUSTOMER &amp; 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Residents can't find the right service — and staff carry the load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3611880"/>
          </a:xfrm>
          <a:prstGeom prst="roundRect">
            <a:avLst>
              <a:gd name="adj" fmla="val 151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THE SITUATION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Hundreds of pages, phone numbers, PDFs and forms across dozens of departments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Residents don't know which agency owns their problem, so calls bounce and transfer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Comparable counties spend 45+ minutes summarizing and routing one complex contact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No 24/7, multilingual, or fully accessible path for routine questions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55080" y="1600200"/>
            <a:ext cx="516636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WHAT THEY NEED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219456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Business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deflect routine contacts, serve residents 24/7, and reduce wrong-department transfers without adding headcount.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Technical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understand plain language, ground answers in approved content with citations, and open 311 cases / book appointments through governed tools.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Regulatory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ADA Title II accessibility, state privacy, and no disclosure of personal account data on a name + address alone.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5349240"/>
            <a:ext cx="10881360" cy="96012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544068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The design constraint that shaped everything:  </a:t>
            </a:r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</a:rPr>
              <a:t>AI answers and prepares; a human approves every consequential action, and personal data requires verified identity.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E8BC0"/>
                </a:solidFill>
              </a:rPr>
              <a:t>THE SOLUTION — GOVERNED WORKFLOW, HUMAN DECISIONS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intent-routed workflow that grounds, gates, and audits every answer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 &amp; classify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46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intent + responsible agency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9174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7462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1" name="Text 9"/>
          <p:cNvSpPr/>
          <p:nvPr/>
        </p:nvSpPr>
        <p:spPr>
          <a:xfrm>
            <a:off x="267462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5633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65633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approved content (KB) + citations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2628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6" name="Text 14"/>
          <p:cNvSpPr/>
          <p:nvPr/>
        </p:nvSpPr>
        <p:spPr>
          <a:xfrm>
            <a:off x="452628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0799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 identity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0799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required before personal data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506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7794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21" name="Text 19"/>
          <p:cNvSpPr/>
          <p:nvPr/>
        </p:nvSpPr>
        <p:spPr>
          <a:xfrm>
            <a:off x="637794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35965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 + compliance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35965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grounding · WCAG · PII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2F8F5B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8F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1131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GATE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1131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city reviewer approves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8983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0812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33" name="Text 31"/>
          <p:cNvSpPr/>
          <p:nvPr/>
        </p:nvSpPr>
        <p:spPr>
          <a:xfrm>
            <a:off x="100812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0629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Finalize &amp; audit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00629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311 case / appt · WORM trail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40080" y="324612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88"/>
                </a:solidFill>
              </a:rPr>
              <a:t>EVIDENCE ASSEMBLY — automated (Bedrock Claude + governed MCP tool calls)   ·   then a framework-enforced human gate (interrupt_before)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008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6868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action logged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6868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Node, timestamp, actor, data sources, model version — one examiner-ready audit trail.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34340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57200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Grounded &amp; accessible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457200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No fabricated fees, dates or agencies; ADA Title II / WCAG checks on every AI answer.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04672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827532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never decides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27532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No personal disclosure without verified identity; consequential actions require a human.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AWS ARCHITECTURE &amp; TRAFFIC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Resident Services &amp; 311 Navigator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950976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FBF3D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50976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6B12"/>
                </a:solidFill>
              </a:rPr>
              <a:t>DEPLOYMENT MODEL:  </a:t>
            </a:r>
            <a:pPr indent="0" marL="0">
              <a:buNone/>
            </a:pPr>
            <a:r>
              <a:rPr lang="en-US" sz="900" dirty="0">
                <a:solidFill>
                  <a:srgbClr val="5B4708"/>
                </a:solidFill>
              </a:rPr>
              <a:t>STANDALONE-DEPLOYABLE — own VPC · CloudFront + WAF edge · KMS · WORM audit · gateway · human gate. No WoG dependency; the Whole-of-Government platform is optional and additive.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44752"/>
            <a:ext cx="1993392" cy="3310128"/>
          </a:xfrm>
          <a:prstGeom prst="roundRect">
            <a:avLst>
              <a:gd name="adj" fmla="val 2294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99616"/>
            <a:ext cx="1773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EXTERNAL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755648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" y="1755648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Residents / agency staff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566928" y="2340864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" y="2340864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IdP — SAML/OIDC · MFA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566928" y="3108960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1792" y="3108960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systems (on-prem)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566928" y="3694176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" y="3694176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External data sources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566928" y="4334256"/>
            <a:ext cx="1773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B6488"/>
                </a:solidFill>
              </a:rPr>
              <a:t>PrivateLink / Direct Connect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2615184" y="1444752"/>
            <a:ext cx="9116568" cy="3310128"/>
          </a:xfrm>
          <a:prstGeom prst="roundRect">
            <a:avLst>
              <a:gd name="adj" fmla="val 1381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24912" y="1499616"/>
            <a:ext cx="8897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AWS CLOUD — per-customer VPC / dedicated account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0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52928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EDGE / PUBLIC SUBNET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852928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907792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CloudFront + WAF + Shield (TLS 1.2+)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2761488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24" name="Text 22"/>
          <p:cNvSpPr/>
          <p:nvPr/>
        </p:nvSpPr>
        <p:spPr>
          <a:xfrm>
            <a:off x="2761488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852928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907792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API Gateway / ALB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2852928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907792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Cognito — SAML → JWT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2761488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0" name="Text 28"/>
          <p:cNvSpPr/>
          <p:nvPr/>
        </p:nvSpPr>
        <p:spPr>
          <a:xfrm>
            <a:off x="2761488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358384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68112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PRIVATE SUBNET — COMPUTE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468112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522976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Agent runtime — Step Functions + Lambda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5376672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6" name="Text 34"/>
          <p:cNvSpPr/>
          <p:nvPr/>
        </p:nvSpPr>
        <p:spPr>
          <a:xfrm>
            <a:off x="5376672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68112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522976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MCP authorization gateway</a:t>
            </a:r>
            <a:endParaRPr lang="en-US" sz="880" dirty="0"/>
          </a:p>
        </p:txBody>
      </p:sp>
      <p:sp>
        <p:nvSpPr>
          <p:cNvPr id="39" name="Shape 37"/>
          <p:cNvSpPr/>
          <p:nvPr/>
        </p:nvSpPr>
        <p:spPr>
          <a:xfrm>
            <a:off x="5376672" y="2651760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0" name="Text 38"/>
          <p:cNvSpPr/>
          <p:nvPr/>
        </p:nvSpPr>
        <p:spPr>
          <a:xfrm>
            <a:off x="5376672" y="26517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68112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5522976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SQS queue + DLQ · HITL gate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5376672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4" name="Text 42"/>
          <p:cNvSpPr/>
          <p:nvPr/>
        </p:nvSpPr>
        <p:spPr>
          <a:xfrm>
            <a:off x="5376672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973568" y="1773936"/>
            <a:ext cx="3657600" cy="2852928"/>
          </a:xfrm>
          <a:prstGeom prst="roundRect">
            <a:avLst>
              <a:gd name="adj" fmla="val 1603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83296" y="1819656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MODEL LAYER — VPC ENDPOINT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8092440" y="2048256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8147304" y="2048256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Bedrock — Claude Sonnet + Haiku</a:t>
            </a:r>
            <a:endParaRPr lang="en-US" sz="880" dirty="0"/>
          </a:p>
        </p:txBody>
      </p:sp>
      <p:sp>
        <p:nvSpPr>
          <p:cNvPr id="49" name="Shape 47"/>
          <p:cNvSpPr/>
          <p:nvPr/>
        </p:nvSpPr>
        <p:spPr>
          <a:xfrm>
            <a:off x="8001000" y="1975104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0" name="Text 48"/>
          <p:cNvSpPr/>
          <p:nvPr/>
        </p:nvSpPr>
        <p:spPr>
          <a:xfrm>
            <a:off x="8001000" y="197510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92440" y="2633472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8147304" y="2633472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Bedrock Guardrails — PII &amp; content (mandatory)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8083296" y="3218688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DATA TIER — KMS CMK per data class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8092440" y="3438144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8147304" y="3438144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DynamoDB — append-only audit</a:t>
            </a:r>
            <a:endParaRPr lang="en-US" sz="880" dirty="0"/>
          </a:p>
        </p:txBody>
      </p:sp>
      <p:sp>
        <p:nvSpPr>
          <p:cNvPr id="56" name="Shape 54"/>
          <p:cNvSpPr/>
          <p:nvPr/>
        </p:nvSpPr>
        <p:spPr>
          <a:xfrm>
            <a:off x="8001000" y="33649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7" name="Text 55"/>
          <p:cNvSpPr/>
          <p:nvPr/>
        </p:nvSpPr>
        <p:spPr>
          <a:xfrm>
            <a:off x="8001000" y="33649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092440" y="4023360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147304" y="4023360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S3 Object Lock (WORM) · state · Secrets</a:t>
            </a:r>
            <a:endParaRPr lang="en-US" sz="880" dirty="0"/>
          </a:p>
        </p:txBody>
      </p:sp>
      <p:sp>
        <p:nvSpPr>
          <p:cNvPr id="60" name="Shape 58"/>
          <p:cNvSpPr/>
          <p:nvPr/>
        </p:nvSpPr>
        <p:spPr>
          <a:xfrm>
            <a:off x="8001000" y="395020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61" name="Text 59"/>
          <p:cNvSpPr/>
          <p:nvPr/>
        </p:nvSpPr>
        <p:spPr>
          <a:xfrm>
            <a:off x="8001000" y="39502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2340864" y="3520440"/>
            <a:ext cx="402336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138928" y="2322576"/>
            <a:ext cx="329184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754112" y="2304288"/>
            <a:ext cx="338328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611112" y="3383280"/>
            <a:ext cx="0" cy="22860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57200" y="4828032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/>
        </p:spPr>
      </p:sp>
      <p:sp>
        <p:nvSpPr>
          <p:cNvPr id="67" name="Text 65"/>
          <p:cNvSpPr/>
          <p:nvPr/>
        </p:nvSpPr>
        <p:spPr>
          <a:xfrm>
            <a:off x="640080" y="482803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E2761"/>
                </a:solidFill>
              </a:rPr>
              <a:t>SECURITY &amp; OPS:  </a:t>
            </a:r>
            <a:pPr indent="0" marL="0">
              <a:buNone/>
            </a:pPr>
            <a:r>
              <a:rPr lang="en-US" sz="930" dirty="0">
                <a:solidFill>
                  <a:srgbClr val="1B2440"/>
                </a:solidFill>
              </a:rPr>
              <a:t>KMS (CMK per data class) · IAM least-privilege · CloudWatch · CloudTrail · X-Ray · GuardDuty · Security Hub + Config · data-class isolation (CJI/FTI/PHI/EDU/public)</a:t>
            </a:r>
            <a:endParaRPr lang="en-US" sz="930" dirty="0"/>
          </a:p>
        </p:txBody>
      </p:sp>
      <p:sp>
        <p:nvSpPr>
          <p:cNvPr id="68" name="Text 66"/>
          <p:cNvSpPr/>
          <p:nvPr/>
        </p:nvSpPr>
        <p:spPr>
          <a:xfrm>
            <a:off x="457200" y="5303520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8BC0"/>
                </a:solidFill>
              </a:rPr>
              <a:t>TRAFFIC FLOW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57200" y="5541264"/>
            <a:ext cx="5623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1  Resident/staff sign in at the agency IdP (SAML/OIDC, MFA). Amazon Cognito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2  CloudFront + AWS WAF inspect, filter and rate-limit the request; API Gatew…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3  The MCP gateway re-validates the JWT and its custom:slg_role claim and aut…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4  For each authorized call the gateway mints a short-lived, tool-scoped toke…</a:t>
            </a:r>
            <a:endParaRPr lang="en-US" sz="930" dirty="0"/>
          </a:p>
        </p:txBody>
      </p:sp>
      <p:sp>
        <p:nvSpPr>
          <p:cNvPr id="70" name="Text 68"/>
          <p:cNvSpPr/>
          <p:nvPr/>
        </p:nvSpPr>
        <p:spPr>
          <a:xfrm>
            <a:off x="6172200" y="5541264"/>
            <a:ext cx="55778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5  Model calls stay inside AWS via a Bedrock VPC endpoint; Guardrails filter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6  Workflow pauses at the human-review gate (Step Functions waitForTaskToken)…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7  On approval the action commits; case state, append-only audit and finalize…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8  Every step — node, timestamp, JWT subject/actor, data sources, model versi…</a:t>
            </a:r>
            <a:endParaRPr lang="en-US" sz="9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TRADEOFFS, RESULTS &amp; WHAT'S NEXT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delivers — and what it honestly 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828800"/>
          </a:xfrm>
          <a:prstGeom prst="roundRect">
            <a:avLst>
              <a:gd name="adj" fmla="val 3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</a:rPr>
              <a:t>MEASURED OUTCOMES — documented results from named deployments &amp; published benchmarks (vendor-reported where noted)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−35%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call-center volume (Grupo TX 'TxGov')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538728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50% faster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538728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response, 48h→24h (TxGov)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208776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−4,000/mo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208776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calls deflected (Indiana 311)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78824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~80×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878824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cheaper per self-service contact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DELIBERATE TRADEOFFS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Human gate caps full automation — the consequential action is the point.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Bedrock (VPC-private, governed) over best-model-of-the-week; abstracted via an LLM factory.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Portable gateway path chosen for GovCloud day-one deployability.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WHAT'S NEXT (V2)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Bedrock Knowledge Bases for multilingual policy RAG with citations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Amazon Connect / Lex voice front-end (optional, no hard dependency)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Live 311/CRM connectors replacing fixtures; per-agency content ingestion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</a:rPr>
              <a:t>The takeaway:  </a:t>
            </a:r>
            <a:pPr indent="0" marL="0">
              <a:buNone/>
            </a:pPr>
            <a:r>
              <a:rPr lang="en-US" sz="1250" i="1" dirty="0">
                <a:solidFill>
                  <a:srgbClr val="1B2440"/>
                </a:solidFill>
              </a:rPr>
              <a:t>the agent isn't the product — the governance that makes it deployable, accessible, and auditable is.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488"/>
                </a:solidFill>
              </a:rPr>
              <a:t>Sources: AWS Public Sector 2026 (Grupo TX TxGov; Virginia Beach 1,300+)  ·  Indiana 311 / Tars — vendor-reported  ·  Gartner 2019 (cost per contact)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Resident Services &amp; 311 Navigator</dc:title>
  <dc:subject>PptxGenJS Presentation</dc:subject>
  <dc:creator>David Ryder</dc:creator>
  <cp:lastModifiedBy>David Ryder</cp:lastModifiedBy>
  <cp:revision>1</cp:revision>
  <dcterms:created xsi:type="dcterms:W3CDTF">2026-06-23T21:28:11Z</dcterms:created>
  <dcterms:modified xsi:type="dcterms:W3CDTF">2026-06-23T21:28:11Z</dcterms:modified>
</cp:coreProperties>
</file>